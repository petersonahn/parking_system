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13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AF47-F73D-4B4C-A6F6-65592906FFDA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C3986-31BA-4672-96ED-697EBD281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4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C3986-31BA-4672-96ED-697EBD28162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92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D65BB-50E6-A202-1620-08EA46C4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BB9062-FCA1-A4C0-C8DC-99A945D39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5912E8-9DD1-4D48-B43A-8D5062D77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46475-CDA4-D91B-AD21-0D5ED6043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C3986-31BA-4672-96ED-697EBD28162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2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885C9-FD60-C4D8-DC52-05EA1D2C3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ABF74E-5093-F4BB-8C14-C669F6C8D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0C0E00-5C2A-3558-9F6A-D77C1522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E3F54-B54E-EF25-010F-F3C15291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8883F-806A-6FA4-C1A6-EB6A040D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55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1341C-6135-8871-1228-A8852650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75826-C065-B8F1-A533-945949F2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942DC-C47F-C399-64E5-4BC7C785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F85-9B5C-73C8-A87D-0C32A265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821AD1-D9C7-02A6-46DD-B245477A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39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BF456-85DF-AB3D-343A-BDB2B8C4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EEDE4B-BB25-C929-845B-00D18986E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69732-8D9E-ADDF-CEAE-38A66731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8A097F-F500-4955-E517-D39A9D75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ACB31-7F2C-829F-F9C2-5AD7BDA6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39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529D7-ED8D-C530-138E-366930D3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160410-3DD5-712C-F968-461339DF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2A53A3-322C-5656-B52F-ED0903634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6190E1-6EB8-58E7-86D2-F8243C31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4A6116-9CBF-77EA-9AE2-CB7F24D6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BE947E-4C8D-82F6-5EAE-D69EC26A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37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EA20-7EDE-FCAA-B37F-E527AEC5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10AFC4-57B9-3AA0-2BD8-1E29CAC23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8AB503-1D98-1853-C353-FFB47649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4AE6AD-3615-E643-F395-B65D6477D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2E949D-C014-1C8D-C264-D8D612CF6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6DA99C-E560-5BD0-5CA1-885212D2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9FA6AD-DBEE-6C1B-D624-8EF88B27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F9F959-98CA-5687-87E0-29226A04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42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769B6-95DE-F414-0503-D5716A10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6B0AAF-A10A-BBAF-05BA-BFED0932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A3AA99-1D97-EBE7-4FA5-68ADB4A2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56203A-4696-E6B4-8536-13AEDCBD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87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4DD35D-A035-2F62-9611-A88599F3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D3110E-11E3-F30D-9880-38A98DD8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6D5894-C636-FF0A-C8B2-D4E640E6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95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7A98A-A5F9-24F3-7C24-EF0EC225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7ACF0-54A7-632C-C98C-8BD3E76DA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223139-F4B8-62BC-2CFE-819E7E67E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FBB62-6AD3-F42C-FF2F-25D48928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289547-4BB3-06EB-DB3E-3CF14D0C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7F2FE1-A2FC-5BA5-810F-77D79414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8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C0EA0-2465-FA7A-54EC-DA909074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990D75-3525-A43A-6E22-DBB6D41CC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523C17-E7D3-A62B-8D55-DEDAD4049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D72422-0815-ABE1-28DE-B07C217D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7AE44-B22F-7F53-0CA9-9A33BC49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55A78-D7FC-B6AD-54AC-D66D5D77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39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E4351-71A7-0519-8ABC-02AC6FB7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CE8C8D-B928-9D67-DD8C-7603B9129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E69E8-FA77-7B9A-EF6B-0BC47C14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EEDD90-F4DA-59E9-C506-07A5D689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07165-5DDF-685A-AE29-FB01495A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28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E75800-AC0A-FC15-25E9-E18C608AB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105BF3-8495-8210-9B2C-EB6DF6818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8178C-C060-BEAE-FA54-3863AD58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AA86B-0920-D859-9CE4-7E34AFBA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6A9335-F029-2C19-B2EE-FCADA1CC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06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37803B-4C48-8AE7-EA6A-DD4CDBE4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2A8B0C-3129-2B4C-B45F-94640E429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62249-9F23-1336-C39C-01424EC6C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6BB25-E7AE-455E-93AD-FEE8F94E2CED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F517F-A8A8-9169-39EB-4D4DE6195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2DC07-54E3-2EAD-185A-745A6D5F5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92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66854-53B7-9F4E-7654-81658E687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E44785-AC4C-B830-C615-97FE013BCB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58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F0C5E-7DB3-2BDE-9F02-3B57D358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메인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CEE2038-4454-44DF-775B-E9BE174AD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47953"/>
            <a:ext cx="5653135" cy="340249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6DB800-1F8A-6E28-EAE2-BF2E8052E66C}"/>
              </a:ext>
            </a:extLst>
          </p:cNvPr>
          <p:cNvSpPr txBox="1"/>
          <p:nvPr/>
        </p:nvSpPr>
        <p:spPr>
          <a:xfrm>
            <a:off x="838200" y="1490053"/>
            <a:ext cx="6980197" cy="815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관리자 페이지에서는 주차 현황</a:t>
            </a:r>
            <a:r>
              <a:rPr lang="en-US" altLang="ko-KR" sz="1300" dirty="0"/>
              <a:t>, </a:t>
            </a:r>
            <a:r>
              <a:rPr lang="ko-KR" altLang="en-US" sz="1300" dirty="0"/>
              <a:t>주차 기록을 조회할 수 있고 주차 요금에 대한 요금 변경</a:t>
            </a:r>
            <a:r>
              <a:rPr lang="en-US" altLang="ko-KR" sz="1300" dirty="0"/>
              <a:t>, </a:t>
            </a:r>
            <a:r>
              <a:rPr lang="ko-KR" altLang="en-US" sz="1300" dirty="0"/>
              <a:t>정기권 회원에 대한 회원 관리가 가능합니다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E9F85A58-0AF5-DEBF-4B9A-2AA76BEF81CB}"/>
              </a:ext>
            </a:extLst>
          </p:cNvPr>
          <p:cNvCxnSpPr/>
          <p:nvPr/>
        </p:nvCxnSpPr>
        <p:spPr>
          <a:xfrm flipV="1">
            <a:off x="5988867" y="3054119"/>
            <a:ext cx="1729212" cy="12923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96CA2B-F53D-95DE-8428-A69237F650A8}"/>
              </a:ext>
            </a:extLst>
          </p:cNvPr>
          <p:cNvSpPr txBox="1">
            <a:spLocks/>
          </p:cNvSpPr>
          <p:nvPr/>
        </p:nvSpPr>
        <p:spPr>
          <a:xfrm>
            <a:off x="7818397" y="2736195"/>
            <a:ext cx="2191533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마우스 오버 시 버튼의 색과 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포인터의 모양 변화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173D34-FDB8-19EF-C354-FF8918289D79}"/>
              </a:ext>
            </a:extLst>
          </p:cNvPr>
          <p:cNvCxnSpPr/>
          <p:nvPr/>
        </p:nvCxnSpPr>
        <p:spPr>
          <a:xfrm>
            <a:off x="3916218" y="5329383"/>
            <a:ext cx="3801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0CCFA3-56F4-F84E-698F-5D74926C3C2E}"/>
              </a:ext>
            </a:extLst>
          </p:cNvPr>
          <p:cNvSpPr txBox="1">
            <a:spLocks/>
          </p:cNvSpPr>
          <p:nvPr/>
        </p:nvSpPr>
        <p:spPr>
          <a:xfrm>
            <a:off x="7818397" y="4740225"/>
            <a:ext cx="2690997" cy="120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세션으로 저장되어 있던 관리자의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정보를 초기화하여 로그인 상태를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로그아웃 상태로 변화 후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시스템의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메인 화면으로 이동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7038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4502-3C8F-84E2-26CD-E37F42A8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60A79CFD-DC6F-4729-2285-019DE39DA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77590"/>
            <a:ext cx="4729549" cy="2657908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F2BF6F-2D54-C1DC-DEC0-46B443BA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주차 현황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9F4E1-E834-06AC-D8C6-4C33C3FA3939}"/>
              </a:ext>
            </a:extLst>
          </p:cNvPr>
          <p:cNvSpPr txBox="1"/>
          <p:nvPr/>
        </p:nvSpPr>
        <p:spPr>
          <a:xfrm>
            <a:off x="838200" y="1490053"/>
            <a:ext cx="7237491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주차 현황 페이지에서는 현재 주차되어 있는 차량들에 대한 주차 현황을 조회할 수</a:t>
            </a:r>
            <a:r>
              <a:rPr lang="en-US" altLang="ko-KR" sz="1300" dirty="0"/>
              <a:t> </a:t>
            </a:r>
            <a:r>
              <a:rPr lang="ko-KR" altLang="en-US" sz="1300" dirty="0"/>
              <a:t>있습니다</a:t>
            </a:r>
            <a:r>
              <a:rPr lang="en-US" altLang="ko-KR" sz="1300" dirty="0"/>
              <a:t>. </a:t>
            </a:r>
            <a:r>
              <a:rPr lang="ko-KR" altLang="en-US" sz="1300" dirty="0"/>
              <a:t>각 주차 구역은 클릭 시 </a:t>
            </a:r>
            <a:r>
              <a:rPr lang="ko-KR" altLang="en-US" sz="1300" dirty="0" err="1"/>
              <a:t>모달창을</a:t>
            </a:r>
            <a:r>
              <a:rPr lang="ko-KR" altLang="en-US" sz="1300" dirty="0"/>
              <a:t> 이용하여 해당 구역에 대한 주차 기록을</a:t>
            </a:r>
            <a:r>
              <a:rPr lang="en-US" altLang="ko-KR" sz="1300" dirty="0"/>
              <a:t> </a:t>
            </a:r>
            <a:r>
              <a:rPr lang="ko-KR" altLang="en-US" sz="1300" dirty="0"/>
              <a:t>열람할 수 있도록</a:t>
            </a:r>
            <a:endParaRPr lang="en-US" altLang="ko-KR" sz="1300" dirty="0"/>
          </a:p>
          <a:p>
            <a:pPr>
              <a:lnSpc>
                <a:spcPts val="3000"/>
              </a:lnSpc>
            </a:pPr>
            <a:r>
              <a:rPr lang="ko-KR" altLang="en-US" sz="1300" dirty="0"/>
              <a:t>기능하고 있습니다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83422F5-75A7-A2D7-E7C4-758ED7000305}"/>
              </a:ext>
            </a:extLst>
          </p:cNvPr>
          <p:cNvCxnSpPr>
            <a:cxnSpLocks/>
          </p:cNvCxnSpPr>
          <p:nvPr/>
        </p:nvCxnSpPr>
        <p:spPr>
          <a:xfrm>
            <a:off x="5412581" y="5649995"/>
            <a:ext cx="1171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59AE4E-2829-2384-A47B-94E4CBF2334B}"/>
              </a:ext>
            </a:extLst>
          </p:cNvPr>
          <p:cNvSpPr txBox="1">
            <a:spLocks/>
          </p:cNvSpPr>
          <p:nvPr/>
        </p:nvSpPr>
        <p:spPr>
          <a:xfrm>
            <a:off x="6858277" y="5463052"/>
            <a:ext cx="1554269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이전 페이지로 이동</a:t>
            </a:r>
            <a:endParaRPr lang="en-US" altLang="ko-KR" sz="12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F50FCA8-8498-2566-10EE-AE1146F18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253" y="2761962"/>
            <a:ext cx="3848456" cy="2162752"/>
          </a:xfrm>
          <a:prstGeom prst="rect">
            <a:avLst/>
          </a:prstGeom>
        </p:spPr>
      </p:pic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E801098-4FE4-F47E-2ACB-F21288D5FD37}"/>
              </a:ext>
            </a:extLst>
          </p:cNvPr>
          <p:cNvCxnSpPr>
            <a:cxnSpLocks/>
          </p:cNvCxnSpPr>
          <p:nvPr/>
        </p:nvCxnSpPr>
        <p:spPr>
          <a:xfrm>
            <a:off x="4623284" y="3731665"/>
            <a:ext cx="1888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34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1F9A-2880-E9D0-2621-A413B069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C2263-585F-8AEE-9664-5B0A9140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주차 기록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4E696-3489-9EF0-76CB-B8AEBDBE1943}"/>
              </a:ext>
            </a:extLst>
          </p:cNvPr>
          <p:cNvSpPr txBox="1"/>
          <p:nvPr/>
        </p:nvSpPr>
        <p:spPr>
          <a:xfrm>
            <a:off x="838200" y="1490053"/>
            <a:ext cx="7502236" cy="1574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주차 기록 페이지는 모든 주차 기록을 조회할 수 있는 페이지로 </a:t>
            </a:r>
            <a:r>
              <a:rPr lang="ko-KR" altLang="en-US" sz="1300" dirty="0" err="1"/>
              <a:t>페이징</a:t>
            </a:r>
            <a:r>
              <a:rPr lang="ko-KR" altLang="en-US" sz="1300" dirty="0"/>
              <a:t> 처리가 이루어져 있습니다</a:t>
            </a:r>
            <a:r>
              <a:rPr lang="en-US" altLang="ko-KR" sz="1300" dirty="0"/>
              <a:t>. </a:t>
            </a:r>
            <a:r>
              <a:rPr lang="ko-KR" altLang="en-US" sz="1300" dirty="0"/>
              <a:t>뿐만 아니라 검색 기능을 포함시켜 원하는 정보를 조회할 수 있도록 기능을 구현하였습니다</a:t>
            </a:r>
            <a:r>
              <a:rPr lang="en-US" altLang="ko-KR" sz="1300" dirty="0"/>
              <a:t>.</a:t>
            </a:r>
          </a:p>
          <a:p>
            <a:pPr>
              <a:lnSpc>
                <a:spcPts val="3000"/>
              </a:lnSpc>
            </a:pPr>
            <a:r>
              <a:rPr lang="ko-KR" altLang="en-US" sz="1300" dirty="0"/>
              <a:t>각 주차기록은 차량에 대한 입</a:t>
            </a:r>
            <a:r>
              <a:rPr lang="en-US" altLang="ko-KR" sz="1300" dirty="0"/>
              <a:t>·</a:t>
            </a:r>
            <a:r>
              <a:rPr lang="ko-KR" altLang="en-US" sz="1300" dirty="0" err="1"/>
              <a:t>출차</a:t>
            </a:r>
            <a:r>
              <a:rPr lang="ko-KR" altLang="en-US" sz="1300" dirty="0"/>
              <a:t> 시간</a:t>
            </a:r>
            <a:r>
              <a:rPr lang="en-US" altLang="ko-KR" sz="1300" dirty="0"/>
              <a:t>, </a:t>
            </a:r>
            <a:r>
              <a:rPr lang="ko-KR" altLang="en-US" sz="1300" dirty="0"/>
              <a:t>정산 금액</a:t>
            </a:r>
            <a:r>
              <a:rPr lang="en-US" altLang="ko-KR" sz="1300" dirty="0"/>
              <a:t>, </a:t>
            </a:r>
            <a:r>
              <a:rPr lang="ko-KR" altLang="en-US" sz="1300" dirty="0"/>
              <a:t>주차 구역을 표시하도록 하였습니다</a:t>
            </a:r>
            <a:r>
              <a:rPr lang="en-US" altLang="ko-KR" sz="1300" dirty="0"/>
              <a:t>.</a:t>
            </a:r>
          </a:p>
          <a:p>
            <a:pPr>
              <a:lnSpc>
                <a:spcPts val="3000"/>
              </a:lnSpc>
            </a:pPr>
            <a:r>
              <a:rPr lang="ko-KR" altLang="en-US" sz="14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B88F3E-0C4A-BA6B-EE12-7343C72C6365}"/>
              </a:ext>
            </a:extLst>
          </p:cNvPr>
          <p:cNvSpPr txBox="1">
            <a:spLocks/>
          </p:cNvSpPr>
          <p:nvPr/>
        </p:nvSpPr>
        <p:spPr>
          <a:xfrm>
            <a:off x="838200" y="3439939"/>
            <a:ext cx="1609825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 조건 설정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7991B-8C07-AF67-C4A4-F4D368FA7F75}"/>
              </a:ext>
            </a:extLst>
          </p:cNvPr>
          <p:cNvSpPr txBox="1">
            <a:spLocks/>
          </p:cNvSpPr>
          <p:nvPr/>
        </p:nvSpPr>
        <p:spPr>
          <a:xfrm>
            <a:off x="8134098" y="4207576"/>
            <a:ext cx="3591788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입차 시간 </a:t>
            </a:r>
            <a:r>
              <a:rPr lang="en-US" altLang="ko-KR" sz="1200" dirty="0"/>
              <a:t>· </a:t>
            </a:r>
            <a:r>
              <a:rPr lang="ko-KR" altLang="en-US" sz="1200" dirty="0" err="1"/>
              <a:t>출차</a:t>
            </a:r>
            <a:r>
              <a:rPr lang="ko-KR" altLang="en-US" sz="1200" dirty="0"/>
              <a:t> 시간에 대한 오름차순</a:t>
            </a:r>
            <a:r>
              <a:rPr lang="en-US" altLang="ko-KR" sz="1200" dirty="0"/>
              <a:t>, </a:t>
            </a:r>
            <a:r>
              <a:rPr lang="ko-KR" altLang="en-US" sz="1200" dirty="0"/>
              <a:t>내림차순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정렬 기능 구현</a:t>
            </a:r>
            <a:endParaRPr lang="en-US" altLang="ko-KR" sz="12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E206CB6-C261-6B0B-2438-C87A80394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884" y="3191110"/>
            <a:ext cx="4748896" cy="2668781"/>
          </a:xfr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A91598-4F37-9CFD-CC49-DBB7CD665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87" y="3973524"/>
            <a:ext cx="1416050" cy="511639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F755F6B-1D38-FC00-144F-FD72B088A18E}"/>
              </a:ext>
            </a:extLst>
          </p:cNvPr>
          <p:cNvCxnSpPr/>
          <p:nvPr/>
        </p:nvCxnSpPr>
        <p:spPr>
          <a:xfrm flipH="1">
            <a:off x="2521527" y="3611418"/>
            <a:ext cx="22998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EC30037-02E2-3883-F175-FBBD622497BA}"/>
              </a:ext>
            </a:extLst>
          </p:cNvPr>
          <p:cNvCxnSpPr/>
          <p:nvPr/>
        </p:nvCxnSpPr>
        <p:spPr>
          <a:xfrm>
            <a:off x="1644073" y="4572000"/>
            <a:ext cx="0" cy="24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EFC31FAD-05E3-4274-860B-68249F5E4C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87" y="5702551"/>
            <a:ext cx="1416050" cy="4921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EAD962E-9879-EA9E-CD08-E3D96C9DEC39}"/>
              </a:ext>
            </a:extLst>
          </p:cNvPr>
          <p:cNvSpPr txBox="1">
            <a:spLocks/>
          </p:cNvSpPr>
          <p:nvPr/>
        </p:nvSpPr>
        <p:spPr>
          <a:xfrm>
            <a:off x="838200" y="4898982"/>
            <a:ext cx="2449706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입차 시간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출차</a:t>
            </a:r>
            <a:r>
              <a:rPr lang="ko-KR" altLang="en-US" sz="1200" dirty="0"/>
              <a:t> 시간</a:t>
            </a:r>
            <a:r>
              <a:rPr lang="en-US" altLang="ko-KR" sz="1200" dirty="0"/>
              <a:t> </a:t>
            </a:r>
            <a:r>
              <a:rPr lang="ko-KR" altLang="en-US" sz="1200" dirty="0"/>
              <a:t>선택 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 err="1"/>
              <a:t>플레이스</a:t>
            </a:r>
            <a:r>
              <a:rPr lang="ko-KR" altLang="en-US" sz="1200" dirty="0"/>
              <a:t> 홀더로 입력 형식 안내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129E26A-4AF7-993A-FD95-3DCDF3E27B8F}"/>
              </a:ext>
            </a:extLst>
          </p:cNvPr>
          <p:cNvCxnSpPr>
            <a:cxnSpLocks/>
          </p:cNvCxnSpPr>
          <p:nvPr/>
        </p:nvCxnSpPr>
        <p:spPr>
          <a:xfrm>
            <a:off x="6059488" y="4051300"/>
            <a:ext cx="1979612" cy="474200"/>
          </a:xfrm>
          <a:prstGeom prst="bentConnector3">
            <a:avLst>
              <a:gd name="adj1" fmla="val 2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0561BE5-2C0B-2328-365C-60CE4AEEE9B0}"/>
              </a:ext>
            </a:extLst>
          </p:cNvPr>
          <p:cNvCxnSpPr>
            <a:cxnSpLocks/>
          </p:cNvCxnSpPr>
          <p:nvPr/>
        </p:nvCxnSpPr>
        <p:spPr>
          <a:xfrm>
            <a:off x="5843905" y="3831392"/>
            <a:ext cx="2195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52D63F3-C26A-5CAE-6D5C-2300C4525B93}"/>
              </a:ext>
            </a:extLst>
          </p:cNvPr>
          <p:cNvSpPr txBox="1">
            <a:spLocks/>
          </p:cNvSpPr>
          <p:nvPr/>
        </p:nvSpPr>
        <p:spPr>
          <a:xfrm>
            <a:off x="8134098" y="3647082"/>
            <a:ext cx="3786614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전체</a:t>
            </a:r>
            <a:r>
              <a:rPr lang="en-US" altLang="ko-KR" sz="1200" dirty="0"/>
              <a:t> </a:t>
            </a:r>
            <a:r>
              <a:rPr lang="ko-KR" altLang="en-US" sz="1200" dirty="0"/>
              <a:t>주차 기록에 대한 기록 개수</a:t>
            </a:r>
            <a:r>
              <a:rPr lang="en-US" altLang="ko-KR" sz="1200" dirty="0"/>
              <a:t>, </a:t>
            </a:r>
            <a:r>
              <a:rPr lang="ko-KR" altLang="en-US" sz="1200" dirty="0"/>
              <a:t>총 수익 금액 출력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84352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017A-F802-582C-8E5C-1C91940A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3037790-1205-31A9-D5AA-D74EFB4F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681" y="3678678"/>
            <a:ext cx="6332522" cy="2464947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6F6FDA7-8092-7014-D2E9-F312A6A1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주차 기록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검색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611F3-684A-5427-2D4F-46F0181B9CA1}"/>
              </a:ext>
            </a:extLst>
          </p:cNvPr>
          <p:cNvSpPr txBox="1"/>
          <p:nvPr/>
        </p:nvSpPr>
        <p:spPr>
          <a:xfrm>
            <a:off x="838200" y="1490053"/>
            <a:ext cx="7502236" cy="804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주차 기록 페이지에서 검색 기능을 이용할 경우 출력되는 정보와 기능은 모두 검색 정보에</a:t>
            </a:r>
            <a:endParaRPr lang="en-US" altLang="ko-KR" sz="1300" dirty="0"/>
          </a:p>
          <a:p>
            <a:pPr>
              <a:lnSpc>
                <a:spcPts val="3000"/>
              </a:lnSpc>
            </a:pPr>
            <a:r>
              <a:rPr lang="ko-KR" altLang="en-US" sz="1300" dirty="0"/>
              <a:t>기반하여 작용되도록 만들었습니다</a:t>
            </a:r>
            <a:r>
              <a:rPr lang="en-US" altLang="ko-KR" sz="1300" dirty="0"/>
              <a:t>.</a:t>
            </a:r>
            <a:r>
              <a:rPr lang="ko-KR" altLang="en-US" sz="1400" dirty="0"/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EBA989-97E6-0EBC-318A-4F42D605AFD4}"/>
              </a:ext>
            </a:extLst>
          </p:cNvPr>
          <p:cNvSpPr txBox="1">
            <a:spLocks/>
          </p:cNvSpPr>
          <p:nvPr/>
        </p:nvSpPr>
        <p:spPr>
          <a:xfrm>
            <a:off x="1025636" y="3084072"/>
            <a:ext cx="3157680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 기능을 통해 차량번호 </a:t>
            </a:r>
            <a:r>
              <a:rPr lang="en-US" altLang="ko-KR" sz="1200" dirty="0"/>
              <a:t>‘1234’ </a:t>
            </a:r>
            <a:r>
              <a:rPr lang="ko-KR" altLang="en-US" sz="1200" dirty="0"/>
              <a:t>검색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3DDE594-AEEB-6A4B-A038-5AFE577AAE24}"/>
              </a:ext>
            </a:extLst>
          </p:cNvPr>
          <p:cNvCxnSpPr>
            <a:cxnSpLocks/>
          </p:cNvCxnSpPr>
          <p:nvPr/>
        </p:nvCxnSpPr>
        <p:spPr>
          <a:xfrm flipV="1">
            <a:off x="7543800" y="3429000"/>
            <a:ext cx="0" cy="807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3F05E33-F992-616B-77C0-D60907779780}"/>
              </a:ext>
            </a:extLst>
          </p:cNvPr>
          <p:cNvSpPr txBox="1">
            <a:spLocks/>
          </p:cNvSpPr>
          <p:nvPr/>
        </p:nvSpPr>
        <p:spPr>
          <a:xfrm>
            <a:off x="6195579" y="2687363"/>
            <a:ext cx="2696442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검색된</a:t>
            </a:r>
            <a:r>
              <a:rPr lang="en-US" altLang="ko-KR" sz="1200" dirty="0"/>
              <a:t> </a:t>
            </a:r>
            <a:r>
              <a:rPr lang="ko-KR" altLang="en-US" sz="1200" dirty="0"/>
              <a:t>주차 기록에 대한 기록 개수</a:t>
            </a:r>
            <a:r>
              <a:rPr lang="en-US" altLang="ko-KR" sz="1200" dirty="0"/>
              <a:t>,</a:t>
            </a:r>
          </a:p>
          <a:p>
            <a:pPr>
              <a:lnSpc>
                <a:spcPts val="2000"/>
              </a:lnSpc>
            </a:pPr>
            <a:r>
              <a:rPr lang="ko-KR" altLang="en-US" sz="1200" dirty="0"/>
              <a:t>총 수익 금액 출력</a:t>
            </a:r>
            <a:endParaRPr lang="en-US" altLang="ko-KR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87D535-22B2-9954-81E3-766776CE2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36" y="3541585"/>
            <a:ext cx="3157680" cy="662576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C2355C80-68A6-B38D-B905-01C3D1121A3E}"/>
              </a:ext>
            </a:extLst>
          </p:cNvPr>
          <p:cNvCxnSpPr/>
          <p:nvPr/>
        </p:nvCxnSpPr>
        <p:spPr>
          <a:xfrm>
            <a:off x="2314575" y="4236055"/>
            <a:ext cx="1676400" cy="631220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46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553E7-A966-6C7A-2C06-1337C4BD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54D0F-2E89-F665-A32A-77D8DB58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요금 변경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157B6-BFF0-9F31-5378-8EAE5E44F5D9}"/>
              </a:ext>
            </a:extLst>
          </p:cNvPr>
          <p:cNvSpPr txBox="1"/>
          <p:nvPr/>
        </p:nvSpPr>
        <p:spPr>
          <a:xfrm>
            <a:off x="838200" y="1490053"/>
            <a:ext cx="7334250" cy="118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요금 변경 페이지에서는 주차장을 이용하는 고객에 대한 요금 정산 방식을 설정할 수 있습니다</a:t>
            </a:r>
            <a:r>
              <a:rPr lang="en-US" altLang="ko-KR" sz="1300" dirty="0"/>
              <a:t>.</a:t>
            </a:r>
          </a:p>
          <a:p>
            <a:pPr>
              <a:lnSpc>
                <a:spcPts val="3000"/>
              </a:lnSpc>
            </a:pPr>
            <a:r>
              <a:rPr lang="ko-KR" altLang="en-US" sz="1300" dirty="0"/>
              <a:t>주차 요금을 정산하는 변수들에 대한 테이블을 따로 제작하여 쿼리문을 통해 수정이 가능하며</a:t>
            </a:r>
            <a:r>
              <a:rPr lang="en-US" altLang="ko-KR" sz="1300" dirty="0"/>
              <a:t>,</a:t>
            </a:r>
          </a:p>
          <a:p>
            <a:pPr>
              <a:lnSpc>
                <a:spcPts val="3000"/>
              </a:lnSpc>
            </a:pPr>
            <a:r>
              <a:rPr lang="ko-KR" altLang="en-US" sz="1300" dirty="0"/>
              <a:t>관리자로 하여금 요금 정산 방식을</a:t>
            </a:r>
            <a:r>
              <a:rPr lang="en-US" altLang="ko-KR" sz="1300" dirty="0"/>
              <a:t> </a:t>
            </a:r>
            <a:r>
              <a:rPr lang="ko-KR" altLang="en-US" sz="1300" dirty="0"/>
              <a:t>쉽게 수정할 수 있도록 만들었습니다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20D25-CD85-7487-E00F-558FF0BB8978}"/>
              </a:ext>
            </a:extLst>
          </p:cNvPr>
          <p:cNvSpPr txBox="1">
            <a:spLocks/>
          </p:cNvSpPr>
          <p:nvPr/>
        </p:nvSpPr>
        <p:spPr>
          <a:xfrm>
            <a:off x="7837447" y="3561256"/>
            <a:ext cx="297585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입차 시 예외 없이 발생하는 기본요금에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대해 설정할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970DD40-6881-FEA3-00B5-A1E828689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039" y="2915437"/>
            <a:ext cx="2690997" cy="3459075"/>
          </a:xfr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9A550F-23A1-9D83-84DB-88FA50B5BFCF}"/>
              </a:ext>
            </a:extLst>
          </p:cNvPr>
          <p:cNvCxnSpPr/>
          <p:nvPr/>
        </p:nvCxnSpPr>
        <p:spPr>
          <a:xfrm>
            <a:off x="6873240" y="3867150"/>
            <a:ext cx="922297" cy="0"/>
          </a:xfrm>
          <a:prstGeom prst="line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6089BC8-D346-677F-18E4-0C6C1350FCC0}"/>
              </a:ext>
            </a:extLst>
          </p:cNvPr>
          <p:cNvCxnSpPr/>
          <p:nvPr/>
        </p:nvCxnSpPr>
        <p:spPr>
          <a:xfrm>
            <a:off x="4368800" y="5127625"/>
            <a:ext cx="922297" cy="0"/>
          </a:xfrm>
          <a:prstGeom prst="line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A858242-DDDD-B4F5-2FEF-0B46A4F58B16}"/>
              </a:ext>
            </a:extLst>
          </p:cNvPr>
          <p:cNvCxnSpPr/>
          <p:nvPr/>
        </p:nvCxnSpPr>
        <p:spPr>
          <a:xfrm>
            <a:off x="6854190" y="5549900"/>
            <a:ext cx="922297" cy="0"/>
          </a:xfrm>
          <a:prstGeom prst="line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DCBE651-94D6-1E94-FBDB-2B7C8B8FF2C3}"/>
              </a:ext>
            </a:extLst>
          </p:cNvPr>
          <p:cNvCxnSpPr/>
          <p:nvPr/>
        </p:nvCxnSpPr>
        <p:spPr>
          <a:xfrm>
            <a:off x="4368800" y="4286250"/>
            <a:ext cx="922297" cy="0"/>
          </a:xfrm>
          <a:prstGeom prst="line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64A57CD-F5F3-59E8-C8D1-1F81F0BBCC62}"/>
              </a:ext>
            </a:extLst>
          </p:cNvPr>
          <p:cNvCxnSpPr/>
          <p:nvPr/>
        </p:nvCxnSpPr>
        <p:spPr>
          <a:xfrm>
            <a:off x="6854190" y="4708475"/>
            <a:ext cx="922297" cy="0"/>
          </a:xfrm>
          <a:prstGeom prst="line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9C7342-7340-F3CE-59C3-10D7B13C8836}"/>
              </a:ext>
            </a:extLst>
          </p:cNvPr>
          <p:cNvSpPr txBox="1">
            <a:spLocks/>
          </p:cNvSpPr>
          <p:nvPr/>
        </p:nvSpPr>
        <p:spPr>
          <a:xfrm>
            <a:off x="1778111" y="3968326"/>
            <a:ext cx="2495458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설정하는 시간까지는 기본요금만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발생하도록 설정할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33443-CB5E-1301-D0B1-C9F8F53B147B}"/>
              </a:ext>
            </a:extLst>
          </p:cNvPr>
          <p:cNvSpPr txBox="1">
            <a:spLocks/>
          </p:cNvSpPr>
          <p:nvPr/>
        </p:nvSpPr>
        <p:spPr>
          <a:xfrm>
            <a:off x="7837447" y="4390551"/>
            <a:ext cx="297585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한 시간당 부과되는 요금에 대한 설정을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4BCDED-4098-CCF1-9F06-B383706135D9}"/>
              </a:ext>
            </a:extLst>
          </p:cNvPr>
          <p:cNvSpPr txBox="1">
            <a:spLocks/>
          </p:cNvSpPr>
          <p:nvPr/>
        </p:nvSpPr>
        <p:spPr>
          <a:xfrm>
            <a:off x="1436602" y="4809701"/>
            <a:ext cx="283696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요금 정산 시 </a:t>
            </a:r>
            <a:r>
              <a:rPr lang="en-US" altLang="ko-KR" sz="1200" dirty="0"/>
              <a:t>N</a:t>
            </a:r>
            <a:r>
              <a:rPr lang="ko-KR" altLang="en-US" sz="1200" dirty="0"/>
              <a:t>분 단위로 요금에 대한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계산이 이루어지도록 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FC5F07-B7E0-0F8F-856D-747A472FCD91}"/>
              </a:ext>
            </a:extLst>
          </p:cNvPr>
          <p:cNvSpPr txBox="1">
            <a:spLocks/>
          </p:cNvSpPr>
          <p:nvPr/>
        </p:nvSpPr>
        <p:spPr>
          <a:xfrm>
            <a:off x="7837447" y="5231976"/>
            <a:ext cx="3031413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하루</a:t>
            </a:r>
            <a:r>
              <a:rPr lang="en-US" altLang="ko-KR" sz="1200" dirty="0"/>
              <a:t>(24</a:t>
            </a:r>
            <a:r>
              <a:rPr lang="ko-KR" altLang="en-US" sz="1200" dirty="0"/>
              <a:t>시간</a:t>
            </a:r>
            <a:r>
              <a:rPr lang="en-US" altLang="ko-KR" sz="1200" dirty="0"/>
              <a:t>)</a:t>
            </a:r>
            <a:r>
              <a:rPr lang="ko-KR" altLang="en-US" sz="1200" dirty="0"/>
              <a:t>의 최대 금액은 해당 금액을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초과할 수 없도록 설정할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7920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DA0C7-5F1F-A825-1660-C8F28193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CAF0AE0-0B6D-9D44-EC15-9DE24A5B3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54119"/>
            <a:ext cx="5556868" cy="3122844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75D43E5-B31E-1277-3FAD-6A9D306B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E3760-32CE-CBBC-8D53-95426E3A18F3}"/>
              </a:ext>
            </a:extLst>
          </p:cNvPr>
          <p:cNvSpPr txBox="1"/>
          <p:nvPr/>
        </p:nvSpPr>
        <p:spPr>
          <a:xfrm>
            <a:off x="838200" y="1490053"/>
            <a:ext cx="6980197" cy="118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회원 관리 페이지에서는 관리자가 정기 주차 회원에 대한 등록이 가능하며</a:t>
            </a:r>
            <a:r>
              <a:rPr lang="en-US" altLang="ko-KR" sz="1300" dirty="0"/>
              <a:t> </a:t>
            </a:r>
            <a:r>
              <a:rPr lang="ko-KR" altLang="en-US" sz="1300" dirty="0"/>
              <a:t>등록된 회원에 대해 검색과 더불어 스크립트를 통한 회원 정보 수정 및 삭제가 </a:t>
            </a:r>
            <a:r>
              <a:rPr lang="ko-KR" altLang="en-US" sz="1300" dirty="0" err="1"/>
              <a:t>모달창으로</a:t>
            </a:r>
            <a:r>
              <a:rPr lang="ko-KR" altLang="en-US" sz="1300" dirty="0"/>
              <a:t> 이루어지도록</a:t>
            </a:r>
            <a:endParaRPr lang="en-US" altLang="ko-KR" sz="1300" dirty="0"/>
          </a:p>
          <a:p>
            <a:pPr>
              <a:lnSpc>
                <a:spcPts val="3000"/>
              </a:lnSpc>
            </a:pPr>
            <a:r>
              <a:rPr lang="ko-KR" altLang="en-US" sz="1300" dirty="0"/>
              <a:t>구현하였습니다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2DDCC-40B0-1AC0-F7DE-74FE4AA66D53}"/>
              </a:ext>
            </a:extLst>
          </p:cNvPr>
          <p:cNvSpPr txBox="1">
            <a:spLocks/>
          </p:cNvSpPr>
          <p:nvPr/>
        </p:nvSpPr>
        <p:spPr>
          <a:xfrm>
            <a:off x="7818397" y="3111076"/>
            <a:ext cx="297585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 되는 조건을 통해서 등록되어 있는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회원에 대한 조회 가능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20170C-9A92-6117-2966-1B8F5CFBE4AB}"/>
              </a:ext>
            </a:extLst>
          </p:cNvPr>
          <p:cNvCxnSpPr/>
          <p:nvPr/>
        </p:nvCxnSpPr>
        <p:spPr>
          <a:xfrm>
            <a:off x="3851563" y="5301673"/>
            <a:ext cx="3801861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26273C7-8C55-65D8-3BFA-C2421549FC19}"/>
              </a:ext>
            </a:extLst>
          </p:cNvPr>
          <p:cNvSpPr txBox="1">
            <a:spLocks/>
          </p:cNvSpPr>
          <p:nvPr/>
        </p:nvSpPr>
        <p:spPr>
          <a:xfrm>
            <a:off x="7818397" y="5165873"/>
            <a:ext cx="2536522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회원을 새로 등록 할 수 있는 기능</a:t>
            </a:r>
            <a:endParaRPr lang="en-US" altLang="ko-KR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DB3E9F3-87AD-32DA-1ED9-D2B43F108BB0}"/>
              </a:ext>
            </a:extLst>
          </p:cNvPr>
          <p:cNvCxnSpPr/>
          <p:nvPr/>
        </p:nvCxnSpPr>
        <p:spPr>
          <a:xfrm>
            <a:off x="5135418" y="4597069"/>
            <a:ext cx="2484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5FC7FD-63F5-4ED4-42C3-19BFF732121F}"/>
              </a:ext>
            </a:extLst>
          </p:cNvPr>
          <p:cNvSpPr txBox="1">
            <a:spLocks/>
          </p:cNvSpPr>
          <p:nvPr/>
        </p:nvSpPr>
        <p:spPr>
          <a:xfrm>
            <a:off x="7818397" y="4279145"/>
            <a:ext cx="3368434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회원에 해당하는 행 클릭 시 해당 회원에 대한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정보 관리 </a:t>
            </a:r>
            <a:r>
              <a:rPr lang="ko-KR" altLang="en-US" sz="1200" dirty="0" err="1"/>
              <a:t>모달창을</a:t>
            </a:r>
            <a:r>
              <a:rPr lang="ko-KR" altLang="en-US" sz="1200" dirty="0"/>
              <a:t> 띄움</a:t>
            </a:r>
            <a:endParaRPr lang="en-US" altLang="ko-KR" sz="1200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DCDB7739-8344-FA52-0578-737A13FB8676}"/>
              </a:ext>
            </a:extLst>
          </p:cNvPr>
          <p:cNvCxnSpPr/>
          <p:nvPr/>
        </p:nvCxnSpPr>
        <p:spPr>
          <a:xfrm flipV="1">
            <a:off x="4100945" y="3429000"/>
            <a:ext cx="3519053" cy="394855"/>
          </a:xfrm>
          <a:prstGeom prst="bentConnector3">
            <a:avLst>
              <a:gd name="adj1" fmla="val 131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212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529D7-FA48-CB82-BBD8-AA0A9A52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33B40D7-BF4C-20AF-F148-458FB48D1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8108"/>
            <a:ext cx="4548767" cy="3784745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0B4B91C-6CE5-A449-5A0B-4F4B719E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회원 등록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FC465-D00D-D4EB-8FAD-C6BD64333899}"/>
              </a:ext>
            </a:extLst>
          </p:cNvPr>
          <p:cNvSpPr txBox="1">
            <a:spLocks/>
          </p:cNvSpPr>
          <p:nvPr/>
        </p:nvSpPr>
        <p:spPr>
          <a:xfrm>
            <a:off x="7070252" y="2833469"/>
            <a:ext cx="4294220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차량 번호와 회원 아이디는 중복이 허용되지 않음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/>
              <a:t>(</a:t>
            </a:r>
            <a:r>
              <a:rPr lang="ko-KR" altLang="en-US" sz="1200" dirty="0"/>
              <a:t>중복된 정보 등록 시 </a:t>
            </a:r>
            <a:r>
              <a:rPr lang="ko-KR" altLang="en-US" sz="1200" dirty="0" err="1"/>
              <a:t>알림창과</a:t>
            </a:r>
            <a:r>
              <a:rPr lang="ko-KR" altLang="en-US" sz="1200" dirty="0"/>
              <a:t> 함께 등록을 허용하지 않음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2B9722A-A749-B290-5E3B-4A3423DCA849}"/>
              </a:ext>
            </a:extLst>
          </p:cNvPr>
          <p:cNvCxnSpPr>
            <a:cxnSpLocks/>
          </p:cNvCxnSpPr>
          <p:nvPr/>
        </p:nvCxnSpPr>
        <p:spPr>
          <a:xfrm>
            <a:off x="2867887" y="4988882"/>
            <a:ext cx="4077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BE9578-B383-993B-CCAA-7D85F12DE068}"/>
              </a:ext>
            </a:extLst>
          </p:cNvPr>
          <p:cNvSpPr txBox="1">
            <a:spLocks/>
          </p:cNvSpPr>
          <p:nvPr/>
        </p:nvSpPr>
        <p:spPr>
          <a:xfrm>
            <a:off x="7070252" y="5566811"/>
            <a:ext cx="2371435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회원에 대한 정상적인 등록처리</a:t>
            </a:r>
            <a:endParaRPr lang="en-US" altLang="ko-KR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A698767-00F7-B8B0-E1BB-F8F2969B0FD1}"/>
              </a:ext>
            </a:extLst>
          </p:cNvPr>
          <p:cNvCxnSpPr/>
          <p:nvPr/>
        </p:nvCxnSpPr>
        <p:spPr>
          <a:xfrm>
            <a:off x="4461163" y="3036124"/>
            <a:ext cx="248458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231FEB4-D4C3-F846-8155-BF81E4257075}"/>
              </a:ext>
            </a:extLst>
          </p:cNvPr>
          <p:cNvCxnSpPr>
            <a:cxnSpLocks/>
          </p:cNvCxnSpPr>
          <p:nvPr/>
        </p:nvCxnSpPr>
        <p:spPr>
          <a:xfrm flipV="1">
            <a:off x="4461163" y="3036124"/>
            <a:ext cx="2272146" cy="433193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278088F5-F330-0FCB-FEFF-81BF48D7E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488" y="1802338"/>
            <a:ext cx="2928896" cy="9316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032BE2D-8B7B-51BD-B381-5323C5AC1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252" y="4523213"/>
            <a:ext cx="2928896" cy="9313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642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6FB2-035C-45AB-9A87-261381E5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32F4F-6BF8-63B4-DF84-7F95D249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회원 수정 </a:t>
            </a:r>
            <a:r>
              <a:rPr lang="en-US" altLang="ko-KR" sz="3200" b="1" dirty="0">
                <a:solidFill>
                  <a:srgbClr val="4472C4"/>
                </a:solidFill>
              </a:rPr>
              <a:t>· </a:t>
            </a:r>
            <a:r>
              <a:rPr lang="ko-KR" altLang="en-US" sz="3200" b="1" dirty="0">
                <a:solidFill>
                  <a:srgbClr val="4472C4"/>
                </a:solidFill>
              </a:rPr>
              <a:t>삭제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AE44E-C48C-3C9E-2A37-0D8E02ECC0AE}"/>
              </a:ext>
            </a:extLst>
          </p:cNvPr>
          <p:cNvSpPr txBox="1">
            <a:spLocks/>
          </p:cNvSpPr>
          <p:nvPr/>
        </p:nvSpPr>
        <p:spPr>
          <a:xfrm>
            <a:off x="9093961" y="2701906"/>
            <a:ext cx="2509981" cy="120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200" dirty="0"/>
              <a:t>PK</a:t>
            </a:r>
            <a:r>
              <a:rPr lang="ko-KR" altLang="en-US" sz="1200" dirty="0"/>
              <a:t>로 사용되는 차량 번호와 중복을 허용하지 않는 회원 아이디를 제외한 이름과 연락처를 수정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B8FE38-4670-1929-B208-4DFC30EDD8F8}"/>
              </a:ext>
            </a:extLst>
          </p:cNvPr>
          <p:cNvSpPr txBox="1">
            <a:spLocks/>
          </p:cNvSpPr>
          <p:nvPr/>
        </p:nvSpPr>
        <p:spPr>
          <a:xfrm>
            <a:off x="9093961" y="5721826"/>
            <a:ext cx="2717683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 정보에 대한 삭제 여부 확인 후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/>
              <a:t>DB</a:t>
            </a:r>
            <a:r>
              <a:rPr lang="ko-KR" altLang="en-US" sz="1200" dirty="0"/>
              <a:t>에서 데이터 완전한 삭제</a:t>
            </a:r>
            <a:endParaRPr lang="en-US" altLang="ko-KR" sz="12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9C3F928-1C18-CD46-AB08-C71AE0F0A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54780"/>
            <a:ext cx="3644253" cy="2707646"/>
          </a:xfr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58F7B39-5681-A80A-84C5-6CA79A5AF344}"/>
              </a:ext>
            </a:extLst>
          </p:cNvPr>
          <p:cNvCxnSpPr>
            <a:cxnSpLocks/>
          </p:cNvCxnSpPr>
          <p:nvPr/>
        </p:nvCxnSpPr>
        <p:spPr>
          <a:xfrm flipV="1">
            <a:off x="2355273" y="3469317"/>
            <a:ext cx="3528291" cy="738909"/>
          </a:xfrm>
          <a:prstGeom prst="bentConnector3">
            <a:avLst>
              <a:gd name="adj1" fmla="val 664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7221D6D-A593-2EEA-89D1-F4D08773DB2A}"/>
              </a:ext>
            </a:extLst>
          </p:cNvPr>
          <p:cNvCxnSpPr/>
          <p:nvPr/>
        </p:nvCxnSpPr>
        <p:spPr>
          <a:xfrm>
            <a:off x="2355273" y="4208226"/>
            <a:ext cx="0" cy="179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90A47583-4EA0-98FD-642E-F6437E904464}"/>
              </a:ext>
            </a:extLst>
          </p:cNvPr>
          <p:cNvCxnSpPr>
            <a:cxnSpLocks/>
          </p:cNvCxnSpPr>
          <p:nvPr/>
        </p:nvCxnSpPr>
        <p:spPr>
          <a:xfrm>
            <a:off x="2964873" y="4812145"/>
            <a:ext cx="2918691" cy="655782"/>
          </a:xfrm>
          <a:prstGeom prst="bentConnector3">
            <a:avLst>
              <a:gd name="adj1" fmla="val 598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EA5FEBB-4C29-C044-35D7-11F000CF9D61}"/>
              </a:ext>
            </a:extLst>
          </p:cNvPr>
          <p:cNvCxnSpPr/>
          <p:nvPr/>
        </p:nvCxnSpPr>
        <p:spPr>
          <a:xfrm>
            <a:off x="2964873" y="4682836"/>
            <a:ext cx="0" cy="129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963445F2-862D-D69B-2EAD-2C7DB75C8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8" y="1692080"/>
            <a:ext cx="2704090" cy="231045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C8080B4-1874-A245-6196-81F4775F0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8" y="4285674"/>
            <a:ext cx="2704090" cy="226153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C460699-EAF8-0E47-2217-A3106009F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61" y="4888920"/>
            <a:ext cx="2122054" cy="6855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48B07BE-9935-53FA-CBC0-1325B6164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60" y="1769195"/>
            <a:ext cx="2127195" cy="6855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72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03E5-5D3E-1970-CF43-7155C93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378F342D-3C78-142F-F8B4-B18BD3A92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10" y="3303948"/>
            <a:ext cx="3880716" cy="898765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1924B52A-D125-8671-CAB1-DA0B675ED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14254"/>
            <a:ext cx="5388369" cy="2620963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C1C9530-DABF-6D22-1F9B-5B9E75D1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검색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3FBEB-B4EB-2622-8B27-0B2454EEB708}"/>
              </a:ext>
            </a:extLst>
          </p:cNvPr>
          <p:cNvSpPr txBox="1"/>
          <p:nvPr/>
        </p:nvSpPr>
        <p:spPr>
          <a:xfrm>
            <a:off x="838200" y="1490053"/>
            <a:ext cx="6980197" cy="801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300" dirty="0"/>
              <a:t>회원을 검색하였을 때도 기존의 회원 관리 페이지와 동일하게 회원에 해당하는 행을</a:t>
            </a:r>
            <a:endParaRPr lang="en-US" altLang="ko-KR" sz="1300" dirty="0"/>
          </a:p>
          <a:p>
            <a:pPr>
              <a:lnSpc>
                <a:spcPts val="3000"/>
              </a:lnSpc>
            </a:pPr>
            <a:r>
              <a:rPr lang="ko-KR" altLang="en-US" sz="1300" dirty="0"/>
              <a:t>클릭 시 해당 회원의 정보 관리를 가능하게 하였습니다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47B079-95E9-7312-C261-41D66B4C2107}"/>
              </a:ext>
            </a:extLst>
          </p:cNvPr>
          <p:cNvSpPr txBox="1">
            <a:spLocks/>
          </p:cNvSpPr>
          <p:nvPr/>
        </p:nvSpPr>
        <p:spPr>
          <a:xfrm>
            <a:off x="7818397" y="5214658"/>
            <a:ext cx="2606571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검색된 회원의 수를 전체 리스트의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/>
              <a:t>Count</a:t>
            </a:r>
            <a:r>
              <a:rPr lang="ko-KR" altLang="en-US" sz="1200" dirty="0"/>
              <a:t>를 통해서 표시</a:t>
            </a:r>
            <a:endParaRPr lang="en-US" altLang="ko-KR" sz="1200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2585694-CEC3-F6BD-1CD7-9149BCE09011}"/>
              </a:ext>
            </a:extLst>
          </p:cNvPr>
          <p:cNvCxnSpPr>
            <a:cxnSpLocks/>
          </p:cNvCxnSpPr>
          <p:nvPr/>
        </p:nvCxnSpPr>
        <p:spPr>
          <a:xfrm>
            <a:off x="5523345" y="4267200"/>
            <a:ext cx="2161310" cy="12653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2E3673B-7C22-FAF8-C0F6-763293EC32ED}"/>
              </a:ext>
            </a:extLst>
          </p:cNvPr>
          <p:cNvCxnSpPr/>
          <p:nvPr/>
        </p:nvCxnSpPr>
        <p:spPr>
          <a:xfrm flipH="1">
            <a:off x="6059488" y="3749964"/>
            <a:ext cx="710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76E1334-3537-1716-9CE9-CE28F84BA291}"/>
              </a:ext>
            </a:extLst>
          </p:cNvPr>
          <p:cNvSpPr txBox="1">
            <a:spLocks/>
          </p:cNvSpPr>
          <p:nvPr/>
        </p:nvSpPr>
        <p:spPr>
          <a:xfrm>
            <a:off x="6950187" y="2695809"/>
            <a:ext cx="3204618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 이름에 대하여 </a:t>
            </a:r>
            <a:r>
              <a:rPr lang="en-US" altLang="ko-KR" sz="1200" dirty="0"/>
              <a:t>‘</a:t>
            </a:r>
            <a:r>
              <a:rPr lang="ko-KR" altLang="en-US" sz="1200" dirty="0"/>
              <a:t>세종</a:t>
            </a:r>
            <a:r>
              <a:rPr lang="en-US" altLang="ko-KR" sz="1200" dirty="0"/>
              <a:t>’ </a:t>
            </a:r>
            <a:r>
              <a:rPr lang="ko-KR" altLang="en-US" sz="1200" dirty="0"/>
              <a:t>이라는 키워드로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검색하여 해당 검색 결과 페이지로 이동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919628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500</Words>
  <Application>Microsoft Office PowerPoint</Application>
  <PresentationFormat>와이드스크린</PresentationFormat>
  <Paragraphs>67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관리자 페이지  메인</vt:lpstr>
      <vt:lpstr>관리자 페이지  주차 현황</vt:lpstr>
      <vt:lpstr>관리자 페이지  주차 기록</vt:lpstr>
      <vt:lpstr>관리자 페이지  주차 기록(검색)</vt:lpstr>
      <vt:lpstr>관리자 페이지  요금 변경</vt:lpstr>
      <vt:lpstr>관리자 페이지  회원 관리</vt:lpstr>
      <vt:lpstr>관리자 페이지  회원 관리(회원 등록)</vt:lpstr>
      <vt:lpstr>관리자 페이지  회원 관리(회원 수정 · 삭제)</vt:lpstr>
      <vt:lpstr>관리자 페이지  회원 관리(검색)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1234</dc:creator>
  <cp:lastModifiedBy>1234</cp:lastModifiedBy>
  <cp:revision>45</cp:revision>
  <dcterms:created xsi:type="dcterms:W3CDTF">2025-08-05T03:30:51Z</dcterms:created>
  <dcterms:modified xsi:type="dcterms:W3CDTF">2025-08-05T06:34:52Z</dcterms:modified>
</cp:coreProperties>
</file>