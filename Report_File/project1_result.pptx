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20"/>
  </p:notesMasterIdLst>
  <p:sldIdLst>
    <p:sldId id="256" r:id="rId2"/>
    <p:sldId id="257" r:id="rId3"/>
    <p:sldId id="260" r:id="rId4"/>
    <p:sldId id="261" r:id="rId5"/>
    <p:sldId id="262" r:id="rId6"/>
    <p:sldId id="263" r:id="rId7"/>
    <p:sldId id="264" r:id="rId8"/>
    <p:sldId id="297" r:id="rId9"/>
    <p:sldId id="298" r:id="rId10"/>
    <p:sldId id="299" r:id="rId11"/>
    <p:sldId id="300" r:id="rId12"/>
    <p:sldId id="301" r:id="rId13"/>
    <p:sldId id="302" r:id="rId14"/>
    <p:sldId id="303" r:id="rId15"/>
    <p:sldId id="304" r:id="rId16"/>
    <p:sldId id="305" r:id="rId17"/>
    <p:sldId id="306" r:id="rId18"/>
    <p:sldId id="307" r:id="rId19"/>
  </p:sldIdLst>
  <p:sldSz cx="9144000" cy="5143500" type="screen16x9"/>
  <p:notesSz cx="6858000" cy="9144000"/>
  <p:embeddedFontLst>
    <p:embeddedFont>
      <p:font typeface="Adobe 고딕 Std B" panose="020B0800000000000000" pitchFamily="34" charset="-127"/>
      <p:bold r:id="rId21"/>
    </p:embeddedFont>
    <p:embeddedFont>
      <p:font typeface="Black Han Sans" pitchFamily="2" charset="-127"/>
      <p:regular r:id="rId22"/>
    </p:embeddedFont>
    <p:embeddedFont>
      <p:font typeface="Cairo" panose="020B0600000101010101" charset="-78"/>
      <p:regular r:id="rId23"/>
      <p:bold r:id="rId24"/>
    </p:embeddedFont>
    <p:embeddedFont>
      <p:font typeface="KoPubWorld돋움체 Medium" panose="00000600000000000000" pitchFamily="2" charset="-127"/>
      <p:regular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33E0F-154F-4085-A8FD-23661526D0F1}">
  <a:tblStyle styleId="{C5433E0F-154F-4085-A8FD-23661526D0F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1DF63D30-0CBF-4FC1-88ED-4010FBB41F25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39" d="100"/>
          <a:sy n="139" d="100"/>
        </p:scale>
        <p:origin x="804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184d99d1a72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184d99d1a72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>
          <a:extLst>
            <a:ext uri="{FF2B5EF4-FFF2-40B4-BE49-F238E27FC236}">
              <a16:creationId xmlns:a16="http://schemas.microsoft.com/office/drawing/2014/main" id="{5A9C30E8-7E2C-34FB-F6F2-A51B6B31A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>
            <a:extLst>
              <a:ext uri="{FF2B5EF4-FFF2-40B4-BE49-F238E27FC236}">
                <a16:creationId xmlns:a16="http://schemas.microsoft.com/office/drawing/2014/main" id="{B3785A64-F493-BF5A-D287-885B3410E9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>
            <a:extLst>
              <a:ext uri="{FF2B5EF4-FFF2-40B4-BE49-F238E27FC236}">
                <a16:creationId xmlns:a16="http://schemas.microsoft.com/office/drawing/2014/main" id="{031BAC35-7DCF-26E6-EAE9-381B3024B3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506305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53DAA4CA-B9BD-83E7-433A-4B02756C7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184d99d1a72_0_2:notes">
            <a:extLst>
              <a:ext uri="{FF2B5EF4-FFF2-40B4-BE49-F238E27FC236}">
                <a16:creationId xmlns:a16="http://schemas.microsoft.com/office/drawing/2014/main" id="{8B5D3D2C-BC75-D802-407B-39677106F1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184d99d1a72_0_2:notes">
            <a:extLst>
              <a:ext uri="{FF2B5EF4-FFF2-40B4-BE49-F238E27FC236}">
                <a16:creationId xmlns:a16="http://schemas.microsoft.com/office/drawing/2014/main" id="{18687951-B298-5BE1-0DA7-27FDB4B614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21315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>
          <a:extLst>
            <a:ext uri="{FF2B5EF4-FFF2-40B4-BE49-F238E27FC236}">
              <a16:creationId xmlns:a16="http://schemas.microsoft.com/office/drawing/2014/main" id="{4C9B5DFD-AA01-270C-3906-43108C623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184d99d1a72_0_57:notes">
            <a:extLst>
              <a:ext uri="{FF2B5EF4-FFF2-40B4-BE49-F238E27FC236}">
                <a16:creationId xmlns:a16="http://schemas.microsoft.com/office/drawing/2014/main" id="{A7D7BD06-64F1-A854-70D9-0C61069895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184d99d1a72_0_57:notes">
            <a:extLst>
              <a:ext uri="{FF2B5EF4-FFF2-40B4-BE49-F238E27FC236}">
                <a16:creationId xmlns:a16="http://schemas.microsoft.com/office/drawing/2014/main" id="{39E7CA94-5848-3462-5D23-2333ED6740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992250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>
          <a:extLst>
            <a:ext uri="{FF2B5EF4-FFF2-40B4-BE49-F238E27FC236}">
              <a16:creationId xmlns:a16="http://schemas.microsoft.com/office/drawing/2014/main" id="{37A50F0C-4979-7458-EA9F-2D13DA85D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>
            <a:extLst>
              <a:ext uri="{FF2B5EF4-FFF2-40B4-BE49-F238E27FC236}">
                <a16:creationId xmlns:a16="http://schemas.microsoft.com/office/drawing/2014/main" id="{2881DADC-0658-C798-016D-407B75957D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>
            <a:extLst>
              <a:ext uri="{FF2B5EF4-FFF2-40B4-BE49-F238E27FC236}">
                <a16:creationId xmlns:a16="http://schemas.microsoft.com/office/drawing/2014/main" id="{082F493C-1654-C619-6AB2-EDC06A3F22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35728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BB4C7CB6-C887-B2D9-1AC2-20C9980AE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184d99d1a72_0_2:notes">
            <a:extLst>
              <a:ext uri="{FF2B5EF4-FFF2-40B4-BE49-F238E27FC236}">
                <a16:creationId xmlns:a16="http://schemas.microsoft.com/office/drawing/2014/main" id="{3F1B535B-6DBF-8D64-DDF6-B20CB4388C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184d99d1a72_0_2:notes">
            <a:extLst>
              <a:ext uri="{FF2B5EF4-FFF2-40B4-BE49-F238E27FC236}">
                <a16:creationId xmlns:a16="http://schemas.microsoft.com/office/drawing/2014/main" id="{7930D336-7BDE-FDA5-A1AE-37C9FD1164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11187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>
          <a:extLst>
            <a:ext uri="{FF2B5EF4-FFF2-40B4-BE49-F238E27FC236}">
              <a16:creationId xmlns:a16="http://schemas.microsoft.com/office/drawing/2014/main" id="{33070CF8-5ED5-5C80-DCB2-8D80B1E0F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184d99d1a72_0_57:notes">
            <a:extLst>
              <a:ext uri="{FF2B5EF4-FFF2-40B4-BE49-F238E27FC236}">
                <a16:creationId xmlns:a16="http://schemas.microsoft.com/office/drawing/2014/main" id="{FEC16B51-EDDF-E7F0-4E47-AF854A0CA0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184d99d1a72_0_57:notes">
            <a:extLst>
              <a:ext uri="{FF2B5EF4-FFF2-40B4-BE49-F238E27FC236}">
                <a16:creationId xmlns:a16="http://schemas.microsoft.com/office/drawing/2014/main" id="{ABB78C8D-B61C-2004-71AD-2039A61CCD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7018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>
          <a:extLst>
            <a:ext uri="{FF2B5EF4-FFF2-40B4-BE49-F238E27FC236}">
              <a16:creationId xmlns:a16="http://schemas.microsoft.com/office/drawing/2014/main" id="{1A085C66-6019-8EB1-23E4-B4FC2A49A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>
            <a:extLst>
              <a:ext uri="{FF2B5EF4-FFF2-40B4-BE49-F238E27FC236}">
                <a16:creationId xmlns:a16="http://schemas.microsoft.com/office/drawing/2014/main" id="{0EF20282-3E90-B41C-7018-5ACEAFA050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>
            <a:extLst>
              <a:ext uri="{FF2B5EF4-FFF2-40B4-BE49-F238E27FC236}">
                <a16:creationId xmlns:a16="http://schemas.microsoft.com/office/drawing/2014/main" id="{E07F6E1E-6B1B-04AD-87C6-B377D554C3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23884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52B1035C-9D65-1C2F-1CFA-C1956E3E8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184d99d1a72_0_2:notes">
            <a:extLst>
              <a:ext uri="{FF2B5EF4-FFF2-40B4-BE49-F238E27FC236}">
                <a16:creationId xmlns:a16="http://schemas.microsoft.com/office/drawing/2014/main" id="{07FE0CB5-61D3-C0CF-796C-5E649AC870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184d99d1a72_0_2:notes">
            <a:extLst>
              <a:ext uri="{FF2B5EF4-FFF2-40B4-BE49-F238E27FC236}">
                <a16:creationId xmlns:a16="http://schemas.microsoft.com/office/drawing/2014/main" id="{227AAD24-7AA5-9F1F-F3B0-CB5032834B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4261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>
          <a:extLst>
            <a:ext uri="{FF2B5EF4-FFF2-40B4-BE49-F238E27FC236}">
              <a16:creationId xmlns:a16="http://schemas.microsoft.com/office/drawing/2014/main" id="{DB11E5EF-1025-FE25-5C03-AC3DFEB7D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184d99d1a72_0_57:notes">
            <a:extLst>
              <a:ext uri="{FF2B5EF4-FFF2-40B4-BE49-F238E27FC236}">
                <a16:creationId xmlns:a16="http://schemas.microsoft.com/office/drawing/2014/main" id="{9A4BB9DA-CE95-A7F9-307B-89BFEE0917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184d99d1a72_0_57:notes">
            <a:extLst>
              <a:ext uri="{FF2B5EF4-FFF2-40B4-BE49-F238E27FC236}">
                <a16:creationId xmlns:a16="http://schemas.microsoft.com/office/drawing/2014/main" id="{ECBD8CF8-4899-AAC1-2403-87EF8810F5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09490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>
          <a:extLst>
            <a:ext uri="{FF2B5EF4-FFF2-40B4-BE49-F238E27FC236}">
              <a16:creationId xmlns:a16="http://schemas.microsoft.com/office/drawing/2014/main" id="{CC3901C3-975D-A1D4-E523-AC7E74566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>
            <a:extLst>
              <a:ext uri="{FF2B5EF4-FFF2-40B4-BE49-F238E27FC236}">
                <a16:creationId xmlns:a16="http://schemas.microsoft.com/office/drawing/2014/main" id="{9457E04E-35C2-AE97-1675-F0FDC93CF0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>
            <a:extLst>
              <a:ext uri="{FF2B5EF4-FFF2-40B4-BE49-F238E27FC236}">
                <a16:creationId xmlns:a16="http://schemas.microsoft.com/office/drawing/2014/main" id="{747236A4-9CAA-1E3D-9E07-BCF8F94460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11857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>
          <a:extLst>
            <a:ext uri="{FF2B5EF4-FFF2-40B4-BE49-F238E27FC236}">
              <a16:creationId xmlns:a16="http://schemas.microsoft.com/office/drawing/2014/main" id="{7AF7C67E-6FB4-0CD7-1296-78EEA41BE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d431007ba2_0_215:notes">
            <a:extLst>
              <a:ext uri="{FF2B5EF4-FFF2-40B4-BE49-F238E27FC236}">
                <a16:creationId xmlns:a16="http://schemas.microsoft.com/office/drawing/2014/main" id="{F1EC636D-C4EE-CC5F-4C86-07CB7DC1F9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d431007ba2_0_215:notes">
            <a:extLst>
              <a:ext uri="{FF2B5EF4-FFF2-40B4-BE49-F238E27FC236}">
                <a16:creationId xmlns:a16="http://schemas.microsoft.com/office/drawing/2014/main" id="{2BE08D79-A5A0-F4E4-F67F-F6446246E4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48993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userDrawn="1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oogle Shape;11;p2"/>
          <p:cNvGrpSpPr/>
          <p:nvPr/>
        </p:nvGrpSpPr>
        <p:grpSpPr>
          <a:xfrm>
            <a:off x="0" y="0"/>
            <a:ext cx="9144000" cy="120900"/>
            <a:chOff x="0" y="0"/>
            <a:chExt cx="9144000" cy="120900"/>
          </a:xfrm>
        </p:grpSpPr>
        <p:sp>
          <p:nvSpPr>
            <p:cNvPr id="12" name="Google Shape;12;p2"/>
            <p:cNvSpPr/>
            <p:nvPr/>
          </p:nvSpPr>
          <p:spPr>
            <a:xfrm flipH="1">
              <a:off x="3071700" y="0"/>
              <a:ext cx="60723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 flipH="1">
              <a:off x="0" y="0"/>
              <a:ext cx="30717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userDrawn="1">
  <p:cSld name="TITLE_AND_TWO_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oogle Shape;34;p5"/>
          <p:cNvGrpSpPr/>
          <p:nvPr/>
        </p:nvGrpSpPr>
        <p:grpSpPr>
          <a:xfrm>
            <a:off x="-12" y="-12"/>
            <a:ext cx="120913" cy="5147088"/>
            <a:chOff x="-12" y="-12"/>
            <a:chExt cx="120913" cy="5147088"/>
          </a:xfrm>
        </p:grpSpPr>
        <p:sp>
          <p:nvSpPr>
            <p:cNvPr id="35" name="Google Shape;35;p5"/>
            <p:cNvSpPr/>
            <p:nvPr/>
          </p:nvSpPr>
          <p:spPr>
            <a:xfrm rot="5400000" flipH="1">
              <a:off x="-2185650" y="2840525"/>
              <a:ext cx="44922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36" name="Google Shape;36;p5"/>
            <p:cNvSpPr/>
            <p:nvPr/>
          </p:nvSpPr>
          <p:spPr>
            <a:xfrm rot="5400000" flipH="1">
              <a:off x="-296112" y="296088"/>
              <a:ext cx="7131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userDrawn="1">
  <p:cSld name="ONE_COLUMN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oogle Shape;48;p7"/>
          <p:cNvGrpSpPr/>
          <p:nvPr/>
        </p:nvGrpSpPr>
        <p:grpSpPr>
          <a:xfrm>
            <a:off x="125" y="0"/>
            <a:ext cx="9143875" cy="120900"/>
            <a:chOff x="125" y="0"/>
            <a:chExt cx="9143875" cy="120900"/>
          </a:xfrm>
        </p:grpSpPr>
        <p:sp>
          <p:nvSpPr>
            <p:cNvPr id="49" name="Google Shape;49;p7"/>
            <p:cNvSpPr/>
            <p:nvPr/>
          </p:nvSpPr>
          <p:spPr>
            <a:xfrm flipH="1">
              <a:off x="654900" y="0"/>
              <a:ext cx="84891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50" name="Google Shape;50;p7"/>
            <p:cNvSpPr/>
            <p:nvPr/>
          </p:nvSpPr>
          <p:spPr>
            <a:xfrm flipH="1">
              <a:off x="125" y="0"/>
              <a:ext cx="7131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 userDrawn="1">
  <p:cSld name="MAIN_POIN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oogle Shape;53;p8"/>
          <p:cNvGrpSpPr/>
          <p:nvPr/>
        </p:nvGrpSpPr>
        <p:grpSpPr>
          <a:xfrm>
            <a:off x="125" y="0"/>
            <a:ext cx="9143875" cy="120900"/>
            <a:chOff x="125" y="0"/>
            <a:chExt cx="9143875" cy="120900"/>
          </a:xfrm>
        </p:grpSpPr>
        <p:sp>
          <p:nvSpPr>
            <p:cNvPr id="54" name="Google Shape;54;p8"/>
            <p:cNvSpPr/>
            <p:nvPr/>
          </p:nvSpPr>
          <p:spPr>
            <a:xfrm flipH="1">
              <a:off x="654900" y="0"/>
              <a:ext cx="84891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55" name="Google Shape;55;p8"/>
            <p:cNvSpPr/>
            <p:nvPr/>
          </p:nvSpPr>
          <p:spPr>
            <a:xfrm flipH="1">
              <a:off x="125" y="0"/>
              <a:ext cx="7131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</p:grpSp>
      <p:cxnSp>
        <p:nvCxnSpPr>
          <p:cNvPr id="57" name="Google Shape;57;p8"/>
          <p:cNvCxnSpPr/>
          <p:nvPr/>
        </p:nvCxnSpPr>
        <p:spPr>
          <a:xfrm>
            <a:off x="0" y="4604000"/>
            <a:ext cx="11430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 userDrawn="1">
  <p:cSld name="SECTION_TITLE_AND_DESCRIPTION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oogle Shape;61;p9"/>
          <p:cNvGrpSpPr/>
          <p:nvPr/>
        </p:nvGrpSpPr>
        <p:grpSpPr>
          <a:xfrm>
            <a:off x="0" y="0"/>
            <a:ext cx="9144000" cy="120900"/>
            <a:chOff x="0" y="0"/>
            <a:chExt cx="9144000" cy="120900"/>
          </a:xfrm>
        </p:grpSpPr>
        <p:sp>
          <p:nvSpPr>
            <p:cNvPr id="62" name="Google Shape;62;p9"/>
            <p:cNvSpPr/>
            <p:nvPr/>
          </p:nvSpPr>
          <p:spPr>
            <a:xfrm flipH="1">
              <a:off x="3071700" y="0"/>
              <a:ext cx="60723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63" name="Google Shape;63;p9"/>
            <p:cNvSpPr/>
            <p:nvPr/>
          </p:nvSpPr>
          <p:spPr>
            <a:xfrm flipH="1">
              <a:off x="0" y="0"/>
              <a:ext cx="30717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 userDrawn="1">
  <p:cSld name="CAPTION_ONLY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userDrawn="1">
  <p:cSld name="BLANK_1_1_1_1_1_1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oogle Shape;114;p17"/>
          <p:cNvGrpSpPr/>
          <p:nvPr/>
        </p:nvGrpSpPr>
        <p:grpSpPr>
          <a:xfrm>
            <a:off x="-12" y="-12"/>
            <a:ext cx="120913" cy="5147088"/>
            <a:chOff x="-12" y="-12"/>
            <a:chExt cx="120913" cy="5147088"/>
          </a:xfrm>
        </p:grpSpPr>
        <p:sp>
          <p:nvSpPr>
            <p:cNvPr id="115" name="Google Shape;115;p17"/>
            <p:cNvSpPr/>
            <p:nvPr/>
          </p:nvSpPr>
          <p:spPr>
            <a:xfrm rot="5400000" flipH="1">
              <a:off x="-2185650" y="2840525"/>
              <a:ext cx="44922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116" name="Google Shape;116;p17"/>
            <p:cNvSpPr/>
            <p:nvPr/>
          </p:nvSpPr>
          <p:spPr>
            <a:xfrm rot="5400000" flipH="1">
              <a:off x="-296112" y="296088"/>
              <a:ext cx="7131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 userDrawn="1">
  <p:cSld name="CUSTOM_6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oogle Shape;125;p18"/>
          <p:cNvGrpSpPr/>
          <p:nvPr/>
        </p:nvGrpSpPr>
        <p:grpSpPr>
          <a:xfrm>
            <a:off x="125" y="5022600"/>
            <a:ext cx="9143875" cy="120900"/>
            <a:chOff x="125" y="0"/>
            <a:chExt cx="9143875" cy="120900"/>
          </a:xfrm>
        </p:grpSpPr>
        <p:sp>
          <p:nvSpPr>
            <p:cNvPr id="126" name="Google Shape;126;p18"/>
            <p:cNvSpPr/>
            <p:nvPr/>
          </p:nvSpPr>
          <p:spPr>
            <a:xfrm flipH="1">
              <a:off x="654900" y="0"/>
              <a:ext cx="84891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127" name="Google Shape;127;p18"/>
            <p:cNvSpPr/>
            <p:nvPr/>
          </p:nvSpPr>
          <p:spPr>
            <a:xfrm flipH="1">
              <a:off x="125" y="0"/>
              <a:ext cx="7131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</p:grpSp>
      <p:cxnSp>
        <p:nvCxnSpPr>
          <p:cNvPr id="128" name="Google Shape;128;p18"/>
          <p:cNvCxnSpPr/>
          <p:nvPr/>
        </p:nvCxnSpPr>
        <p:spPr>
          <a:xfrm>
            <a:off x="637025" y="0"/>
            <a:ext cx="0" cy="12588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 userDrawn="1">
  <p:cSld name="CUSTOM_5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9" name="Google Shape;139;p19"/>
          <p:cNvGrpSpPr/>
          <p:nvPr/>
        </p:nvGrpSpPr>
        <p:grpSpPr>
          <a:xfrm>
            <a:off x="9023088" y="-12"/>
            <a:ext cx="120913" cy="5147088"/>
            <a:chOff x="-12" y="-12"/>
            <a:chExt cx="120913" cy="5147088"/>
          </a:xfrm>
        </p:grpSpPr>
        <p:sp>
          <p:nvSpPr>
            <p:cNvPr id="140" name="Google Shape;140;p19"/>
            <p:cNvSpPr/>
            <p:nvPr/>
          </p:nvSpPr>
          <p:spPr>
            <a:xfrm rot="5400000" flipH="1">
              <a:off x="-2185650" y="2840525"/>
              <a:ext cx="44922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141" name="Google Shape;141;p19"/>
            <p:cNvSpPr/>
            <p:nvPr/>
          </p:nvSpPr>
          <p:spPr>
            <a:xfrm rot="5400000" flipH="1">
              <a:off x="-296112" y="296088"/>
              <a:ext cx="7131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</p:grpSp>
      <p:cxnSp>
        <p:nvCxnSpPr>
          <p:cNvPr id="142" name="Google Shape;142;p19"/>
          <p:cNvCxnSpPr/>
          <p:nvPr/>
        </p:nvCxnSpPr>
        <p:spPr>
          <a:xfrm>
            <a:off x="0" y="4604000"/>
            <a:ext cx="11430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 userDrawn="1">
  <p:cSld name="CUSTOM_7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7" name="Google Shape;157;p20"/>
          <p:cNvGrpSpPr/>
          <p:nvPr/>
        </p:nvGrpSpPr>
        <p:grpSpPr>
          <a:xfrm>
            <a:off x="-12" y="-12"/>
            <a:ext cx="120913" cy="5147088"/>
            <a:chOff x="-12" y="-12"/>
            <a:chExt cx="120913" cy="5147088"/>
          </a:xfrm>
        </p:grpSpPr>
        <p:sp>
          <p:nvSpPr>
            <p:cNvPr id="158" name="Google Shape;158;p20"/>
            <p:cNvSpPr/>
            <p:nvPr/>
          </p:nvSpPr>
          <p:spPr>
            <a:xfrm rot="5400000" flipH="1">
              <a:off x="-2185650" y="2840525"/>
              <a:ext cx="44922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159" name="Google Shape;159;p20"/>
            <p:cNvSpPr/>
            <p:nvPr/>
          </p:nvSpPr>
          <p:spPr>
            <a:xfrm rot="5400000" flipH="1">
              <a:off x="-296112" y="296088"/>
              <a:ext cx="7131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9" name="Google Shape;179;p23"/>
          <p:cNvCxnSpPr/>
          <p:nvPr/>
        </p:nvCxnSpPr>
        <p:spPr>
          <a:xfrm>
            <a:off x="8430775" y="0"/>
            <a:ext cx="0" cy="13518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oval" w="med" len="med"/>
          </a:ln>
        </p:spPr>
      </p:cxnSp>
      <p:grpSp>
        <p:nvGrpSpPr>
          <p:cNvPr id="180" name="Google Shape;180;p23"/>
          <p:cNvGrpSpPr/>
          <p:nvPr/>
        </p:nvGrpSpPr>
        <p:grpSpPr>
          <a:xfrm>
            <a:off x="-12" y="-12"/>
            <a:ext cx="9143875" cy="5147088"/>
            <a:chOff x="-12" y="-12"/>
            <a:chExt cx="9143875" cy="5147088"/>
          </a:xfrm>
        </p:grpSpPr>
        <p:grpSp>
          <p:nvGrpSpPr>
            <p:cNvPr id="181" name="Google Shape;181;p23"/>
            <p:cNvGrpSpPr/>
            <p:nvPr/>
          </p:nvGrpSpPr>
          <p:grpSpPr>
            <a:xfrm>
              <a:off x="-12" y="-12"/>
              <a:ext cx="120913" cy="5147088"/>
              <a:chOff x="-12" y="-12"/>
              <a:chExt cx="120913" cy="5147088"/>
            </a:xfrm>
          </p:grpSpPr>
          <p:sp>
            <p:nvSpPr>
              <p:cNvPr id="182" name="Google Shape;182;p23"/>
              <p:cNvSpPr/>
              <p:nvPr/>
            </p:nvSpPr>
            <p:spPr>
              <a:xfrm rot="5400000" flipH="1">
                <a:off x="-2185650" y="2840525"/>
                <a:ext cx="4492200" cy="1209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Cairo"/>
                  <a:ea typeface="Cairo"/>
                  <a:cs typeface="Cairo"/>
                  <a:sym typeface="Cairo"/>
                </a:endParaRPr>
              </a:p>
            </p:txBody>
          </p:sp>
          <p:sp>
            <p:nvSpPr>
              <p:cNvPr id="183" name="Google Shape;183;p23"/>
              <p:cNvSpPr/>
              <p:nvPr/>
            </p:nvSpPr>
            <p:spPr>
              <a:xfrm rot="5400000" flipH="1">
                <a:off x="-296112" y="296088"/>
                <a:ext cx="713100" cy="1209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Cairo"/>
                  <a:ea typeface="Cairo"/>
                  <a:cs typeface="Cairo"/>
                  <a:sym typeface="Cairo"/>
                </a:endParaRPr>
              </a:p>
            </p:txBody>
          </p:sp>
        </p:grpSp>
        <p:grpSp>
          <p:nvGrpSpPr>
            <p:cNvPr id="184" name="Google Shape;184;p23"/>
            <p:cNvGrpSpPr/>
            <p:nvPr/>
          </p:nvGrpSpPr>
          <p:grpSpPr>
            <a:xfrm>
              <a:off x="75" y="5026163"/>
              <a:ext cx="9143788" cy="120913"/>
              <a:chOff x="75" y="5026163"/>
              <a:chExt cx="9143788" cy="120913"/>
            </a:xfrm>
          </p:grpSpPr>
          <p:sp>
            <p:nvSpPr>
              <p:cNvPr id="185" name="Google Shape;185;p23"/>
              <p:cNvSpPr/>
              <p:nvPr/>
            </p:nvSpPr>
            <p:spPr>
              <a:xfrm rot="10800000" flipH="1">
                <a:off x="75" y="5026175"/>
                <a:ext cx="8434800" cy="1209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Cairo"/>
                  <a:ea typeface="Cairo"/>
                  <a:cs typeface="Cairo"/>
                  <a:sym typeface="Cairo"/>
                </a:endParaRPr>
              </a:p>
            </p:txBody>
          </p:sp>
          <p:sp>
            <p:nvSpPr>
              <p:cNvPr id="186" name="Google Shape;186;p23"/>
              <p:cNvSpPr/>
              <p:nvPr/>
            </p:nvSpPr>
            <p:spPr>
              <a:xfrm rot="10800000" flipH="1">
                <a:off x="8430763" y="5026163"/>
                <a:ext cx="713100" cy="1209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Cairo"/>
                  <a:ea typeface="Cairo"/>
                  <a:cs typeface="Cairo"/>
                  <a:sym typeface="Cairo"/>
                </a:endParaRPr>
              </a:p>
            </p:txBody>
          </p:sp>
        </p:grpSp>
      </p:grpSp>
      <p:cxnSp>
        <p:nvCxnSpPr>
          <p:cNvPr id="187" name="Google Shape;187;p23"/>
          <p:cNvCxnSpPr/>
          <p:nvPr userDrawn="1"/>
        </p:nvCxnSpPr>
        <p:spPr>
          <a:xfrm rot="10800000">
            <a:off x="7938175" y="539500"/>
            <a:ext cx="12057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9" name="Google Shape;189;p24"/>
          <p:cNvCxnSpPr/>
          <p:nvPr/>
        </p:nvCxnSpPr>
        <p:spPr>
          <a:xfrm rot="10800000">
            <a:off x="8583175" y="3351000"/>
            <a:ext cx="0" cy="17925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90" name="Google Shape;190;p24"/>
          <p:cNvCxnSpPr/>
          <p:nvPr/>
        </p:nvCxnSpPr>
        <p:spPr>
          <a:xfrm>
            <a:off x="0" y="4756400"/>
            <a:ext cx="38790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oval" w="med" len="med"/>
          </a:ln>
        </p:spPr>
      </p:cxnSp>
      <p:grpSp>
        <p:nvGrpSpPr>
          <p:cNvPr id="191" name="Google Shape;191;p24"/>
          <p:cNvGrpSpPr/>
          <p:nvPr/>
        </p:nvGrpSpPr>
        <p:grpSpPr>
          <a:xfrm flipH="1">
            <a:off x="0" y="0"/>
            <a:ext cx="9144000" cy="120900"/>
            <a:chOff x="0" y="0"/>
            <a:chExt cx="9144000" cy="120900"/>
          </a:xfrm>
        </p:grpSpPr>
        <p:sp>
          <p:nvSpPr>
            <p:cNvPr id="192" name="Google Shape;192;p24"/>
            <p:cNvSpPr/>
            <p:nvPr/>
          </p:nvSpPr>
          <p:spPr>
            <a:xfrm flipH="1">
              <a:off x="3071700" y="0"/>
              <a:ext cx="60723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193" name="Google Shape;193;p24"/>
            <p:cNvSpPr/>
            <p:nvPr/>
          </p:nvSpPr>
          <p:spPr>
            <a:xfrm flipH="1">
              <a:off x="0" y="0"/>
              <a:ext cx="30717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3" r:id="rId3"/>
    <p:sldLayoutId id="2147483654" r:id="rId4"/>
    <p:sldLayoutId id="2147483655" r:id="rId5"/>
    <p:sldLayoutId id="2147483656" r:id="rId6"/>
    <p:sldLayoutId id="2147483658" r:id="rId7"/>
    <p:sldLayoutId id="2147483663" r:id="rId8"/>
    <p:sldLayoutId id="2147483664" r:id="rId9"/>
    <p:sldLayoutId id="2147483665" r:id="rId10"/>
    <p:sldLayoutId id="2147483666" r:id="rId11"/>
    <p:sldLayoutId id="2147483669" r:id="rId12"/>
    <p:sldLayoutId id="2147483670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7" name="Google Shape;207;p28"/>
          <p:cNvCxnSpPr/>
          <p:nvPr/>
        </p:nvCxnSpPr>
        <p:spPr>
          <a:xfrm>
            <a:off x="-11900" y="3341300"/>
            <a:ext cx="22797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0" name="제목 1">
            <a:extLst>
              <a:ext uri="{FF2B5EF4-FFF2-40B4-BE49-F238E27FC236}">
                <a16:creationId xmlns:a16="http://schemas.microsoft.com/office/drawing/2014/main" id="{D4E43EB7-0AB9-7D6E-27A1-0AF217C9A861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1201051" y="1736704"/>
            <a:ext cx="6403145" cy="885816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altLang="ko-KR" sz="4000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1</a:t>
            </a:r>
            <a:r>
              <a:rPr lang="ko-KR" altLang="en-US" sz="4000" dirty="0">
                <a:ea typeface="Black Han Sans" pitchFamily="2" charset="-127"/>
              </a:rPr>
              <a:t>차 프로젝트 결과 보고서</a:t>
            </a:r>
          </a:p>
        </p:txBody>
      </p:sp>
      <p:sp>
        <p:nvSpPr>
          <p:cNvPr id="11" name="부제목 2">
            <a:extLst>
              <a:ext uri="{FF2B5EF4-FFF2-40B4-BE49-F238E27FC236}">
                <a16:creationId xmlns:a16="http://schemas.microsoft.com/office/drawing/2014/main" id="{59E771A4-17FA-40A7-3615-0CB4962F381D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2025579" y="2337134"/>
            <a:ext cx="4888701" cy="469231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 algn="l"/>
            <a:r>
              <a:rPr lang="ko-KR" altLang="en-US" sz="2600" dirty="0">
                <a:ea typeface="Black Han Sans" pitchFamily="2" charset="-127"/>
              </a:rPr>
              <a:t>주제 </a:t>
            </a:r>
            <a:r>
              <a:rPr lang="en-US" altLang="ko-KR" sz="2600" dirty="0">
                <a:ea typeface="Black Han Sans" pitchFamily="2" charset="-127"/>
              </a:rPr>
              <a:t>: </a:t>
            </a:r>
            <a:r>
              <a:rPr lang="ko-KR" altLang="en-US" sz="2600" dirty="0">
                <a:ea typeface="Black Han Sans" pitchFamily="2" charset="-127"/>
              </a:rPr>
              <a:t>주차관리 시스템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282E7A-E790-2246-89C5-AEC47C1194FB}"/>
              </a:ext>
            </a:extLst>
          </p:cNvPr>
          <p:cNvSpPr txBox="1"/>
          <p:nvPr/>
        </p:nvSpPr>
        <p:spPr>
          <a:xfrm>
            <a:off x="0" y="3389705"/>
            <a:ext cx="31411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개발 기간 </a:t>
            </a:r>
            <a:r>
              <a:rPr lang="en-US" altLang="ko-KR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: 2025.07.07~2025.08.05</a:t>
            </a:r>
            <a:endParaRPr lang="ko-KR" altLang="en-US" dirty="0">
              <a:latin typeface="Adobe 고딕 Std B" panose="020B0800000000000000" pitchFamily="34" charset="-127"/>
              <a:ea typeface="Adobe 고딕 Std B" panose="020B0800000000000000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35949A-BF00-771F-2A63-9881EB5B6517}"/>
              </a:ext>
            </a:extLst>
          </p:cNvPr>
          <p:cNvSpPr txBox="1"/>
          <p:nvPr/>
        </p:nvSpPr>
        <p:spPr>
          <a:xfrm>
            <a:off x="-146372" y="3687358"/>
            <a:ext cx="375541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팀원 </a:t>
            </a:r>
            <a:r>
              <a:rPr lang="en-US" altLang="ko-KR" sz="1300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: </a:t>
            </a:r>
            <a:r>
              <a:rPr lang="ko-KR" altLang="en-US" sz="1300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안성호</a:t>
            </a:r>
            <a:r>
              <a:rPr lang="en-US" altLang="ko-KR" sz="1300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,</a:t>
            </a:r>
            <a:r>
              <a:rPr lang="ko-KR" altLang="en-US" sz="1300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 </a:t>
            </a:r>
            <a:r>
              <a:rPr lang="ko-KR" altLang="en-US" sz="1300" dirty="0" err="1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이강호</a:t>
            </a:r>
            <a:r>
              <a:rPr lang="en-US" altLang="ko-KR" sz="1300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,</a:t>
            </a:r>
            <a:r>
              <a:rPr lang="ko-KR" altLang="en-US" sz="1300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 </a:t>
            </a:r>
            <a:r>
              <a:rPr lang="ko-KR" altLang="en-US" sz="1300" dirty="0" err="1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정현성</a:t>
            </a:r>
            <a:r>
              <a:rPr lang="en-US" altLang="ko-KR" sz="1300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,</a:t>
            </a:r>
            <a:r>
              <a:rPr lang="ko-KR" altLang="en-US" sz="1300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 조현진</a:t>
            </a:r>
            <a:r>
              <a:rPr lang="en-US" altLang="ko-KR" sz="1300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,</a:t>
            </a:r>
            <a:r>
              <a:rPr lang="ko-KR" altLang="en-US" sz="1300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 </a:t>
            </a:r>
            <a:r>
              <a:rPr lang="ko-KR" altLang="en-US" sz="1300" dirty="0" err="1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최원경</a:t>
            </a:r>
            <a:endParaRPr lang="ko-KR" altLang="en-US" sz="1300" dirty="0">
              <a:latin typeface="Adobe 고딕 Std B" panose="020B0800000000000000" pitchFamily="34" charset="-127"/>
              <a:ea typeface="Adobe 고딕 Std B" panose="020B0800000000000000" pitchFamily="34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9"/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600" dirty="0">
                <a:ea typeface="Black Han Sans" pitchFamily="2" charset="-127"/>
              </a:rPr>
              <a:t>목차</a:t>
            </a:r>
            <a:endParaRPr sz="3600" dirty="0">
              <a:ea typeface="Black Han Sans" pitchFamily="2" charset="-127"/>
            </a:endParaRPr>
          </a:p>
        </p:txBody>
      </p:sp>
      <p:sp>
        <p:nvSpPr>
          <p:cNvPr id="214" name="Google Shape;214;p29"/>
          <p:cNvSpPr txBox="1">
            <a:spLocks noGrp="1"/>
          </p:cNvSpPr>
          <p:nvPr>
            <p:ph type="title" idx="4294967295"/>
          </p:nvPr>
        </p:nvSpPr>
        <p:spPr>
          <a:xfrm>
            <a:off x="2234953" y="1425411"/>
            <a:ext cx="780600" cy="622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ea typeface="Black Han Sans" pitchFamily="2" charset="-127"/>
              </a:rPr>
              <a:t>01</a:t>
            </a:r>
            <a:endParaRPr sz="2400" dirty="0">
              <a:ea typeface="Black Han Sans" pitchFamily="2" charset="-127"/>
            </a:endParaRPr>
          </a:p>
        </p:txBody>
      </p:sp>
      <p:sp>
        <p:nvSpPr>
          <p:cNvPr id="215" name="Google Shape;215;p29"/>
          <p:cNvSpPr txBox="1">
            <a:spLocks noGrp="1"/>
          </p:cNvSpPr>
          <p:nvPr>
            <p:ph type="title" idx="4294967295"/>
          </p:nvPr>
        </p:nvSpPr>
        <p:spPr>
          <a:xfrm>
            <a:off x="5297330" y="1425411"/>
            <a:ext cx="780600" cy="622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ea typeface="Black Han Sans" pitchFamily="2" charset="-127"/>
              </a:rPr>
              <a:t>03</a:t>
            </a:r>
            <a:endParaRPr sz="2400" dirty="0">
              <a:ea typeface="Black Han Sans" pitchFamily="2" charset="-127"/>
            </a:endParaRPr>
          </a:p>
        </p:txBody>
      </p:sp>
      <p:sp>
        <p:nvSpPr>
          <p:cNvPr id="216" name="Google Shape;216;p29"/>
          <p:cNvSpPr txBox="1">
            <a:spLocks noGrp="1"/>
          </p:cNvSpPr>
          <p:nvPr>
            <p:ph type="title" idx="4294967295"/>
          </p:nvPr>
        </p:nvSpPr>
        <p:spPr>
          <a:xfrm>
            <a:off x="3459544" y="2961192"/>
            <a:ext cx="780600" cy="622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ea typeface="Black Han Sans" pitchFamily="2" charset="-127"/>
              </a:rPr>
              <a:t>02</a:t>
            </a:r>
            <a:endParaRPr sz="2400" dirty="0">
              <a:ea typeface="Black Han Sans" pitchFamily="2" charset="-127"/>
            </a:endParaRPr>
          </a:p>
        </p:txBody>
      </p:sp>
      <p:sp>
        <p:nvSpPr>
          <p:cNvPr id="217" name="Google Shape;217;p29"/>
          <p:cNvSpPr txBox="1">
            <a:spLocks noGrp="1"/>
          </p:cNvSpPr>
          <p:nvPr>
            <p:ph type="title" idx="4294967295"/>
          </p:nvPr>
        </p:nvSpPr>
        <p:spPr>
          <a:xfrm>
            <a:off x="6521939" y="2961196"/>
            <a:ext cx="780600" cy="622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ea typeface="Black Han Sans" pitchFamily="2" charset="-127"/>
              </a:rPr>
              <a:t>04</a:t>
            </a:r>
            <a:endParaRPr sz="2400" dirty="0">
              <a:ea typeface="Black Han Sans" pitchFamily="2" charset="-127"/>
            </a:endParaRPr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4294967295"/>
          </p:nvPr>
        </p:nvSpPr>
        <p:spPr>
          <a:xfrm>
            <a:off x="1400644" y="2200011"/>
            <a:ext cx="2449200" cy="4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800" b="0" dirty="0">
                <a:ea typeface="Black Han Sans" pitchFamily="2" charset="-127"/>
                <a:sym typeface="DM Sans SemiBold"/>
              </a:rPr>
              <a:t>프로젝트 기획</a:t>
            </a:r>
            <a:endParaRPr sz="1800" b="0" dirty="0">
              <a:ea typeface="Black Han Sans" pitchFamily="2" charset="-127"/>
              <a:sym typeface="DM Sans SemiBold"/>
            </a:endParaRPr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4294967295"/>
          </p:nvPr>
        </p:nvSpPr>
        <p:spPr>
          <a:xfrm>
            <a:off x="2625235" y="3735792"/>
            <a:ext cx="2449200" cy="4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800" b="0" dirty="0">
                <a:ea typeface="Black Han Sans" pitchFamily="2" charset="-127"/>
                <a:sym typeface="DM Sans SemiBold"/>
              </a:rPr>
              <a:t>시스템 설계 및 개발 환경</a:t>
            </a:r>
            <a:endParaRPr sz="1800" b="0" dirty="0">
              <a:ea typeface="Black Han Sans" pitchFamily="2" charset="-127"/>
              <a:sym typeface="DM Sans SemiBold"/>
            </a:endParaRPr>
          </a:p>
        </p:txBody>
      </p:sp>
      <p:sp>
        <p:nvSpPr>
          <p:cNvPr id="223" name="Google Shape;223;p29"/>
          <p:cNvSpPr txBox="1">
            <a:spLocks noGrp="1"/>
          </p:cNvSpPr>
          <p:nvPr>
            <p:ph type="subTitle" idx="4294967295"/>
          </p:nvPr>
        </p:nvSpPr>
        <p:spPr>
          <a:xfrm>
            <a:off x="4463021" y="2200007"/>
            <a:ext cx="2449200" cy="4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800" dirty="0">
                <a:ea typeface="Black Han Sans" pitchFamily="2" charset="-127"/>
              </a:rPr>
              <a:t>프로젝트 구현 및 시연</a:t>
            </a:r>
            <a:endParaRPr sz="1800" b="0" dirty="0">
              <a:ea typeface="Black Han Sans" pitchFamily="2" charset="-127"/>
              <a:sym typeface="DM Sans SemiBold"/>
            </a:endParaRPr>
          </a:p>
        </p:txBody>
      </p:sp>
      <p:sp>
        <p:nvSpPr>
          <p:cNvPr id="224" name="Google Shape;224;p29"/>
          <p:cNvSpPr txBox="1">
            <a:spLocks noGrp="1"/>
          </p:cNvSpPr>
          <p:nvPr>
            <p:ph type="subTitle" idx="4294967295"/>
          </p:nvPr>
        </p:nvSpPr>
        <p:spPr>
          <a:xfrm>
            <a:off x="5687630" y="3735792"/>
            <a:ext cx="2449200" cy="4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800" b="0" dirty="0">
                <a:ea typeface="Black Han Sans" pitchFamily="2" charset="-127"/>
                <a:sym typeface="DM Sans SemiBold"/>
              </a:rPr>
              <a:t>프로젝트를 마치며</a:t>
            </a:r>
            <a:endParaRPr sz="1800" b="0" dirty="0">
              <a:ea typeface="Black Han Sans" pitchFamily="2" charset="-127"/>
              <a:sym typeface="DM Sans SemiBold"/>
            </a:endParaRPr>
          </a:p>
        </p:txBody>
      </p:sp>
      <p:cxnSp>
        <p:nvCxnSpPr>
          <p:cNvPr id="226" name="Google Shape;226;p29"/>
          <p:cNvCxnSpPr/>
          <p:nvPr/>
        </p:nvCxnSpPr>
        <p:spPr>
          <a:xfrm>
            <a:off x="2195644" y="2123811"/>
            <a:ext cx="8592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227" name="Google Shape;227;p29"/>
          <p:cNvCxnSpPr/>
          <p:nvPr/>
        </p:nvCxnSpPr>
        <p:spPr>
          <a:xfrm>
            <a:off x="3420245" y="3659592"/>
            <a:ext cx="8592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229" name="Google Shape;229;p29"/>
          <p:cNvCxnSpPr/>
          <p:nvPr/>
        </p:nvCxnSpPr>
        <p:spPr>
          <a:xfrm>
            <a:off x="5258021" y="2123807"/>
            <a:ext cx="8592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230" name="Google Shape;230;p29"/>
          <p:cNvCxnSpPr/>
          <p:nvPr/>
        </p:nvCxnSpPr>
        <p:spPr>
          <a:xfrm>
            <a:off x="6482640" y="3659592"/>
            <a:ext cx="8592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oval" w="med" len="med"/>
            <a:tailEnd type="oval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2"/>
          <p:cNvSpPr txBox="1">
            <a:spLocks noGrp="1"/>
          </p:cNvSpPr>
          <p:nvPr>
            <p:ph type="title" idx="4294967295"/>
          </p:nvPr>
        </p:nvSpPr>
        <p:spPr>
          <a:xfrm>
            <a:off x="713225" y="1075725"/>
            <a:ext cx="4411800" cy="63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>
                <a:ea typeface="Black Han Sans" pitchFamily="2" charset="-127"/>
              </a:rPr>
              <a:t>프로젝트 개요</a:t>
            </a:r>
            <a:endParaRPr sz="2800" dirty="0">
              <a:ea typeface="Black Han Sans" pitchFamily="2" charset="-127"/>
            </a:endParaRPr>
          </a:p>
        </p:txBody>
      </p:sp>
      <p:sp>
        <p:nvSpPr>
          <p:cNvPr id="258" name="Google Shape;258;p32"/>
          <p:cNvSpPr txBox="1">
            <a:spLocks noGrp="1"/>
          </p:cNvSpPr>
          <p:nvPr>
            <p:ph type="subTitle" idx="4294967295"/>
          </p:nvPr>
        </p:nvSpPr>
        <p:spPr>
          <a:xfrm>
            <a:off x="713225" y="1854650"/>
            <a:ext cx="7557626" cy="221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ko-KR" altLang="en-US" sz="2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 관리 시스템 </a:t>
            </a:r>
            <a:r>
              <a:rPr lang="en-US" altLang="ko-KR" sz="2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(Parking Management System)</a:t>
            </a:r>
          </a:p>
          <a:p>
            <a:pPr marL="152400" indent="0">
              <a:buNone/>
            </a:pPr>
            <a:endParaRPr lang="en-US" altLang="ko-KR" sz="24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152400" indent="0">
              <a:buNone/>
            </a:pPr>
            <a:r>
              <a:rPr lang="ko-KR" altLang="en-US" sz="2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웹 기반의 주차 관리 시스템으로</a:t>
            </a:r>
            <a:r>
              <a:rPr lang="en-US" altLang="ko-KR" sz="2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2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차량의 입</a:t>
            </a:r>
            <a:r>
              <a:rPr lang="en-US" altLang="ko-KR" sz="2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2400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출차</a:t>
            </a:r>
            <a:r>
              <a:rPr lang="ko-KR" altLang="en-US" sz="2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및 </a:t>
            </a:r>
            <a:endParaRPr lang="en-US" altLang="ko-KR" sz="24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152400" indent="0">
              <a:buNone/>
            </a:pPr>
            <a:r>
              <a:rPr lang="ko-KR" altLang="en-US" sz="2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 공간 현황</a:t>
            </a:r>
            <a:r>
              <a:rPr lang="en-US" altLang="ko-KR" sz="2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2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요금 정산</a:t>
            </a:r>
            <a:r>
              <a:rPr lang="en-US" altLang="ko-KR" sz="2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2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기록 관리를 </a:t>
            </a:r>
            <a:endParaRPr lang="en-US" altLang="ko-KR" sz="24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152400" indent="0">
              <a:buNone/>
            </a:pPr>
            <a:r>
              <a:rPr lang="ko-KR" altLang="en-US" sz="2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효율적으로 처리할 수 있는 관리자 중심의 시스템</a:t>
            </a:r>
          </a:p>
        </p:txBody>
      </p:sp>
      <p:pic>
        <p:nvPicPr>
          <p:cNvPr id="260" name="Google Shape;260;p32"/>
          <p:cNvPicPr preferRelativeResize="0"/>
          <p:nvPr/>
        </p:nvPicPr>
        <p:blipFill rotWithShape="1">
          <a:blip r:embed="rId3">
            <a:alphaModFix/>
          </a:blip>
          <a:srcRect l="32727" b="56097"/>
          <a:stretch/>
        </p:blipFill>
        <p:spPr>
          <a:xfrm>
            <a:off x="0" y="3664200"/>
            <a:ext cx="2778051" cy="147929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1" name="Google Shape;261;p32"/>
          <p:cNvCxnSpPr/>
          <p:nvPr/>
        </p:nvCxnSpPr>
        <p:spPr>
          <a:xfrm>
            <a:off x="0" y="1785475"/>
            <a:ext cx="22953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/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>
                <a:ea typeface="Black Han Sans" pitchFamily="2" charset="-127"/>
              </a:rPr>
              <a:t>개발 목적</a:t>
            </a:r>
            <a:endParaRPr sz="2800" dirty="0">
              <a:ea typeface="Black Han Sans" pitchFamily="2" charset="-127"/>
            </a:endParaRPr>
          </a:p>
        </p:txBody>
      </p:sp>
      <p:sp>
        <p:nvSpPr>
          <p:cNvPr id="269" name="Google Shape;269;p33"/>
          <p:cNvSpPr txBox="1">
            <a:spLocks noGrp="1"/>
          </p:cNvSpPr>
          <p:nvPr>
            <p:ph type="subTitle" idx="4294967295"/>
          </p:nvPr>
        </p:nvSpPr>
        <p:spPr>
          <a:xfrm>
            <a:off x="720000" y="1654613"/>
            <a:ext cx="5909321" cy="20542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실시간 입</a:t>
            </a: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</a:t>
            </a:r>
            <a:r>
              <a:rPr lang="ko-KR" altLang="ko-KR" sz="1600" dirty="0" err="1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출차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및 주차 공간 정보 관리</a:t>
            </a:r>
            <a:endParaRPr lang="en-US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ko-KR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요금 설정 및 총 수익 통계 확인</a:t>
            </a:r>
            <a:endParaRPr lang="en-US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ko-KR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회원 등록</a:t>
            </a: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수</a:t>
            </a:r>
            <a:r>
              <a:rPr lang="ko-KR" altLang="en-US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정</a:t>
            </a: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삭제 기능 제공</a:t>
            </a:r>
            <a:endParaRPr lang="en-US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ko-KR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관리자 기능 통합으로 운영 효율성 향상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4"/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>
                <a:ea typeface="Black Han Sans" pitchFamily="2" charset="-127"/>
              </a:rPr>
              <a:t>주요 기능</a:t>
            </a:r>
            <a:endParaRPr sz="2800" dirty="0">
              <a:ea typeface="Black Han Sans" pitchFamily="2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CFB2B2-47B8-38BA-1381-2C9757CB43C8}"/>
              </a:ext>
            </a:extLst>
          </p:cNvPr>
          <p:cNvSpPr txBox="1"/>
          <p:nvPr/>
        </p:nvSpPr>
        <p:spPr>
          <a:xfrm>
            <a:off x="720000" y="1340643"/>
            <a:ext cx="457200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ko-KR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차량 입차 시 정보 및 입차 시간 등록</a:t>
            </a:r>
            <a:endParaRPr lang="en-US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ko-KR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1600" dirty="0" err="1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출차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시 </a:t>
            </a:r>
            <a:r>
              <a:rPr lang="ko-KR" altLang="ko-KR" sz="1600" dirty="0" err="1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출차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시간 기록 및 요금 계산</a:t>
            </a:r>
            <a:endParaRPr lang="en-US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ko-KR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 공간 현황 조회</a:t>
            </a:r>
            <a:endParaRPr lang="en-US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ko-KR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관리자 로그인 및 요금 정책 수정</a:t>
            </a:r>
            <a:endParaRPr lang="en-US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ko-KR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회원 등록, 수정, 삭제</a:t>
            </a:r>
            <a:endParaRPr lang="en-US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ko-KR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 기록 검색 및 수익 통계 확인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>
                <a:ea typeface="Black Han Sans" pitchFamily="2" charset="-127"/>
              </a:rPr>
              <a:t>개발 환경 및 기술 스택</a:t>
            </a:r>
            <a:endParaRPr sz="2800" dirty="0">
              <a:ea typeface="Black Han Sans" pitchFamily="2" charset="-127"/>
            </a:endParaRP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00B17829-04ED-F4CB-708E-02DB7F81FB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9034154"/>
              </p:ext>
            </p:extLst>
          </p:nvPr>
        </p:nvGraphicFramePr>
        <p:xfrm>
          <a:off x="720000" y="1216990"/>
          <a:ext cx="7056886" cy="3481485"/>
        </p:xfrm>
        <a:graphic>
          <a:graphicData uri="http://schemas.openxmlformats.org/drawingml/2006/table">
            <a:tbl>
              <a:tblPr firstRow="1" bandRow="1"/>
              <a:tblGrid>
                <a:gridCol w="1845494">
                  <a:extLst>
                    <a:ext uri="{9D8B030D-6E8A-4147-A177-3AD203B41FA5}">
                      <a16:colId xmlns:a16="http://schemas.microsoft.com/office/drawing/2014/main" val="612240547"/>
                    </a:ext>
                  </a:extLst>
                </a:gridCol>
                <a:gridCol w="5211392">
                  <a:extLst>
                    <a:ext uri="{9D8B030D-6E8A-4147-A177-3AD203B41FA5}">
                      <a16:colId xmlns:a16="http://schemas.microsoft.com/office/drawing/2014/main" val="3026428147"/>
                    </a:ext>
                  </a:extLst>
                </a:gridCol>
              </a:tblGrid>
              <a:tr h="5000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프로그래밍 언어 및 플랫폼</a:t>
                      </a:r>
                    </a:p>
                  </a:txBody>
                  <a:tcPr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Java 17</a:t>
                      </a:r>
                      <a:endParaRPr lang="ko-KR" altLang="en-US" sz="11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  <a:p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Spring Boot 3.5.3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(Spring Framework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기반 웹 애플리케이션 개발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7281496"/>
                  </a:ext>
                </a:extLst>
              </a:tr>
              <a:tr h="93765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웹 관련 기술</a:t>
                      </a:r>
                    </a:p>
                  </a:txBody>
                  <a:tcPr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Spring MVC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(Controller, JSP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연동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  <a:p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JSP (Java Server Pages)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—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뷰 템플릿</a:t>
                      </a:r>
                    </a:p>
                    <a:p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JSTL (Jakarta Standard Tag Library)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— JSP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에서의 태그 라이브러리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표현 및 반복 처리 등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  <a:p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HTML/CSS/JavaScript (jQuery)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— </a:t>
                      </a:r>
                      <a:r>
                        <a:rPr lang="ko-KR" altLang="en-US" sz="11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프론트엔드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UI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구현 및 동적 기능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2631872"/>
                  </a:ext>
                </a:extLst>
              </a:tr>
              <a:tr h="3446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서버 및 배포</a:t>
                      </a:r>
                    </a:p>
                  </a:txBody>
                  <a:tcPr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Spring Boot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의 내장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Tomcat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서버를 이용한 실행 구조</a:t>
                      </a:r>
                      <a:endParaRPr lang="en-US" altLang="ko-KR" sz="11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9751578"/>
                  </a:ext>
                </a:extLst>
              </a:tr>
              <a:tr h="5000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데이터베이스</a:t>
                      </a:r>
                    </a:p>
                  </a:txBody>
                  <a:tcPr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Oracle Database XE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로컬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Oracle DB, SID: </a:t>
                      </a:r>
                      <a:r>
                        <a:rPr lang="en-US" altLang="ko-KR" sz="11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xe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  <a:p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Oracle JDBC Driver (ojdbc11)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— DB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연동 드라이버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9401227"/>
                  </a:ext>
                </a:extLst>
              </a:tr>
              <a:tr h="5000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SQL </a:t>
                      </a:r>
                      <a:r>
                        <a:rPr lang="ko-KR" altLang="en-US" sz="12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매핑</a:t>
                      </a:r>
                    </a:p>
                  </a:txBody>
                  <a:tcPr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b="1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MyBatis</a:t>
                      </a:r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3.x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en-US" altLang="ko-KR" sz="11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MyBatis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-Spring-Boot-Starter 3.0.3)</a:t>
                      </a:r>
                    </a:p>
                    <a:p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XML Mapper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파일로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SQL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쿼리 작성 및 매핑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821896"/>
                  </a:ext>
                </a:extLst>
              </a:tr>
              <a:tr h="3446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빌드 도구</a:t>
                      </a:r>
                    </a:p>
                  </a:txBody>
                  <a:tcPr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Gradle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en-US" altLang="ko-KR" sz="11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build.gradle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사용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6443256"/>
                  </a:ext>
                </a:extLst>
              </a:tr>
              <a:tr h="3542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기타 라이브러리 및 툴</a:t>
                      </a:r>
                    </a:p>
                  </a:txBody>
                  <a:tcPr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Lombok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(getter/setter,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생성자 자동 생성 등 코드 단축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63045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6"/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>
                <a:ea typeface="Black Han Sans" pitchFamily="2" charset="-127"/>
              </a:rPr>
              <a:t>기대 효과</a:t>
            </a:r>
            <a:endParaRPr sz="2800" dirty="0">
              <a:ea typeface="Black Han Sans" pitchFamily="2" charset="-127"/>
            </a:endParaRPr>
          </a:p>
        </p:txBody>
      </p:sp>
      <p:sp>
        <p:nvSpPr>
          <p:cNvPr id="27" name="Google Shape;269;p33">
            <a:extLst>
              <a:ext uri="{FF2B5EF4-FFF2-40B4-BE49-F238E27FC236}">
                <a16:creationId xmlns:a16="http://schemas.microsoft.com/office/drawing/2014/main" id="{5F8E9E0C-94CE-B19E-E9C6-BA878108F52C}"/>
              </a:ext>
            </a:extLst>
          </p:cNvPr>
          <p:cNvSpPr txBox="1">
            <a:spLocks/>
          </p:cNvSpPr>
          <p:nvPr/>
        </p:nvSpPr>
        <p:spPr>
          <a:xfrm>
            <a:off x="720000" y="1654613"/>
            <a:ext cx="5909321" cy="205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 공간 활용률 극대화</a:t>
            </a:r>
            <a:endParaRPr lang="en-US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ko-KR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실시간 주차 현황 파악으로 빠른 대응</a:t>
            </a:r>
            <a:endParaRPr lang="en-US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ko-KR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요금 통계 제공으로 운영 투명성 확보</a:t>
            </a:r>
            <a:endParaRPr lang="en-US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ko-KR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관리자 업무 자동화로 효율성 향상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>
          <a:extLst>
            <a:ext uri="{FF2B5EF4-FFF2-40B4-BE49-F238E27FC236}">
              <a16:creationId xmlns:a16="http://schemas.microsoft.com/office/drawing/2014/main" id="{C6F94AA0-8548-E093-5C24-1310B6066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>
            <a:extLst>
              <a:ext uri="{FF2B5EF4-FFF2-40B4-BE49-F238E27FC236}">
                <a16:creationId xmlns:a16="http://schemas.microsoft.com/office/drawing/2014/main" id="{25CF5999-EA3A-5481-2004-F6F8A43127A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>
                <a:ea typeface="Black Han Sans" pitchFamily="2" charset="-127"/>
              </a:rPr>
              <a:t>역할 분담</a:t>
            </a:r>
            <a:endParaRPr sz="2800" dirty="0">
              <a:ea typeface="Black Han Sans" pitchFamily="2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1BC0748-5E40-F5DF-E8E6-8E5F876916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8435706"/>
              </p:ext>
            </p:extLst>
          </p:nvPr>
        </p:nvGraphicFramePr>
        <p:xfrm>
          <a:off x="1043557" y="1111887"/>
          <a:ext cx="7056886" cy="3600000"/>
        </p:xfrm>
        <a:graphic>
          <a:graphicData uri="http://schemas.openxmlformats.org/drawingml/2006/table">
            <a:tbl>
              <a:tblPr firstRow="1" bandRow="1"/>
              <a:tblGrid>
                <a:gridCol w="1845494">
                  <a:extLst>
                    <a:ext uri="{9D8B030D-6E8A-4147-A177-3AD203B41FA5}">
                      <a16:colId xmlns:a16="http://schemas.microsoft.com/office/drawing/2014/main" val="2196451718"/>
                    </a:ext>
                  </a:extLst>
                </a:gridCol>
                <a:gridCol w="5211392">
                  <a:extLst>
                    <a:ext uri="{9D8B030D-6E8A-4147-A177-3AD203B41FA5}">
                      <a16:colId xmlns:a16="http://schemas.microsoft.com/office/drawing/2014/main" val="2283862287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안성호</a:t>
                      </a:r>
                    </a:p>
                  </a:txBody>
                  <a:tcPr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출차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기능 구현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요금제 관리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관리자 관련 페이지 세션 처리</a:t>
                      </a:r>
                      <a:endParaRPr lang="en-US" altLang="ko-KR" sz="11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243355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이강호</a:t>
                      </a:r>
                      <a:endParaRPr lang="ko-KR" altLang="en-US" sz="12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주차 기록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회원 관리 기능 구현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3886826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정현성</a:t>
                      </a:r>
                      <a:endParaRPr lang="ko-KR" altLang="en-US" sz="12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전체적인 </a:t>
                      </a:r>
                      <a:r>
                        <a:rPr lang="ko-KR" altLang="en-US" sz="11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프론트엔드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  <a:r>
                        <a:rPr lang="en-US" altLang="ko-KR" sz="11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css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담당</a:t>
                      </a:r>
                      <a:endParaRPr lang="en-US" altLang="ko-KR" sz="11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82209807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조현진</a:t>
                      </a:r>
                    </a:p>
                  </a:txBody>
                  <a:tcPr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입차 기능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차량 조회 기능 구현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</a:p>
                    <a:p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테이블 생성 및 전체적인 로직 검수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28657402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최원경</a:t>
                      </a:r>
                      <a:endParaRPr lang="ko-KR" altLang="en-US" sz="12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메인 페이지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로그인 페이지 구현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주차 현황 보기 기능 구현</a:t>
                      </a:r>
                      <a:endParaRPr lang="en-US" altLang="ko-KR" sz="11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873141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5298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1583AD07-C908-F7A6-FD11-E2564B45A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6">
            <a:extLst>
              <a:ext uri="{FF2B5EF4-FFF2-40B4-BE49-F238E27FC236}">
                <a16:creationId xmlns:a16="http://schemas.microsoft.com/office/drawing/2014/main" id="{96A880AD-28D5-9F03-FA12-1761C4112E2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 err="1">
                <a:ea typeface="Black Han Sans" pitchFamily="2" charset="-127"/>
              </a:rPr>
              <a:t>유스케이스</a:t>
            </a:r>
            <a:r>
              <a:rPr lang="ko-KR" altLang="en-US" dirty="0">
                <a:ea typeface="Black Han Sans" pitchFamily="2" charset="-127"/>
              </a:rPr>
              <a:t> </a:t>
            </a:r>
            <a:r>
              <a:rPr lang="ko-KR" altLang="en-US" sz="2800" dirty="0">
                <a:ea typeface="Black Han Sans" pitchFamily="2" charset="-127"/>
              </a:rPr>
              <a:t>다이어그램</a:t>
            </a:r>
            <a:endParaRPr sz="2800" dirty="0">
              <a:ea typeface="Black Han Sans" pitchFamily="2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3BB3F32-0AB6-33E9-7273-8AD162C197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536" y="1017725"/>
            <a:ext cx="5952928" cy="4098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4741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>
          <a:extLst>
            <a:ext uri="{FF2B5EF4-FFF2-40B4-BE49-F238E27FC236}">
              <a16:creationId xmlns:a16="http://schemas.microsoft.com/office/drawing/2014/main" id="{967C1C0E-F830-6860-B092-140312C99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>
            <a:extLst>
              <a:ext uri="{FF2B5EF4-FFF2-40B4-BE49-F238E27FC236}">
                <a16:creationId xmlns:a16="http://schemas.microsoft.com/office/drawing/2014/main" id="{BF3892A6-3ADB-0461-67E2-C0406E9AA99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>
                <a:ea typeface="Black Han Sans" pitchFamily="2" charset="-127"/>
              </a:rPr>
              <a:t>모델링</a:t>
            </a:r>
            <a:r>
              <a:rPr lang="en-US" altLang="ko-KR" sz="2800" dirty="0">
                <a:ea typeface="Black Han Sans" pitchFamily="2" charset="-127"/>
              </a:rPr>
              <a:t>(</a:t>
            </a:r>
            <a:r>
              <a:rPr lang="ko-KR" altLang="en-US" sz="2800" dirty="0">
                <a:ea typeface="Black Han Sans" pitchFamily="2" charset="-127"/>
              </a:rPr>
              <a:t>논리</a:t>
            </a:r>
            <a:r>
              <a:rPr lang="en-US" altLang="ko-KR" sz="2800" dirty="0">
                <a:ea typeface="Black Han Sans" pitchFamily="2" charset="-127"/>
              </a:rPr>
              <a:t>)</a:t>
            </a:r>
            <a:endParaRPr sz="2800" dirty="0">
              <a:ea typeface="Black Han Sans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61300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>
          <a:extLst>
            <a:ext uri="{FF2B5EF4-FFF2-40B4-BE49-F238E27FC236}">
              <a16:creationId xmlns:a16="http://schemas.microsoft.com/office/drawing/2014/main" id="{D0909CD7-C11A-E412-612A-34D1711B6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>
            <a:extLst>
              <a:ext uri="{FF2B5EF4-FFF2-40B4-BE49-F238E27FC236}">
                <a16:creationId xmlns:a16="http://schemas.microsoft.com/office/drawing/2014/main" id="{8B32EA68-8520-296A-8D09-78A6047FBFC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>
                <a:ea typeface="Black Han Sans" pitchFamily="2" charset="-127"/>
              </a:rPr>
              <a:t>모델링</a:t>
            </a:r>
            <a:r>
              <a:rPr lang="en-US" altLang="ko-KR" sz="2800" dirty="0">
                <a:ea typeface="Black Han Sans" pitchFamily="2" charset="-127"/>
              </a:rPr>
              <a:t>(</a:t>
            </a:r>
            <a:r>
              <a:rPr lang="ko-KR" altLang="en-US" sz="2800" dirty="0">
                <a:ea typeface="Black Han Sans" pitchFamily="2" charset="-127"/>
              </a:rPr>
              <a:t>물리</a:t>
            </a:r>
            <a:r>
              <a:rPr lang="en-US" altLang="ko-KR" sz="2800" dirty="0">
                <a:ea typeface="Black Han Sans" pitchFamily="2" charset="-127"/>
              </a:rPr>
              <a:t>)</a:t>
            </a:r>
            <a:endParaRPr sz="2800" dirty="0">
              <a:ea typeface="Black Han Sans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367548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F6B1635A-C567-643D-C7C7-4F1D17C42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6">
            <a:extLst>
              <a:ext uri="{FF2B5EF4-FFF2-40B4-BE49-F238E27FC236}">
                <a16:creationId xmlns:a16="http://schemas.microsoft.com/office/drawing/2014/main" id="{1CCB47BD-FDB4-4417-A738-B089D00DB01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>
                <a:ea typeface="Black Han Sans" pitchFamily="2" charset="-127"/>
              </a:rPr>
              <a:t>구조도</a:t>
            </a:r>
            <a:endParaRPr sz="2800" dirty="0">
              <a:ea typeface="Black Han Sans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4354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>
          <a:extLst>
            <a:ext uri="{FF2B5EF4-FFF2-40B4-BE49-F238E27FC236}">
              <a16:creationId xmlns:a16="http://schemas.microsoft.com/office/drawing/2014/main" id="{ADA7DF47-B344-2100-2109-AA5CD6338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>
            <a:extLst>
              <a:ext uri="{FF2B5EF4-FFF2-40B4-BE49-F238E27FC236}">
                <a16:creationId xmlns:a16="http://schemas.microsoft.com/office/drawing/2014/main" id="{3E42C1B1-594D-1CCF-CE7A-4CD856F1AA4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>
                <a:ea typeface="Black Han Sans" pitchFamily="2" charset="-127"/>
              </a:rPr>
              <a:t>상세 기능 설명</a:t>
            </a:r>
            <a:endParaRPr sz="2800" dirty="0">
              <a:ea typeface="Black Han Sans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385598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>
          <a:extLst>
            <a:ext uri="{FF2B5EF4-FFF2-40B4-BE49-F238E27FC236}">
              <a16:creationId xmlns:a16="http://schemas.microsoft.com/office/drawing/2014/main" id="{3B20260B-D4E0-5583-2E95-834326E25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>
            <a:extLst>
              <a:ext uri="{FF2B5EF4-FFF2-40B4-BE49-F238E27FC236}">
                <a16:creationId xmlns:a16="http://schemas.microsoft.com/office/drawing/2014/main" id="{67957180-CE3E-BF12-26DF-FE2DDBDDBAC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>
                <a:ea typeface="Black Han Sans" pitchFamily="2" charset="-127"/>
              </a:rPr>
              <a:t>시연 영상</a:t>
            </a:r>
            <a:endParaRPr sz="2800" dirty="0">
              <a:ea typeface="Black Han Sans" pitchFamily="2" charset="-127"/>
            </a:endParaRPr>
          </a:p>
        </p:txBody>
      </p:sp>
      <p:pic>
        <p:nvPicPr>
          <p:cNvPr id="2" name="주차관제시스템_시연영상">
            <a:hlinkClick r:id="" action="ppaction://media"/>
            <a:extLst>
              <a:ext uri="{FF2B5EF4-FFF2-40B4-BE49-F238E27FC236}">
                <a16:creationId xmlns:a16="http://schemas.microsoft.com/office/drawing/2014/main" id="{F0986B54-D78C-B7C9-C45D-FB055918845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24607" y="1212797"/>
            <a:ext cx="6922149" cy="3485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2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75467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C28133BF-71A4-D3C5-2085-B95E30265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6">
            <a:extLst>
              <a:ext uri="{FF2B5EF4-FFF2-40B4-BE49-F238E27FC236}">
                <a16:creationId xmlns:a16="http://schemas.microsoft.com/office/drawing/2014/main" id="{19F677D6-F11B-E2C2-AB95-1654C4707BF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>
                <a:ea typeface="Black Han Sans" pitchFamily="2" charset="-127"/>
              </a:rPr>
              <a:t>핵심 로직 </a:t>
            </a:r>
            <a:r>
              <a:rPr lang="en-US" altLang="ko-KR" sz="2800" dirty="0">
                <a:ea typeface="Black Han Sans" pitchFamily="2" charset="-127"/>
              </a:rPr>
              <a:t>/ </a:t>
            </a:r>
            <a:r>
              <a:rPr lang="ko-KR" altLang="en-US" sz="2800" dirty="0">
                <a:ea typeface="Black Han Sans" pitchFamily="2" charset="-127"/>
              </a:rPr>
              <a:t>구현 포인트</a:t>
            </a:r>
            <a:endParaRPr sz="2800" dirty="0">
              <a:ea typeface="Black Han Sans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96241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>
          <a:extLst>
            <a:ext uri="{FF2B5EF4-FFF2-40B4-BE49-F238E27FC236}">
              <a16:creationId xmlns:a16="http://schemas.microsoft.com/office/drawing/2014/main" id="{51E60F7B-D872-B405-1F56-CE247137F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>
            <a:extLst>
              <a:ext uri="{FF2B5EF4-FFF2-40B4-BE49-F238E27FC236}">
                <a16:creationId xmlns:a16="http://schemas.microsoft.com/office/drawing/2014/main" id="{9E2FAF37-E48F-618F-961F-24F1596B7FD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>
                <a:ea typeface="Black Han Sans" pitchFamily="2" charset="-127"/>
              </a:rPr>
              <a:t>프로젝트 진행 중 발생했던 이슈 및 해결방법</a:t>
            </a:r>
            <a:endParaRPr sz="2800" dirty="0">
              <a:ea typeface="Black Han Sans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125975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>
          <a:extLst>
            <a:ext uri="{FF2B5EF4-FFF2-40B4-BE49-F238E27FC236}">
              <a16:creationId xmlns:a16="http://schemas.microsoft.com/office/drawing/2014/main" id="{E77E99FE-9C6E-FDB7-7163-50C5C9B39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>
            <a:extLst>
              <a:ext uri="{FF2B5EF4-FFF2-40B4-BE49-F238E27FC236}">
                <a16:creationId xmlns:a16="http://schemas.microsoft.com/office/drawing/2014/main" id="{B7847D93-6EBC-E2E4-2BB4-1FA7D456B69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>
                <a:ea typeface="Black Han Sans" pitchFamily="2" charset="-127"/>
              </a:rPr>
              <a:t>프로젝트 개선할 점 및 느낀 점</a:t>
            </a:r>
            <a:endParaRPr sz="2800" dirty="0">
              <a:ea typeface="Black Han Sans" pitchFamily="2" charset="-127"/>
            </a:endParaRPr>
          </a:p>
        </p:txBody>
      </p:sp>
      <p:sp>
        <p:nvSpPr>
          <p:cNvPr id="269" name="Google Shape;269;p33">
            <a:extLst>
              <a:ext uri="{FF2B5EF4-FFF2-40B4-BE49-F238E27FC236}">
                <a16:creationId xmlns:a16="http://schemas.microsoft.com/office/drawing/2014/main" id="{60974070-636E-C4C7-E5E8-DC4F82043BC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20000" y="1654613"/>
            <a:ext cx="7704000" cy="20542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CSS</a:t>
            </a:r>
            <a:r>
              <a:rPr lang="ko-KR" altLang="en-US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를 한 파일에서 </a:t>
            </a:r>
            <a:r>
              <a:rPr lang="ko-KR" altLang="en-US" sz="1600" dirty="0" err="1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작업하는게</a:t>
            </a:r>
            <a:r>
              <a:rPr lang="ko-KR" altLang="en-US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좀 더 통일성과 효율성을 향상시키는데 좋은 것 같습니다</a:t>
            </a: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216642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>
          <a:extLst>
            <a:ext uri="{FF2B5EF4-FFF2-40B4-BE49-F238E27FC236}">
              <a16:creationId xmlns:a16="http://schemas.microsoft.com/office/drawing/2014/main" id="{CA211F46-245B-1194-4B3E-98D191166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9">
            <a:extLst>
              <a:ext uri="{FF2B5EF4-FFF2-40B4-BE49-F238E27FC236}">
                <a16:creationId xmlns:a16="http://schemas.microsoft.com/office/drawing/2014/main" id="{320AE6B5-937D-4DED-89F0-E57DD10ED1B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14072" y="2285400"/>
            <a:ext cx="7715856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ea typeface="Black Han Sans" pitchFamily="2" charset="-127"/>
              </a:rPr>
              <a:t>END</a:t>
            </a:r>
            <a:endParaRPr sz="2800" dirty="0">
              <a:ea typeface="Black Han Sans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01177018"/>
      </p:ext>
    </p:extLst>
  </p:cSld>
  <p:clrMapOvr>
    <a:masterClrMapping/>
  </p:clrMapOvr>
</p:sld>
</file>

<file path=ppt/theme/theme1.xml><?xml version="1.0" encoding="utf-8"?>
<a:theme xmlns:a="http://schemas.openxmlformats.org/drawingml/2006/main" name="Automotive Industry Pitch Deck by Slidesgo">
  <a:themeElements>
    <a:clrScheme name="Simple Light">
      <a:dk1>
        <a:srgbClr val="222229"/>
      </a:dk1>
      <a:lt1>
        <a:srgbClr val="F9F9F9"/>
      </a:lt1>
      <a:dk2>
        <a:srgbClr val="E6EBF3"/>
      </a:dk2>
      <a:lt2>
        <a:srgbClr val="BDB8D2"/>
      </a:lt2>
      <a:accent1>
        <a:srgbClr val="69657A"/>
      </a:accent1>
      <a:accent2>
        <a:srgbClr val="43434F"/>
      </a:accent2>
      <a:accent3>
        <a:srgbClr val="FDDA4C"/>
      </a:accent3>
      <a:accent4>
        <a:srgbClr val="FBC70E"/>
      </a:accent4>
      <a:accent5>
        <a:srgbClr val="F8A40A"/>
      </a:accent5>
      <a:accent6>
        <a:srgbClr val="05DC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104</TotalTime>
  <Words>451</Words>
  <Application>Microsoft Office PowerPoint</Application>
  <PresentationFormat>화면 슬라이드 쇼(16:9)</PresentationFormat>
  <Paragraphs>91</Paragraphs>
  <Slides>18</Slides>
  <Notes>18</Notes>
  <HiddenSlides>0</HiddenSlides>
  <MMClips>1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4" baseType="lpstr">
      <vt:lpstr>Arial</vt:lpstr>
      <vt:lpstr>Cairo</vt:lpstr>
      <vt:lpstr>Adobe 고딕 Std B</vt:lpstr>
      <vt:lpstr>KoPubWorld돋움체 Medium</vt:lpstr>
      <vt:lpstr>Black Han Sans</vt:lpstr>
      <vt:lpstr>Automotive Industry Pitch Deck by Slidesgo</vt:lpstr>
      <vt:lpstr>1차 프로젝트 결과 보고서</vt:lpstr>
      <vt:lpstr>목차</vt:lpstr>
      <vt:lpstr>프로젝트 개요</vt:lpstr>
      <vt:lpstr>개발 목적</vt:lpstr>
      <vt:lpstr>주요 기능</vt:lpstr>
      <vt:lpstr>개발 환경 및 기술 스택</vt:lpstr>
      <vt:lpstr>기대 효과</vt:lpstr>
      <vt:lpstr>역할 분담</vt:lpstr>
      <vt:lpstr>유스케이스 다이어그램</vt:lpstr>
      <vt:lpstr>모델링(논리)</vt:lpstr>
      <vt:lpstr>모델링(물리)</vt:lpstr>
      <vt:lpstr>구조도</vt:lpstr>
      <vt:lpstr>상세 기능 설명</vt:lpstr>
      <vt:lpstr>시연 영상</vt:lpstr>
      <vt:lpstr>핵심 로직 / 구현 포인트</vt:lpstr>
      <vt:lpstr>프로젝트 진행 중 발생했던 이슈 및 해결방법</vt:lpstr>
      <vt:lpstr>프로젝트 개선할 점 및 느낀 점</vt:lpstr>
      <vt:lpstr>END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하이미디어컴퓨터디자인학원</dc:creator>
  <cp:lastModifiedBy>1234</cp:lastModifiedBy>
  <cp:revision>9</cp:revision>
  <dcterms:modified xsi:type="dcterms:W3CDTF">2025-08-05T05:49:55Z</dcterms:modified>
</cp:coreProperties>
</file>