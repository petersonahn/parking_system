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97" r:id="rId9"/>
    <p:sldId id="313" r:id="rId10"/>
    <p:sldId id="298" r:id="rId11"/>
    <p:sldId id="299" r:id="rId12"/>
    <p:sldId id="300" r:id="rId13"/>
    <p:sldId id="301" r:id="rId14"/>
    <p:sldId id="314" r:id="rId15"/>
    <p:sldId id="302" r:id="rId16"/>
    <p:sldId id="308" r:id="rId17"/>
    <p:sldId id="309" r:id="rId18"/>
    <p:sldId id="273" r:id="rId19"/>
    <p:sldId id="310" r:id="rId20"/>
    <p:sldId id="311" r:id="rId21"/>
    <p:sldId id="274" r:id="rId22"/>
    <p:sldId id="312" r:id="rId23"/>
    <p:sldId id="275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303" r:id="rId34"/>
    <p:sldId id="304" r:id="rId35"/>
    <p:sldId id="305" r:id="rId36"/>
    <p:sldId id="306" r:id="rId37"/>
    <p:sldId id="307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717" autoAdjust="0"/>
  </p:normalViewPr>
  <p:slideViewPr>
    <p:cSldViewPr snapToGrid="0" showGuides="1">
      <p:cViewPr varScale="1">
        <p:scale>
          <a:sx n="67" d="100"/>
          <a:sy n="67" d="100"/>
        </p:scale>
        <p:origin x="642" y="66"/>
      </p:cViewPr>
      <p:guideLst>
        <p:guide orient="horz" pos="2160"/>
        <p:guide pos="37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AF47-F73D-4B4C-A6F6-65592906FFDA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C3986-31BA-4672-96ED-697EBD2816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043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5A9C30E8-7E2C-34FB-F6F2-A51B6B31A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B3785A64-F493-BF5A-D287-885B3410E9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031BAC35-7DCF-26E6-EAE9-381B3024B3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0630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53DAA4CA-B9BD-83E7-433A-4B02756C7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84d99d1a72_0_2:notes">
            <a:extLst>
              <a:ext uri="{FF2B5EF4-FFF2-40B4-BE49-F238E27FC236}">
                <a16:creationId xmlns:a16="http://schemas.microsoft.com/office/drawing/2014/main" id="{8B5D3D2C-BC75-D802-407B-39677106F1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84d99d1a72_0_2:notes">
            <a:extLst>
              <a:ext uri="{FF2B5EF4-FFF2-40B4-BE49-F238E27FC236}">
                <a16:creationId xmlns:a16="http://schemas.microsoft.com/office/drawing/2014/main" id="{18687951-B298-5BE1-0DA7-27FDB4B614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2131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4C9B5DFD-AA01-270C-3906-43108C62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84d99d1a72_0_57:notes">
            <a:extLst>
              <a:ext uri="{FF2B5EF4-FFF2-40B4-BE49-F238E27FC236}">
                <a16:creationId xmlns:a16="http://schemas.microsoft.com/office/drawing/2014/main" id="{A7D7BD06-64F1-A854-70D9-0C61069895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84d99d1a72_0_57:notes">
            <a:extLst>
              <a:ext uri="{FF2B5EF4-FFF2-40B4-BE49-F238E27FC236}">
                <a16:creationId xmlns:a16="http://schemas.microsoft.com/office/drawing/2014/main" id="{39E7CA94-5848-3462-5D23-2333ED6740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9225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37A50F0C-4979-7458-EA9F-2D13DA85D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2881DADC-0658-C798-016D-407B75957D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082F493C-1654-C619-6AB2-EDC06A3F22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572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BB4C7CB6-C887-B2D9-1AC2-20C9980AE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84d99d1a72_0_2:notes">
            <a:extLst>
              <a:ext uri="{FF2B5EF4-FFF2-40B4-BE49-F238E27FC236}">
                <a16:creationId xmlns:a16="http://schemas.microsoft.com/office/drawing/2014/main" id="{3F1B535B-6DBF-8D64-DDF6-B20CB4388C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84d99d1a72_0_2:notes">
            <a:extLst>
              <a:ext uri="{FF2B5EF4-FFF2-40B4-BE49-F238E27FC236}">
                <a16:creationId xmlns:a16="http://schemas.microsoft.com/office/drawing/2014/main" id="{7930D336-7BDE-FDA5-A1AE-37C9FD1164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118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33070CF8-5ED5-5C80-DCB2-8D80B1E0F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84d99d1a72_0_57:notes">
            <a:extLst>
              <a:ext uri="{FF2B5EF4-FFF2-40B4-BE49-F238E27FC236}">
                <a16:creationId xmlns:a16="http://schemas.microsoft.com/office/drawing/2014/main" id="{FEC16B51-EDDF-E7F0-4E47-AF854A0CA0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84d99d1a72_0_57:notes">
            <a:extLst>
              <a:ext uri="{FF2B5EF4-FFF2-40B4-BE49-F238E27FC236}">
                <a16:creationId xmlns:a16="http://schemas.microsoft.com/office/drawing/2014/main" id="{ABB78C8D-B61C-2004-71AD-2039A61CCD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01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FE803-75BE-49A2-BD99-86540186119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4855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C3986-31BA-4672-96ED-697EBD28162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881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D65BB-50E6-A202-1620-08EA46C46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BB9062-FCA1-A4C0-C8DC-99A945D39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5912E8-9DD1-4D48-B43A-8D5062D77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46475-CDA4-D91B-AD21-0D5ED6043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8C3986-31BA-4672-96ED-697EBD28162E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416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1A085C66-6019-8EB1-23E4-B4FC2A49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0EF20282-3E90-B41C-7018-5ACEAFA050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E07F6E1E-6B1B-04AD-87C6-B377D554C3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23884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52B1035C-9D65-1C2F-1CFA-C1956E3E8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84d99d1a72_0_2:notes">
            <a:extLst>
              <a:ext uri="{FF2B5EF4-FFF2-40B4-BE49-F238E27FC236}">
                <a16:creationId xmlns:a16="http://schemas.microsoft.com/office/drawing/2014/main" id="{07FE0CB5-61D3-C0CF-796C-5E649AC87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84d99d1a72_0_2:notes">
            <a:extLst>
              <a:ext uri="{FF2B5EF4-FFF2-40B4-BE49-F238E27FC236}">
                <a16:creationId xmlns:a16="http://schemas.microsoft.com/office/drawing/2014/main" id="{227AAD24-7AA5-9F1F-F3B0-CB5032834B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4261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>
          <a:extLst>
            <a:ext uri="{FF2B5EF4-FFF2-40B4-BE49-F238E27FC236}">
              <a16:creationId xmlns:a16="http://schemas.microsoft.com/office/drawing/2014/main" id="{DB11E5EF-1025-FE25-5C03-AC3DFEB7D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84d99d1a72_0_57:notes">
            <a:extLst>
              <a:ext uri="{FF2B5EF4-FFF2-40B4-BE49-F238E27FC236}">
                <a16:creationId xmlns:a16="http://schemas.microsoft.com/office/drawing/2014/main" id="{9A4BB9DA-CE95-A7F9-307B-89BFEE091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84d99d1a72_0_57:notes">
            <a:extLst>
              <a:ext uri="{FF2B5EF4-FFF2-40B4-BE49-F238E27FC236}">
                <a16:creationId xmlns:a16="http://schemas.microsoft.com/office/drawing/2014/main" id="{ECBD8CF8-4899-AAC1-2403-87EF8810F5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09490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CC3901C3-975D-A1D4-E523-AC7E74566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54dda1946d_6_332:notes">
            <a:extLst>
              <a:ext uri="{FF2B5EF4-FFF2-40B4-BE49-F238E27FC236}">
                <a16:creationId xmlns:a16="http://schemas.microsoft.com/office/drawing/2014/main" id="{9457E04E-35C2-AE97-1675-F0FDC93CF0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54dda1946d_6_332:notes">
            <a:extLst>
              <a:ext uri="{FF2B5EF4-FFF2-40B4-BE49-F238E27FC236}">
                <a16:creationId xmlns:a16="http://schemas.microsoft.com/office/drawing/2014/main" id="{747236A4-9CAA-1E3D-9E07-BCF8F94460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11857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7AF7C67E-6FB4-0CD7-1296-78EEA41BE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d431007ba2_0_215:notes">
            <a:extLst>
              <a:ext uri="{FF2B5EF4-FFF2-40B4-BE49-F238E27FC236}">
                <a16:creationId xmlns:a16="http://schemas.microsoft.com/office/drawing/2014/main" id="{F1EC636D-C4EE-CC5F-4C86-07CB7DC1F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d431007ba2_0_215:notes">
            <a:extLst>
              <a:ext uri="{FF2B5EF4-FFF2-40B4-BE49-F238E27FC236}">
                <a16:creationId xmlns:a16="http://schemas.microsoft.com/office/drawing/2014/main" id="{2BE08D79-A5A0-F4E4-F67F-F6446246E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4899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8885C9-FD60-C4D8-DC52-05EA1D2C3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ABF74E-5093-F4BB-8C14-C669F6C8DB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0C0E00-5C2A-3558-9F6A-D77C15222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5E3F54-B54E-EF25-010F-F3C152912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08883F-806A-6FA4-C1A6-EB6A040DC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557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1341C-6135-8871-1228-A8852650C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A75826-C065-B8F1-A533-945949F29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2942DC-C47F-C399-64E5-4BC7C785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01FF85-9B5C-73C8-A87D-0C32A2656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821AD1-D9C7-02A6-46DD-B245477A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39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BF456-85DF-AB3D-343A-BDB2B8C42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EEDE4B-BB25-C929-845B-00D18986E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A69732-8D9E-ADDF-CEAE-38A66731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8A097F-F500-4955-E517-D39A9D759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AACB31-7F2C-829F-F9C2-5AD7BDA66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395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0529D7-ED8D-C530-138E-366930D30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160410-3DD5-712C-F968-461339DF5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2A53A3-322C-5656-B52F-ED0903634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6190E1-6EB8-58E7-86D2-F8243C31D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4A6116-9CBF-77EA-9AE2-CB7F24D6A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BE947E-4C8D-82F6-5EAE-D69EC26A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377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1CEA20-7EDE-FCAA-B37F-E527AEC52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10AFC4-57B9-3AA0-2BD8-1E29CAC23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8AB503-1D98-1853-C353-FFB47649C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4AE6AD-3615-E643-F395-B65D6477DA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2E949D-C014-1C8D-C264-D8D612CF6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56DA99C-E560-5BD0-5CA1-885212D2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9FA6AD-DBEE-6C1B-D624-8EF88B277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F9F959-98CA-5687-87E0-29226A04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428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769B6-95DE-F414-0503-D5716A10F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6B0AAF-A10A-BBAF-05BA-BFED0932D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A3AA99-1D97-EBE7-4FA5-68ADB4A21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56203A-4696-E6B4-8536-13AEDCBD4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878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4DD35D-A035-2F62-9611-A88599F3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D3110E-11E3-F30D-9880-38A98DD87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6D5894-C636-FF0A-C8B2-D4E640E6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95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27A98A-A5F9-24F3-7C24-EF0EC2250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7ACF0-54A7-632C-C98C-8BD3E76DA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223139-F4B8-62BC-2CFE-819E7E67E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1FBB62-6AD3-F42C-FF2F-25D489280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289547-4BB3-06EB-DB3E-3CF14D0CF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7F2FE1-A2FC-5BA5-810F-77D79414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187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C0EA0-2465-FA7A-54EC-DA909074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990D75-3525-A43A-6E22-DBB6D41CCA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523C17-E7D3-A62B-8D55-DEDAD4049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D72422-0815-ABE1-28DE-B07C217D4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87AE44-B22F-7F53-0CA9-9A33BC490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955A78-D7FC-B6AD-54AC-D66D5D77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390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6E4351-71A7-0519-8ABC-02AC6FB77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CE8C8D-B928-9D67-DD8C-7603B9129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1E69E8-FA77-7B9A-EF6B-0BC47C14E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EEDD90-F4DA-59E9-C506-07A5D6890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D07165-5DDF-685A-AE29-FB01495A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286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E75800-AC0A-FC15-25E9-E18C608AB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105BF3-8495-8210-9B2C-EB6DF6818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58178C-C060-BEAE-FA54-3863AD58C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6BB25-E7AE-455E-93AD-FEE8F94E2CED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DAA86B-0920-D859-9CE4-7E34AFBA5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6A9335-F029-2C19-B2EE-FCADA1CC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061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0" y="0"/>
            <a:ext cx="12192000" cy="161200"/>
            <a:chOff x="0" y="0"/>
            <a:chExt cx="9144000" cy="120900"/>
          </a:xfrm>
        </p:grpSpPr>
        <p:sp>
          <p:nvSpPr>
            <p:cNvPr id="12" name="Google Shape;12;p2"/>
            <p:cNvSpPr/>
            <p:nvPr/>
          </p:nvSpPr>
          <p:spPr>
            <a:xfrm flipH="1">
              <a:off x="3071700" y="0"/>
              <a:ext cx="60723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flipH="1">
              <a:off x="0" y="0"/>
              <a:ext cx="30717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AD985FCB-79B4-B800-21B5-9D9CC1CB1AA5}"/>
              </a:ext>
            </a:extLst>
          </p:cNvPr>
          <p:cNvSpPr/>
          <p:nvPr userDrawn="1"/>
        </p:nvSpPr>
        <p:spPr>
          <a:xfrm>
            <a:off x="0" y="1"/>
            <a:ext cx="4095600" cy="161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360704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userDrawn="1">
  <p:cSld name="Table of conten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7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115" name="Google Shape;115;p17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45F095E1-59ED-3599-4B9B-9BE0F5114236}"/>
              </a:ext>
            </a:extLst>
          </p:cNvPr>
          <p:cNvSpPr/>
          <p:nvPr userDrawn="1"/>
        </p:nvSpPr>
        <p:spPr>
          <a:xfrm>
            <a:off x="-32" y="0"/>
            <a:ext cx="161200" cy="95078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21305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7"/>
          <p:cNvGrpSpPr/>
          <p:nvPr/>
        </p:nvGrpSpPr>
        <p:grpSpPr>
          <a:xfrm>
            <a:off x="168" y="0"/>
            <a:ext cx="12191833" cy="161200"/>
            <a:chOff x="125" y="0"/>
            <a:chExt cx="9143875" cy="120900"/>
          </a:xfrm>
        </p:grpSpPr>
        <p:sp>
          <p:nvSpPr>
            <p:cNvPr id="49" name="Google Shape;49;p7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50" name="Google Shape;50;p7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222AED-CDEA-9065-BD26-D3F64429546F}"/>
              </a:ext>
            </a:extLst>
          </p:cNvPr>
          <p:cNvSpPr/>
          <p:nvPr userDrawn="1"/>
        </p:nvSpPr>
        <p:spPr>
          <a:xfrm>
            <a:off x="0" y="2"/>
            <a:ext cx="950800" cy="1611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374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5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35" name="Google Shape;35;p5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BBE5AB4A-F66D-02F8-3196-D4487DC3903C}"/>
              </a:ext>
            </a:extLst>
          </p:cNvPr>
          <p:cNvSpPr/>
          <p:nvPr userDrawn="1"/>
        </p:nvSpPr>
        <p:spPr>
          <a:xfrm>
            <a:off x="0" y="1"/>
            <a:ext cx="161184" cy="9507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269858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 userDrawn="1">
  <p:cSld name="Title and three columns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8"/>
          <p:cNvGrpSpPr/>
          <p:nvPr/>
        </p:nvGrpSpPr>
        <p:grpSpPr>
          <a:xfrm>
            <a:off x="168" y="6696800"/>
            <a:ext cx="12191833" cy="161200"/>
            <a:chOff x="125" y="0"/>
            <a:chExt cx="9143875" cy="120900"/>
          </a:xfrm>
        </p:grpSpPr>
        <p:sp>
          <p:nvSpPr>
            <p:cNvPr id="126" name="Google Shape;126;p18"/>
            <p:cNvSpPr/>
            <p:nvPr/>
          </p:nvSpPr>
          <p:spPr>
            <a:xfrm flipH="1">
              <a:off x="654900" y="0"/>
              <a:ext cx="84891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27" name="Google Shape;127;p18"/>
            <p:cNvSpPr/>
            <p:nvPr/>
          </p:nvSpPr>
          <p:spPr>
            <a:xfrm flipH="1">
              <a:off x="125" y="0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cxnSp>
        <p:nvCxnSpPr>
          <p:cNvPr id="128" name="Google Shape;128;p18"/>
          <p:cNvCxnSpPr/>
          <p:nvPr/>
        </p:nvCxnSpPr>
        <p:spPr>
          <a:xfrm>
            <a:off x="849367" y="0"/>
            <a:ext cx="0" cy="1678400"/>
          </a:xfrm>
          <a:prstGeom prst="straightConnector1">
            <a:avLst/>
          </a:prstGeom>
          <a:ln>
            <a:solidFill>
              <a:srgbClr val="0070C0"/>
            </a:solidFill>
            <a:headEnd type="none" w="med" len="med"/>
            <a:tailEnd type="oval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5D702DA5-EB14-8433-40E3-8F40F866D456}"/>
              </a:ext>
            </a:extLst>
          </p:cNvPr>
          <p:cNvSpPr/>
          <p:nvPr userDrawn="1"/>
        </p:nvSpPr>
        <p:spPr>
          <a:xfrm>
            <a:off x="0" y="6696800"/>
            <a:ext cx="950967" cy="161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926668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 userDrawn="1">
  <p:cSld name="Title and four columns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9"/>
          <p:cNvGrpSpPr/>
          <p:nvPr/>
        </p:nvGrpSpPr>
        <p:grpSpPr>
          <a:xfrm>
            <a:off x="12030785" y="-16"/>
            <a:ext cx="161217" cy="6862784"/>
            <a:chOff x="-12" y="-12"/>
            <a:chExt cx="120913" cy="5147088"/>
          </a:xfrm>
        </p:grpSpPr>
        <p:sp>
          <p:nvSpPr>
            <p:cNvPr id="140" name="Google Shape;140;p19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41" name="Google Shape;141;p19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cxnSp>
        <p:nvCxnSpPr>
          <p:cNvPr id="142" name="Google Shape;142;p19"/>
          <p:cNvCxnSpPr/>
          <p:nvPr/>
        </p:nvCxnSpPr>
        <p:spPr>
          <a:xfrm>
            <a:off x="0" y="6138667"/>
            <a:ext cx="1524000" cy="0"/>
          </a:xfrm>
          <a:prstGeom prst="straightConnector1">
            <a:avLst/>
          </a:prstGeom>
          <a:ln>
            <a:solidFill>
              <a:srgbClr val="0070C0"/>
            </a:solidFill>
            <a:headEnd type="none" w="med" len="med"/>
            <a:tailEnd type="oval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CD9534-72AF-16E0-E614-9BB269AD544F}"/>
              </a:ext>
            </a:extLst>
          </p:cNvPr>
          <p:cNvSpPr/>
          <p:nvPr userDrawn="1"/>
        </p:nvSpPr>
        <p:spPr>
          <a:xfrm>
            <a:off x="12030768" y="-16"/>
            <a:ext cx="161216" cy="950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1938391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 userDrawn="1">
  <p:cSld name="Title and six columns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20"/>
          <p:cNvGrpSpPr/>
          <p:nvPr/>
        </p:nvGrpSpPr>
        <p:grpSpPr>
          <a:xfrm>
            <a:off x="-15" y="-16"/>
            <a:ext cx="161217" cy="6862784"/>
            <a:chOff x="-12" y="-12"/>
            <a:chExt cx="120913" cy="5147088"/>
          </a:xfrm>
        </p:grpSpPr>
        <p:sp>
          <p:nvSpPr>
            <p:cNvPr id="158" name="Google Shape;158;p20"/>
            <p:cNvSpPr/>
            <p:nvPr/>
          </p:nvSpPr>
          <p:spPr>
            <a:xfrm rot="5400000" flipH="1">
              <a:off x="-2185650" y="2840525"/>
              <a:ext cx="4492200" cy="120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  <p:sp>
          <p:nvSpPr>
            <p:cNvPr id="159" name="Google Shape;159;p20"/>
            <p:cNvSpPr/>
            <p:nvPr/>
          </p:nvSpPr>
          <p:spPr>
            <a:xfrm rot="5400000" flipH="1">
              <a:off x="-296112" y="296088"/>
              <a:ext cx="713100" cy="120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4DD09C-1045-37D9-2960-2E82300D569F}"/>
              </a:ext>
            </a:extLst>
          </p:cNvPr>
          <p:cNvSpPr/>
          <p:nvPr userDrawn="1"/>
        </p:nvSpPr>
        <p:spPr>
          <a:xfrm>
            <a:off x="0" y="1"/>
            <a:ext cx="161184" cy="95078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976437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D37803B-4C48-8AE7-EA6A-DD4CDBE47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2A8B0C-3129-2B4C-B45F-94640E429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862249-9F23-1336-C39C-01424EC6C3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6BB25-E7AE-455E-93AD-FEE8F94E2CED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4F517F-A8A8-9169-39EB-4D4DE6195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22DC07-54E3-2EAD-185A-745A6D5F5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2D4C1-5973-482B-8A81-15E5AFF8E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927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G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8.png"/><Relationship Id="rId4" Type="http://schemas.openxmlformats.org/officeDocument/2006/relationships/notesSlide" Target="../notesSlides/notesSlide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" name="Google Shape;207;p28"/>
          <p:cNvCxnSpPr/>
          <p:nvPr/>
        </p:nvCxnSpPr>
        <p:spPr>
          <a:xfrm>
            <a:off x="-15867" y="4455067"/>
            <a:ext cx="3039600" cy="0"/>
          </a:xfrm>
          <a:prstGeom prst="straightConnector1">
            <a:avLst/>
          </a:prstGeom>
          <a:ln>
            <a:solidFill>
              <a:srgbClr val="0070C0"/>
            </a:solidFill>
            <a:headEnd type="none" w="med" len="med"/>
            <a:tailEnd type="oval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제목 1">
            <a:extLst>
              <a:ext uri="{FF2B5EF4-FFF2-40B4-BE49-F238E27FC236}">
                <a16:creationId xmlns:a16="http://schemas.microsoft.com/office/drawing/2014/main" id="{D4E43EB7-0AB9-7D6E-27A1-0AF217C9A86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01402" y="2315605"/>
            <a:ext cx="8537527" cy="1181088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sz="5333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1</a:t>
            </a:r>
            <a:r>
              <a:rPr lang="ko-KR" altLang="en-US" sz="5333" dirty="0">
                <a:ea typeface="Black Han Sans" pitchFamily="2" charset="-127"/>
              </a:rPr>
              <a:t>차 프로젝트 결과 보고서</a:t>
            </a:r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59E771A4-17FA-40A7-3615-0CB4962F381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800354" y="3246710"/>
            <a:ext cx="6518268" cy="62564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467" dirty="0">
                <a:ea typeface="Black Han Sans" pitchFamily="2" charset="-127"/>
              </a:rPr>
              <a:t>주제 </a:t>
            </a:r>
            <a:r>
              <a:rPr lang="en-US" altLang="ko-KR" sz="3467" dirty="0">
                <a:ea typeface="Black Han Sans" pitchFamily="2" charset="-127"/>
              </a:rPr>
              <a:t>: </a:t>
            </a:r>
            <a:r>
              <a:rPr lang="ko-KR" altLang="en-US" sz="3467" dirty="0">
                <a:ea typeface="Black Han Sans" pitchFamily="2" charset="-127"/>
              </a:rPr>
              <a:t>주차관리 시스템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282E7A-E790-2246-89C5-AEC47C1194FB}"/>
              </a:ext>
            </a:extLst>
          </p:cNvPr>
          <p:cNvSpPr txBox="1"/>
          <p:nvPr/>
        </p:nvSpPr>
        <p:spPr>
          <a:xfrm>
            <a:off x="1" y="4519607"/>
            <a:ext cx="4188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개발 기간 </a:t>
            </a:r>
            <a:r>
              <a:rPr lang="en-US" altLang="ko-KR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: 2025.07.07~2025.08.05</a:t>
            </a:r>
            <a:endParaRPr lang="ko-KR" altLang="en-US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35949A-BF00-771F-2A63-9881EB5B6517}"/>
              </a:ext>
            </a:extLst>
          </p:cNvPr>
          <p:cNvSpPr txBox="1"/>
          <p:nvPr/>
        </p:nvSpPr>
        <p:spPr>
          <a:xfrm>
            <a:off x="-181309" y="4953478"/>
            <a:ext cx="5007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팀원 </a:t>
            </a:r>
            <a:r>
              <a:rPr lang="en-US" altLang="ko-KR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: </a:t>
            </a:r>
            <a:r>
              <a:rPr lang="ko-KR" altLang="en-US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안성호</a:t>
            </a:r>
            <a:r>
              <a:rPr lang="en-US" altLang="ko-KR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</a:t>
            </a:r>
            <a:r>
              <a:rPr lang="ko-KR" altLang="en-US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</a:t>
            </a:r>
            <a:r>
              <a:rPr lang="ko-KR" altLang="en-US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이강호</a:t>
            </a:r>
            <a:r>
              <a:rPr lang="en-US" altLang="ko-KR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</a:t>
            </a:r>
            <a:r>
              <a:rPr lang="ko-KR" altLang="en-US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</a:t>
            </a:r>
            <a:r>
              <a:rPr lang="ko-KR" altLang="en-US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정현성</a:t>
            </a:r>
            <a:r>
              <a:rPr lang="en-US" altLang="ko-KR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</a:t>
            </a:r>
            <a:r>
              <a:rPr lang="ko-KR" altLang="en-US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조현진</a:t>
            </a:r>
            <a:r>
              <a:rPr lang="en-US" altLang="ko-KR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,</a:t>
            </a:r>
            <a:r>
              <a:rPr lang="ko-KR" altLang="en-US" dirty="0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 </a:t>
            </a:r>
            <a:r>
              <a:rPr lang="ko-KR" altLang="en-US" dirty="0" err="1">
                <a:latin typeface="Adobe 고딕 Std B" panose="020B0800000000000000" pitchFamily="34" charset="-127"/>
                <a:ea typeface="Adobe 고딕 Std B" panose="020B0800000000000000" pitchFamily="34" charset="-127"/>
              </a:rPr>
              <a:t>최원경</a:t>
            </a:r>
            <a:endParaRPr lang="ko-KR" altLang="en-US" dirty="0">
              <a:latin typeface="Adobe 고딕 Std B" panose="020B0800000000000000" pitchFamily="34" charset="-127"/>
              <a:ea typeface="Adobe 고딕 Std B" panose="020B0800000000000000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 idx="4294967295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ko-KR" altLang="en-US" sz="4800" dirty="0">
                <a:ea typeface="Black Han Sans" pitchFamily="2" charset="-127"/>
              </a:rPr>
              <a:t>목차</a:t>
            </a:r>
            <a:endParaRPr sz="4800" dirty="0">
              <a:ea typeface="Black Han Sans" pitchFamily="2" charset="-127"/>
            </a:endParaRPr>
          </a:p>
        </p:txBody>
      </p:sp>
      <p:sp>
        <p:nvSpPr>
          <p:cNvPr id="214" name="Google Shape;214;p29"/>
          <p:cNvSpPr txBox="1">
            <a:spLocks noGrp="1"/>
          </p:cNvSpPr>
          <p:nvPr>
            <p:ph type="title" idx="4294967295"/>
          </p:nvPr>
        </p:nvSpPr>
        <p:spPr>
          <a:xfrm>
            <a:off x="2979937" y="1900548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3200" dirty="0">
                <a:ea typeface="Black Han Sans" pitchFamily="2" charset="-127"/>
              </a:rPr>
              <a:t>01</a:t>
            </a:r>
            <a:endParaRPr sz="3200" dirty="0">
              <a:ea typeface="Black Han Sans" pitchFamily="2" charset="-127"/>
            </a:endParaRPr>
          </a:p>
        </p:txBody>
      </p:sp>
      <p:sp>
        <p:nvSpPr>
          <p:cNvPr id="215" name="Google Shape;215;p29"/>
          <p:cNvSpPr txBox="1">
            <a:spLocks noGrp="1"/>
          </p:cNvSpPr>
          <p:nvPr>
            <p:ph type="title" idx="4294967295"/>
          </p:nvPr>
        </p:nvSpPr>
        <p:spPr>
          <a:xfrm>
            <a:off x="7063107" y="1900548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3200" dirty="0">
                <a:ea typeface="Black Han Sans" pitchFamily="2" charset="-127"/>
              </a:rPr>
              <a:t>03</a:t>
            </a:r>
            <a:endParaRPr sz="3200" dirty="0">
              <a:ea typeface="Black Han Sans" pitchFamily="2" charset="-127"/>
            </a:endParaRPr>
          </a:p>
        </p:txBody>
      </p:sp>
      <p:sp>
        <p:nvSpPr>
          <p:cNvPr id="216" name="Google Shape;216;p29"/>
          <p:cNvSpPr txBox="1">
            <a:spLocks noGrp="1"/>
          </p:cNvSpPr>
          <p:nvPr>
            <p:ph type="title" idx="4294967295"/>
          </p:nvPr>
        </p:nvSpPr>
        <p:spPr>
          <a:xfrm>
            <a:off x="4612725" y="3948256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3200" dirty="0">
                <a:ea typeface="Black Han Sans" pitchFamily="2" charset="-127"/>
              </a:rPr>
              <a:t>02</a:t>
            </a:r>
            <a:endParaRPr sz="3200" dirty="0">
              <a:ea typeface="Black Han Sans" pitchFamily="2" charset="-127"/>
            </a:endParaRPr>
          </a:p>
        </p:txBody>
      </p:sp>
      <p:sp>
        <p:nvSpPr>
          <p:cNvPr id="217" name="Google Shape;217;p29"/>
          <p:cNvSpPr txBox="1">
            <a:spLocks noGrp="1"/>
          </p:cNvSpPr>
          <p:nvPr>
            <p:ph type="title" idx="4294967295"/>
          </p:nvPr>
        </p:nvSpPr>
        <p:spPr>
          <a:xfrm>
            <a:off x="8695919" y="3948261"/>
            <a:ext cx="1040800" cy="82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3200" dirty="0">
                <a:ea typeface="Black Han Sans" pitchFamily="2" charset="-127"/>
              </a:rPr>
              <a:t>04</a:t>
            </a:r>
            <a:endParaRPr sz="3200" dirty="0">
              <a:ea typeface="Black Han Sans" pitchFamily="2" charset="-127"/>
            </a:endParaRPr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4294967295"/>
          </p:nvPr>
        </p:nvSpPr>
        <p:spPr>
          <a:xfrm>
            <a:off x="1867525" y="2933348"/>
            <a:ext cx="32656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2400" dirty="0">
                <a:ea typeface="Black Han Sans" pitchFamily="2" charset="-127"/>
                <a:sym typeface="DM Sans SemiBold"/>
              </a:rPr>
              <a:t>프로젝트 기획</a:t>
            </a:r>
            <a:endParaRPr sz="2400" dirty="0">
              <a:ea typeface="Black Han Sans" pitchFamily="2" charset="-127"/>
              <a:sym typeface="DM Sans SemiBold"/>
            </a:endParaRPr>
          </a:p>
        </p:txBody>
      </p:sp>
      <p:sp>
        <p:nvSpPr>
          <p:cNvPr id="221" name="Google Shape;221;p29"/>
          <p:cNvSpPr txBox="1">
            <a:spLocks noGrp="1"/>
          </p:cNvSpPr>
          <p:nvPr>
            <p:ph type="subTitle" idx="4294967295"/>
          </p:nvPr>
        </p:nvSpPr>
        <p:spPr>
          <a:xfrm>
            <a:off x="3500313" y="4981056"/>
            <a:ext cx="32656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2400" dirty="0">
                <a:ea typeface="Black Han Sans" pitchFamily="2" charset="-127"/>
                <a:sym typeface="DM Sans SemiBold"/>
              </a:rPr>
              <a:t>시스템 설계 및 개발 환경</a:t>
            </a:r>
            <a:endParaRPr sz="2400" dirty="0">
              <a:ea typeface="Black Han Sans" pitchFamily="2" charset="-127"/>
              <a:sym typeface="DM Sans SemiBold"/>
            </a:endParaRPr>
          </a:p>
        </p:txBody>
      </p:sp>
      <p:sp>
        <p:nvSpPr>
          <p:cNvPr id="223" name="Google Shape;223;p29"/>
          <p:cNvSpPr txBox="1">
            <a:spLocks noGrp="1"/>
          </p:cNvSpPr>
          <p:nvPr>
            <p:ph type="subTitle" idx="4294967295"/>
          </p:nvPr>
        </p:nvSpPr>
        <p:spPr>
          <a:xfrm>
            <a:off x="5950695" y="2933343"/>
            <a:ext cx="32656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2400" dirty="0">
                <a:ea typeface="Black Han Sans" pitchFamily="2" charset="-127"/>
              </a:rPr>
              <a:t>프로젝트 구현 및 시연</a:t>
            </a:r>
            <a:endParaRPr sz="2400" dirty="0">
              <a:ea typeface="Black Han Sans" pitchFamily="2" charset="-127"/>
              <a:sym typeface="DM Sans SemiBold"/>
            </a:endParaRPr>
          </a:p>
        </p:txBody>
      </p:sp>
      <p:sp>
        <p:nvSpPr>
          <p:cNvPr id="224" name="Google Shape;224;p29"/>
          <p:cNvSpPr txBox="1">
            <a:spLocks noGrp="1"/>
          </p:cNvSpPr>
          <p:nvPr>
            <p:ph type="subTitle" idx="4294967295"/>
          </p:nvPr>
        </p:nvSpPr>
        <p:spPr>
          <a:xfrm>
            <a:off x="7583507" y="4981056"/>
            <a:ext cx="32656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ko-KR" altLang="en-US" sz="2400" dirty="0">
                <a:ea typeface="Black Han Sans" pitchFamily="2" charset="-127"/>
                <a:sym typeface="DM Sans SemiBold"/>
              </a:rPr>
              <a:t>프로젝트를 마치며</a:t>
            </a:r>
            <a:endParaRPr sz="2400" dirty="0">
              <a:ea typeface="Black Han Sans" pitchFamily="2" charset="-127"/>
              <a:sym typeface="DM Sans SemiBold"/>
            </a:endParaRPr>
          </a:p>
        </p:txBody>
      </p:sp>
      <p:cxnSp>
        <p:nvCxnSpPr>
          <p:cNvPr id="226" name="Google Shape;226;p29"/>
          <p:cNvCxnSpPr/>
          <p:nvPr/>
        </p:nvCxnSpPr>
        <p:spPr>
          <a:xfrm>
            <a:off x="2927525" y="2831748"/>
            <a:ext cx="1145600" cy="0"/>
          </a:xfrm>
          <a:prstGeom prst="straightConnector1">
            <a:avLst/>
          </a:prstGeom>
          <a:ln>
            <a:solidFill>
              <a:srgbClr val="0070C0"/>
            </a:solidFill>
            <a:headEnd type="oval" w="med" len="med"/>
            <a:tailEnd type="oval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7" name="Google Shape;227;p29"/>
          <p:cNvCxnSpPr/>
          <p:nvPr/>
        </p:nvCxnSpPr>
        <p:spPr>
          <a:xfrm>
            <a:off x="4560327" y="4879456"/>
            <a:ext cx="1145600" cy="0"/>
          </a:xfrm>
          <a:prstGeom prst="straightConnector1">
            <a:avLst/>
          </a:prstGeom>
          <a:ln>
            <a:solidFill>
              <a:srgbClr val="0070C0"/>
            </a:solidFill>
            <a:headEnd type="oval" w="med" len="med"/>
            <a:tailEnd type="oval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9" name="Google Shape;229;p29"/>
          <p:cNvCxnSpPr/>
          <p:nvPr/>
        </p:nvCxnSpPr>
        <p:spPr>
          <a:xfrm>
            <a:off x="7010695" y="2831743"/>
            <a:ext cx="1145600" cy="0"/>
          </a:xfrm>
          <a:prstGeom prst="straightConnector1">
            <a:avLst/>
          </a:prstGeom>
          <a:ln>
            <a:solidFill>
              <a:srgbClr val="0070C0"/>
            </a:solidFill>
            <a:headEnd type="oval" w="med" len="med"/>
            <a:tailEnd type="oval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0" name="Google Shape;230;p29"/>
          <p:cNvCxnSpPr/>
          <p:nvPr/>
        </p:nvCxnSpPr>
        <p:spPr>
          <a:xfrm>
            <a:off x="8643520" y="4879456"/>
            <a:ext cx="1145600" cy="0"/>
          </a:xfrm>
          <a:prstGeom prst="straightConnector1">
            <a:avLst/>
          </a:prstGeom>
          <a:ln>
            <a:solidFill>
              <a:srgbClr val="0070C0"/>
            </a:solidFill>
            <a:headEnd type="oval" w="med" len="med"/>
            <a:tailEnd type="oval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>
            <a:spLocks noGrp="1"/>
          </p:cNvSpPr>
          <p:nvPr>
            <p:ph type="title" idx="4294967295"/>
          </p:nvPr>
        </p:nvSpPr>
        <p:spPr>
          <a:xfrm>
            <a:off x="950967" y="1434300"/>
            <a:ext cx="5882400" cy="848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ko-KR" altLang="en-US" sz="3733" dirty="0">
                <a:ea typeface="Black Han Sans" pitchFamily="2" charset="-127"/>
              </a:rPr>
              <a:t>프로젝트 개요</a:t>
            </a:r>
            <a:endParaRPr sz="3733" dirty="0">
              <a:ea typeface="Black Han Sans" pitchFamily="2" charset="-127"/>
            </a:endParaRPr>
          </a:p>
        </p:txBody>
      </p:sp>
      <p:sp>
        <p:nvSpPr>
          <p:cNvPr id="258" name="Google Shape;258;p32"/>
          <p:cNvSpPr txBox="1">
            <a:spLocks noGrp="1"/>
          </p:cNvSpPr>
          <p:nvPr>
            <p:ph type="subTitle" idx="4294967295"/>
          </p:nvPr>
        </p:nvSpPr>
        <p:spPr>
          <a:xfrm>
            <a:off x="950967" y="2472867"/>
            <a:ext cx="10076835" cy="2950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ko-KR" altLang="en-US" sz="3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관리 시스템 </a:t>
            </a:r>
            <a:r>
              <a:rPr lang="en-US" altLang="ko-KR" sz="3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(Parking Management System)</a:t>
            </a:r>
          </a:p>
          <a:p>
            <a:pPr marL="203195" indent="0">
              <a:buNone/>
            </a:pPr>
            <a:endParaRPr lang="en-US" altLang="ko-KR" sz="3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03195" indent="0">
              <a:buNone/>
            </a:pPr>
            <a:r>
              <a:rPr lang="ko-KR" altLang="en-US" sz="3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웹 기반의 주차 관리 시스템으로</a:t>
            </a:r>
            <a:r>
              <a:rPr lang="en-US" altLang="ko-KR" sz="3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3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차량의 입</a:t>
            </a:r>
            <a:r>
              <a:rPr lang="en-US" altLang="ko-KR" sz="3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3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</a:t>
            </a:r>
            <a:r>
              <a:rPr lang="ko-KR" altLang="en-US" sz="3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및 </a:t>
            </a:r>
            <a:endParaRPr lang="en-US" altLang="ko-KR" sz="3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03195" indent="0">
              <a:buNone/>
            </a:pPr>
            <a:r>
              <a:rPr lang="ko-KR" altLang="en-US" sz="3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공간 현황</a:t>
            </a:r>
            <a:r>
              <a:rPr lang="en-US" altLang="ko-KR" sz="3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3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요금 정산</a:t>
            </a:r>
            <a:r>
              <a:rPr lang="en-US" altLang="ko-KR" sz="3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3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기록 관리를 효율적으로 </a:t>
            </a:r>
            <a:endParaRPr lang="en-US" altLang="ko-KR" sz="3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203195" indent="0">
              <a:buNone/>
            </a:pPr>
            <a:r>
              <a:rPr lang="ko-KR" altLang="en-US" sz="3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처리할 수 있는 관리자 중심의 시스템</a:t>
            </a:r>
          </a:p>
        </p:txBody>
      </p:sp>
      <p:pic>
        <p:nvPicPr>
          <p:cNvPr id="260" name="Google Shape;260;p32"/>
          <p:cNvPicPr preferRelativeResize="0"/>
          <p:nvPr/>
        </p:nvPicPr>
        <p:blipFill rotWithShape="1">
          <a:blip r:embed="rId3">
            <a:alphaModFix/>
          </a:blip>
          <a:srcRect l="32727" b="56097"/>
          <a:stretch/>
        </p:blipFill>
        <p:spPr>
          <a:xfrm>
            <a:off x="1" y="4885601"/>
            <a:ext cx="3704068" cy="19723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" name="Google Shape;261;p32"/>
          <p:cNvCxnSpPr/>
          <p:nvPr/>
        </p:nvCxnSpPr>
        <p:spPr>
          <a:xfrm>
            <a:off x="0" y="2380633"/>
            <a:ext cx="3060400" cy="0"/>
          </a:xfrm>
          <a:prstGeom prst="straightConnector1">
            <a:avLst/>
          </a:prstGeom>
          <a:ln>
            <a:solidFill>
              <a:srgbClr val="0070C0"/>
            </a:solidFill>
            <a:headEnd type="none" w="med" len="med"/>
            <a:tailEnd type="oval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>
            <a:spLocks noGrp="1"/>
          </p:cNvSpPr>
          <p:nvPr>
            <p:ph type="title" idx="4294967295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ko-KR" altLang="en-US" sz="3733" dirty="0">
                <a:ea typeface="Black Han Sans" pitchFamily="2" charset="-127"/>
              </a:rPr>
              <a:t>개발 목적</a:t>
            </a:r>
            <a:endParaRPr sz="3733" dirty="0">
              <a:ea typeface="Black Han Sans" pitchFamily="2" charset="-127"/>
            </a:endParaRPr>
          </a:p>
        </p:txBody>
      </p:sp>
      <p:sp>
        <p:nvSpPr>
          <p:cNvPr id="269" name="Google Shape;269;p33"/>
          <p:cNvSpPr txBox="1">
            <a:spLocks noGrp="1"/>
          </p:cNvSpPr>
          <p:nvPr>
            <p:ph type="subTitle" idx="4294967295"/>
          </p:nvPr>
        </p:nvSpPr>
        <p:spPr>
          <a:xfrm>
            <a:off x="960001" y="2206151"/>
            <a:ext cx="7879095" cy="273904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실시간 입</a:t>
            </a:r>
            <a:r>
              <a:rPr lang="en-US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  <a:r>
              <a:rPr lang="ko-KR" altLang="ko-KR" sz="2133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</a:t>
            </a:r>
            <a:r>
              <a:rPr lang="ko-KR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및 주차 공간 정보 관리</a:t>
            </a:r>
            <a:endParaRPr lang="en-US" altLang="ko-KR" sz="2133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2133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요금 설정 및 총 수익 통계 확인</a:t>
            </a:r>
            <a:endParaRPr lang="en-US" altLang="ko-KR" sz="2133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2133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회원 등록</a:t>
            </a:r>
            <a:r>
              <a:rPr lang="en-US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</a:t>
            </a:r>
            <a:r>
              <a:rPr lang="ko-KR" altLang="en-US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</a:t>
            </a:r>
            <a:r>
              <a:rPr lang="en-US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삭제 기능 제공</a:t>
            </a:r>
            <a:endParaRPr lang="en-US" altLang="ko-KR" sz="2133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2133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관리자 기능 통합으로 운영 효율성 향상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>
            <a:spLocks noGrp="1"/>
          </p:cNvSpPr>
          <p:nvPr>
            <p:ph type="title" idx="4294967295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ko-KR" altLang="en-US" sz="3733" dirty="0">
                <a:ea typeface="Black Han Sans" pitchFamily="2" charset="-127"/>
              </a:rPr>
              <a:t>주요 기능</a:t>
            </a:r>
            <a:endParaRPr sz="3733" dirty="0">
              <a:ea typeface="Black Han Sans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CFB2B2-47B8-38BA-1381-2C9757CB43C8}"/>
              </a:ext>
            </a:extLst>
          </p:cNvPr>
          <p:cNvSpPr txBox="1"/>
          <p:nvPr/>
        </p:nvSpPr>
        <p:spPr>
          <a:xfrm>
            <a:off x="960000" y="1787524"/>
            <a:ext cx="6096000" cy="3743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차량 입차 시 정보 및 입차 시간 등록</a:t>
            </a:r>
            <a:endParaRPr lang="en-US" altLang="ko-KR" sz="2133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2133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2133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</a:t>
            </a:r>
            <a:r>
              <a:rPr lang="ko-KR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 </a:t>
            </a:r>
            <a:r>
              <a:rPr lang="ko-KR" altLang="ko-KR" sz="2133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</a:t>
            </a:r>
            <a:r>
              <a:rPr lang="ko-KR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시간 기록 및 요금 계산</a:t>
            </a:r>
            <a:endParaRPr lang="en-US" altLang="ko-KR" sz="2133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2133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공간 현황 조회</a:t>
            </a:r>
            <a:endParaRPr lang="en-US" altLang="ko-KR" sz="2133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2133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관리자 로그인 및 요금 정책 수정</a:t>
            </a:r>
            <a:endParaRPr lang="en-US" altLang="ko-KR" sz="2133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2133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회원 등록, 수정, 삭제</a:t>
            </a:r>
            <a:endParaRPr lang="en-US" altLang="ko-KR" sz="2133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ko-KR" altLang="ko-KR" sz="2133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2133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기록 검색 및 수익 통계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/>
          <p:cNvSpPr txBox="1">
            <a:spLocks noGrp="1"/>
          </p:cNvSpPr>
          <p:nvPr>
            <p:ph type="title" idx="4294967295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ko-KR" altLang="en-US" sz="3733" dirty="0">
                <a:ea typeface="Black Han Sans" pitchFamily="2" charset="-127"/>
              </a:rPr>
              <a:t>개발 환경 및 기술 스택</a:t>
            </a:r>
            <a:endParaRPr sz="3733" dirty="0">
              <a:ea typeface="Black Han Sans" pitchFamily="2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00B17829-04ED-F4CB-708E-02DB7F81F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270905"/>
              </p:ext>
            </p:extLst>
          </p:nvPr>
        </p:nvGraphicFramePr>
        <p:xfrm>
          <a:off x="962527" y="1622654"/>
          <a:ext cx="9406655" cy="4656698"/>
        </p:xfrm>
        <a:graphic>
          <a:graphicData uri="http://schemas.openxmlformats.org/drawingml/2006/table">
            <a:tbl>
              <a:tblPr firstRow="1" bandRow="1"/>
              <a:tblGrid>
                <a:gridCol w="2458132">
                  <a:extLst>
                    <a:ext uri="{9D8B030D-6E8A-4147-A177-3AD203B41FA5}">
                      <a16:colId xmlns:a16="http://schemas.microsoft.com/office/drawing/2014/main" val="612240547"/>
                    </a:ext>
                  </a:extLst>
                </a:gridCol>
                <a:gridCol w="6948523">
                  <a:extLst>
                    <a:ext uri="{9D8B030D-6E8A-4147-A177-3AD203B41FA5}">
                      <a16:colId xmlns:a16="http://schemas.microsoft.com/office/drawing/2014/main" val="3026428147"/>
                    </a:ext>
                  </a:extLst>
                </a:gridCol>
              </a:tblGrid>
              <a:tr h="6667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프로그래밍 언어 및 플랫폼</a:t>
                      </a:r>
                    </a:p>
                  </a:txBody>
                  <a:tcPr marL="121920" marR="121920" marT="60960" marB="6096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Java 17</a:t>
                      </a:r>
                      <a:endParaRPr lang="ko-KR" altLang="en-US" sz="15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  <a:p>
                      <a:r>
                        <a:rPr lang="en-US" altLang="ko-KR" sz="15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Spring Boot 3.5.3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(Spring Framework 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기반 웹 애플리케이션 개발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47281496"/>
                  </a:ext>
                </a:extLst>
              </a:tr>
              <a:tr h="12502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웹 관련 기술</a:t>
                      </a:r>
                    </a:p>
                  </a:txBody>
                  <a:tcPr marL="121920" marR="121920" marT="60960" marB="6096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Spring MVC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(Controller, JSP 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연동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  <a:p>
                      <a:r>
                        <a:rPr lang="en-US" altLang="ko-KR" sz="15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JSP (Java Server Pages)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— 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뷰 템플릿</a:t>
                      </a:r>
                    </a:p>
                    <a:p>
                      <a:r>
                        <a:rPr lang="en-US" altLang="ko-KR" sz="15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JSTL (Jakarta Standard Tag Library)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— JSP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에서의 태그 라이브러리 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표현 및 반복 처리 등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  <a:p>
                      <a:r>
                        <a:rPr lang="en-US" altLang="ko-KR" sz="15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HTML/CSS/JavaScript (jQuery)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— </a:t>
                      </a:r>
                      <a:r>
                        <a:rPr lang="ko-KR" altLang="en-US" sz="15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프론트엔드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UI 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구현 및 동적 기능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422631872"/>
                  </a:ext>
                </a:extLst>
              </a:tr>
              <a:tr h="459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서버 및 배포</a:t>
                      </a:r>
                    </a:p>
                  </a:txBody>
                  <a:tcPr marL="121920" marR="121920" marT="60960" marB="6096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Spring Boot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의 내장 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Tomcat 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서버를 이용한 실행 구조</a:t>
                      </a:r>
                      <a:endParaRPr lang="en-US" altLang="ko-KR" sz="15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099751578"/>
                  </a:ext>
                </a:extLst>
              </a:tr>
              <a:tr h="6667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데이터베이스</a:t>
                      </a:r>
                    </a:p>
                  </a:txBody>
                  <a:tcPr marL="121920" marR="121920" marT="60960" marB="6096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Oracle Database XE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로컬 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Oracle DB, SID: </a:t>
                      </a:r>
                      <a:r>
                        <a:rPr lang="en-US" altLang="ko-KR" sz="15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xe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  <a:p>
                      <a:r>
                        <a:rPr lang="en-US" altLang="ko-KR" sz="15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Oracle JDBC Driver (ojdbc11)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— DB 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연동 드라이버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4159401227"/>
                  </a:ext>
                </a:extLst>
              </a:tr>
              <a:tr h="6667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SQL </a:t>
                      </a:r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매핑</a:t>
                      </a:r>
                    </a:p>
                  </a:txBody>
                  <a:tcPr marL="121920" marR="121920" marT="60960" marB="6096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b="1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MyBatis</a:t>
                      </a:r>
                      <a:r>
                        <a:rPr lang="en-US" altLang="ko-KR" sz="15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3.x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en-US" altLang="ko-KR" sz="15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MyBatis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-Spring-Boot-Starter 3.0.3)</a:t>
                      </a:r>
                    </a:p>
                    <a:p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XML Mapper 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파일로 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SQL 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쿼리 작성 및 매핑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55821896"/>
                  </a:ext>
                </a:extLst>
              </a:tr>
              <a:tr h="459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빌드 도구</a:t>
                      </a:r>
                    </a:p>
                  </a:txBody>
                  <a:tcPr marL="121920" marR="121920" marT="60960" marB="6096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Gradle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en-US" altLang="ko-KR" sz="15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build.gradle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사용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286443256"/>
                  </a:ext>
                </a:extLst>
              </a:tr>
              <a:tr h="4722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기타 라이브러리 및 툴</a:t>
                      </a:r>
                    </a:p>
                  </a:txBody>
                  <a:tcPr marL="121920" marR="121920" marT="60960" marB="6096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Lombok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(getter/setter, </a:t>
                      </a:r>
                      <a:r>
                        <a:rPr lang="ko-KR" altLang="en-US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생성자 자동 생성 등 코드 단축</a:t>
                      </a:r>
                      <a:r>
                        <a:rPr lang="en-US" altLang="ko-KR" sz="15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6563045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/>
          <p:cNvSpPr txBox="1">
            <a:spLocks noGrp="1"/>
          </p:cNvSpPr>
          <p:nvPr>
            <p:ph type="title" idx="4294967295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ko-KR" altLang="en-US" sz="3733" dirty="0">
                <a:ea typeface="Black Han Sans" pitchFamily="2" charset="-127"/>
              </a:rPr>
              <a:t>기대 효과</a:t>
            </a:r>
            <a:endParaRPr sz="3733" dirty="0">
              <a:ea typeface="Black Han Sans" pitchFamily="2" charset="-127"/>
            </a:endParaRPr>
          </a:p>
        </p:txBody>
      </p:sp>
      <p:sp>
        <p:nvSpPr>
          <p:cNvPr id="27" name="Google Shape;269;p33">
            <a:extLst>
              <a:ext uri="{FF2B5EF4-FFF2-40B4-BE49-F238E27FC236}">
                <a16:creationId xmlns:a16="http://schemas.microsoft.com/office/drawing/2014/main" id="{5F8E9E0C-94CE-B19E-E9C6-BA878108F52C}"/>
              </a:ext>
            </a:extLst>
          </p:cNvPr>
          <p:cNvSpPr txBox="1">
            <a:spLocks/>
          </p:cNvSpPr>
          <p:nvPr/>
        </p:nvSpPr>
        <p:spPr>
          <a:xfrm>
            <a:off x="960001" y="2206151"/>
            <a:ext cx="7879095" cy="273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2133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2133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공간 활용률 극대화</a:t>
            </a:r>
            <a:endParaRPr lang="en-US" altLang="ko-KR" sz="2133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2133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2133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2133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실시간 주차 현황 파악으로 빠른 대응</a:t>
            </a:r>
            <a:endParaRPr lang="en-US" altLang="ko-KR" sz="2133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2133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2133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2133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요금 통계 제공으로 운영 투명성 확보</a:t>
            </a:r>
            <a:endParaRPr lang="en-US" altLang="ko-KR" sz="2133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 sz="2133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2133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2133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관리자 업무 자동화로 효율성 향상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C6F94AA0-8548-E093-5C24-1310B6066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25CF5999-EA3A-5481-2004-F6F8A43127A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ko-KR" altLang="en-US" sz="3733" dirty="0">
                <a:ea typeface="Black Han Sans" pitchFamily="2" charset="-127"/>
              </a:rPr>
              <a:t>역할 분담</a:t>
            </a:r>
            <a:endParaRPr sz="3733" dirty="0">
              <a:ea typeface="Black Han Sans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1BC0748-5E40-F5DF-E8E6-8E5F87691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874478"/>
              </p:ext>
            </p:extLst>
          </p:nvPr>
        </p:nvGraphicFramePr>
        <p:xfrm>
          <a:off x="1088902" y="1629187"/>
          <a:ext cx="9409182" cy="4800000"/>
        </p:xfrm>
        <a:graphic>
          <a:graphicData uri="http://schemas.openxmlformats.org/drawingml/2006/table">
            <a:tbl>
              <a:tblPr firstRow="1" bandRow="1"/>
              <a:tblGrid>
                <a:gridCol w="2460659">
                  <a:extLst>
                    <a:ext uri="{9D8B030D-6E8A-4147-A177-3AD203B41FA5}">
                      <a16:colId xmlns:a16="http://schemas.microsoft.com/office/drawing/2014/main" val="2196451718"/>
                    </a:ext>
                  </a:extLst>
                </a:gridCol>
                <a:gridCol w="6948523">
                  <a:extLst>
                    <a:ext uri="{9D8B030D-6E8A-4147-A177-3AD203B41FA5}">
                      <a16:colId xmlns:a16="http://schemas.microsoft.com/office/drawing/2014/main" val="2283862287"/>
                    </a:ext>
                  </a:extLst>
                </a:gridCol>
              </a:tblGrid>
              <a:tr h="9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b="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안 성 호</a:t>
                      </a:r>
                    </a:p>
                  </a:txBody>
                  <a:tcPr marL="121920" marR="121920" marT="60960" marB="6096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1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출차</a:t>
                      </a:r>
                      <a:r>
                        <a:rPr lang="ko-KR" altLang="en-US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기능 구현</a:t>
                      </a:r>
                      <a:r>
                        <a:rPr lang="en-US" altLang="ko-KR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요금제 관리</a:t>
                      </a:r>
                      <a:r>
                        <a:rPr lang="en-US" altLang="ko-KR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관리자 관련 페이지 세션 처리</a:t>
                      </a:r>
                      <a:endParaRPr lang="en-US" altLang="ko-KR" sz="2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942433558"/>
                  </a:ext>
                </a:extLst>
              </a:tr>
              <a:tr h="9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b="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이 강 호</a:t>
                      </a:r>
                    </a:p>
                  </a:txBody>
                  <a:tcPr marL="121920" marR="121920" marT="60960" marB="6096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주차 기록</a:t>
                      </a:r>
                      <a:r>
                        <a:rPr lang="en-US" altLang="ko-KR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전체 </a:t>
                      </a:r>
                      <a:r>
                        <a:rPr lang="ko-KR" altLang="en-US" sz="21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페이징</a:t>
                      </a:r>
                      <a:r>
                        <a:rPr lang="ko-KR" altLang="en-US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처리</a:t>
                      </a:r>
                      <a:r>
                        <a:rPr lang="en-US" altLang="ko-KR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21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출차</a:t>
                      </a:r>
                      <a:r>
                        <a:rPr lang="ko-KR" altLang="en-US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시 결제 기능 구현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573886826"/>
                  </a:ext>
                </a:extLst>
              </a:tr>
              <a:tr h="9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b="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정 현 성</a:t>
                      </a:r>
                    </a:p>
                  </a:txBody>
                  <a:tcPr marL="121920" marR="121920" marT="60960" marB="6096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전체적인 </a:t>
                      </a:r>
                      <a:r>
                        <a:rPr lang="ko-KR" altLang="en-US" sz="21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프론트엔드</a:t>
                      </a:r>
                      <a:r>
                        <a:rPr lang="en-US" altLang="ko-KR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en-US" altLang="ko-KR" sz="2100" dirty="0" err="1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css</a:t>
                      </a:r>
                      <a:r>
                        <a:rPr lang="en-US" altLang="ko-KR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담당</a:t>
                      </a:r>
                      <a:endParaRPr lang="en-US" altLang="ko-KR" sz="2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1682209807"/>
                  </a:ext>
                </a:extLst>
              </a:tr>
              <a:tr h="9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b="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조 현 진</a:t>
                      </a:r>
                    </a:p>
                  </a:txBody>
                  <a:tcPr marL="121920" marR="121920" marT="60960" marB="6096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입차 기능</a:t>
                      </a:r>
                      <a:r>
                        <a:rPr lang="en-US" altLang="ko-KR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</a:t>
                      </a:r>
                      <a:r>
                        <a:rPr lang="ko-KR" altLang="en-US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 차량 조회 기능 구현</a:t>
                      </a:r>
                      <a:r>
                        <a:rPr lang="en-US" altLang="ko-KR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회원 관리 기능 구현</a:t>
                      </a:r>
                      <a:endParaRPr lang="en-US" altLang="ko-KR" sz="2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  <a:p>
                      <a:r>
                        <a:rPr lang="ko-KR" altLang="en-US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테이블 생성 및 전체적인 로직 검수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628657402"/>
                  </a:ext>
                </a:extLst>
              </a:tr>
              <a:tr h="9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b="0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최 원 경</a:t>
                      </a:r>
                    </a:p>
                  </a:txBody>
                  <a:tcPr marL="121920" marR="121920" marT="60960" marB="6096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메인 페이지</a:t>
                      </a:r>
                      <a:r>
                        <a:rPr lang="en-US" altLang="ko-KR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로그인 페이지 구현</a:t>
                      </a:r>
                      <a:r>
                        <a:rPr lang="en-US" altLang="ko-KR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2100" dirty="0"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주차 현황 보기 기능 구현</a:t>
                      </a:r>
                      <a:endParaRPr lang="en-US" altLang="ko-KR" sz="2100" dirty="0"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2387314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298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5970D97-AF72-9348-DC15-25EBD13D9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440704"/>
              </p:ext>
            </p:extLst>
          </p:nvPr>
        </p:nvGraphicFramePr>
        <p:xfrm>
          <a:off x="487218" y="241690"/>
          <a:ext cx="4500418" cy="700419"/>
        </p:xfrm>
        <a:graphic>
          <a:graphicData uri="http://schemas.openxmlformats.org/drawingml/2006/table">
            <a:tbl>
              <a:tblPr/>
              <a:tblGrid>
                <a:gridCol w="1072021">
                  <a:extLst>
                    <a:ext uri="{9D8B030D-6E8A-4147-A177-3AD203B41FA5}">
                      <a16:colId xmlns:a16="http://schemas.microsoft.com/office/drawing/2014/main" val="3622238643"/>
                    </a:ext>
                  </a:extLst>
                </a:gridCol>
                <a:gridCol w="3428397">
                  <a:extLst>
                    <a:ext uri="{9D8B030D-6E8A-4147-A177-3AD203B41FA5}">
                      <a16:colId xmlns:a16="http://schemas.microsoft.com/office/drawing/2014/main" val="2922147374"/>
                    </a:ext>
                  </a:extLst>
                </a:gridCol>
              </a:tblGrid>
              <a:tr h="233473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주차관리 시스템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016262"/>
                  </a:ext>
                </a:extLst>
              </a:tr>
              <a:tr h="233473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시작일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07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686475"/>
                  </a:ext>
                </a:extLst>
              </a:tr>
              <a:tr h="233473"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종료일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08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153383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F51DF81-FD66-1B0B-1047-D4C5D6109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00163"/>
              </p:ext>
            </p:extLst>
          </p:nvPr>
        </p:nvGraphicFramePr>
        <p:xfrm>
          <a:off x="487219" y="1330036"/>
          <a:ext cx="11122896" cy="5126184"/>
        </p:xfrm>
        <a:graphic>
          <a:graphicData uri="http://schemas.openxmlformats.org/drawingml/2006/table">
            <a:tbl>
              <a:tblPr/>
              <a:tblGrid>
                <a:gridCol w="1405927">
                  <a:extLst>
                    <a:ext uri="{9D8B030D-6E8A-4147-A177-3AD203B41FA5}">
                      <a16:colId xmlns:a16="http://schemas.microsoft.com/office/drawing/2014/main" val="3935614304"/>
                    </a:ext>
                  </a:extLst>
                </a:gridCol>
                <a:gridCol w="2263971">
                  <a:extLst>
                    <a:ext uri="{9D8B030D-6E8A-4147-A177-3AD203B41FA5}">
                      <a16:colId xmlns:a16="http://schemas.microsoft.com/office/drawing/2014/main" val="650589580"/>
                    </a:ext>
                  </a:extLst>
                </a:gridCol>
                <a:gridCol w="2236802">
                  <a:extLst>
                    <a:ext uri="{9D8B030D-6E8A-4147-A177-3AD203B41FA5}">
                      <a16:colId xmlns:a16="http://schemas.microsoft.com/office/drawing/2014/main" val="317428237"/>
                    </a:ext>
                  </a:extLst>
                </a:gridCol>
                <a:gridCol w="479963">
                  <a:extLst>
                    <a:ext uri="{9D8B030D-6E8A-4147-A177-3AD203B41FA5}">
                      <a16:colId xmlns:a16="http://schemas.microsoft.com/office/drawing/2014/main" val="959145823"/>
                    </a:ext>
                  </a:extLst>
                </a:gridCol>
                <a:gridCol w="479963">
                  <a:extLst>
                    <a:ext uri="{9D8B030D-6E8A-4147-A177-3AD203B41FA5}">
                      <a16:colId xmlns:a16="http://schemas.microsoft.com/office/drawing/2014/main" val="2339434803"/>
                    </a:ext>
                  </a:extLst>
                </a:gridCol>
                <a:gridCol w="479963">
                  <a:extLst>
                    <a:ext uri="{9D8B030D-6E8A-4147-A177-3AD203B41FA5}">
                      <a16:colId xmlns:a16="http://schemas.microsoft.com/office/drawing/2014/main" val="1645108444"/>
                    </a:ext>
                  </a:extLst>
                </a:gridCol>
                <a:gridCol w="163005">
                  <a:extLst>
                    <a:ext uri="{9D8B030D-6E8A-4147-A177-3AD203B41FA5}">
                      <a16:colId xmlns:a16="http://schemas.microsoft.com/office/drawing/2014/main" val="3833198192"/>
                    </a:ext>
                  </a:extLst>
                </a:gridCol>
                <a:gridCol w="258093">
                  <a:extLst>
                    <a:ext uri="{9D8B030D-6E8A-4147-A177-3AD203B41FA5}">
                      <a16:colId xmlns:a16="http://schemas.microsoft.com/office/drawing/2014/main" val="3048783379"/>
                    </a:ext>
                  </a:extLst>
                </a:gridCol>
                <a:gridCol w="258093">
                  <a:extLst>
                    <a:ext uri="{9D8B030D-6E8A-4147-A177-3AD203B41FA5}">
                      <a16:colId xmlns:a16="http://schemas.microsoft.com/office/drawing/2014/main" val="1255915435"/>
                    </a:ext>
                  </a:extLst>
                </a:gridCol>
                <a:gridCol w="258093">
                  <a:extLst>
                    <a:ext uri="{9D8B030D-6E8A-4147-A177-3AD203B41FA5}">
                      <a16:colId xmlns:a16="http://schemas.microsoft.com/office/drawing/2014/main" val="3550704788"/>
                    </a:ext>
                  </a:extLst>
                </a:gridCol>
                <a:gridCol w="258093">
                  <a:extLst>
                    <a:ext uri="{9D8B030D-6E8A-4147-A177-3AD203B41FA5}">
                      <a16:colId xmlns:a16="http://schemas.microsoft.com/office/drawing/2014/main" val="2751515569"/>
                    </a:ext>
                  </a:extLst>
                </a:gridCol>
                <a:gridCol w="258093">
                  <a:extLst>
                    <a:ext uri="{9D8B030D-6E8A-4147-A177-3AD203B41FA5}">
                      <a16:colId xmlns:a16="http://schemas.microsoft.com/office/drawing/2014/main" val="158906057"/>
                    </a:ext>
                  </a:extLst>
                </a:gridCol>
                <a:gridCol w="258093">
                  <a:extLst>
                    <a:ext uri="{9D8B030D-6E8A-4147-A177-3AD203B41FA5}">
                      <a16:colId xmlns:a16="http://schemas.microsoft.com/office/drawing/2014/main" val="1782532419"/>
                    </a:ext>
                  </a:extLst>
                </a:gridCol>
                <a:gridCol w="258093">
                  <a:extLst>
                    <a:ext uri="{9D8B030D-6E8A-4147-A177-3AD203B41FA5}">
                      <a16:colId xmlns:a16="http://schemas.microsoft.com/office/drawing/2014/main" val="611974594"/>
                    </a:ext>
                  </a:extLst>
                </a:gridCol>
                <a:gridCol w="258093">
                  <a:extLst>
                    <a:ext uri="{9D8B030D-6E8A-4147-A177-3AD203B41FA5}">
                      <a16:colId xmlns:a16="http://schemas.microsoft.com/office/drawing/2014/main" val="3776383851"/>
                    </a:ext>
                  </a:extLst>
                </a:gridCol>
                <a:gridCol w="258093">
                  <a:extLst>
                    <a:ext uri="{9D8B030D-6E8A-4147-A177-3AD203B41FA5}">
                      <a16:colId xmlns:a16="http://schemas.microsoft.com/office/drawing/2014/main" val="1414291720"/>
                    </a:ext>
                  </a:extLst>
                </a:gridCol>
                <a:gridCol w="258093">
                  <a:extLst>
                    <a:ext uri="{9D8B030D-6E8A-4147-A177-3AD203B41FA5}">
                      <a16:colId xmlns:a16="http://schemas.microsoft.com/office/drawing/2014/main" val="4178456332"/>
                    </a:ext>
                  </a:extLst>
                </a:gridCol>
                <a:gridCol w="258093">
                  <a:extLst>
                    <a:ext uri="{9D8B030D-6E8A-4147-A177-3AD203B41FA5}">
                      <a16:colId xmlns:a16="http://schemas.microsoft.com/office/drawing/2014/main" val="3733254082"/>
                    </a:ext>
                  </a:extLst>
                </a:gridCol>
                <a:gridCol w="258093">
                  <a:extLst>
                    <a:ext uri="{9D8B030D-6E8A-4147-A177-3AD203B41FA5}">
                      <a16:colId xmlns:a16="http://schemas.microsoft.com/office/drawing/2014/main" val="3889971057"/>
                    </a:ext>
                  </a:extLst>
                </a:gridCol>
                <a:gridCol w="258093">
                  <a:extLst>
                    <a:ext uri="{9D8B030D-6E8A-4147-A177-3AD203B41FA5}">
                      <a16:colId xmlns:a16="http://schemas.microsoft.com/office/drawing/2014/main" val="2102659792"/>
                    </a:ext>
                  </a:extLst>
                </a:gridCol>
                <a:gridCol w="258093">
                  <a:extLst>
                    <a:ext uri="{9D8B030D-6E8A-4147-A177-3AD203B41FA5}">
                      <a16:colId xmlns:a16="http://schemas.microsoft.com/office/drawing/2014/main" val="3127620950"/>
                    </a:ext>
                  </a:extLst>
                </a:gridCol>
              </a:tblGrid>
              <a:tr h="9364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업무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 업무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진척율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소요일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gridSpan="14"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7562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98920"/>
                  </a:ext>
                </a:extLst>
              </a:tr>
              <a:tr h="936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495355"/>
                  </a:ext>
                </a:extLst>
              </a:tr>
              <a:tr h="936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489812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주차관리 시스템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226920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1.1.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기획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154511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1.1.1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 분담 및 개발 방향 논의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50580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1.1.2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기능 정의 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입차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출차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요금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관리 등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507232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1.2.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설계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07661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1.2.1 DB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 설계 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705256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1.2.2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입차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출차 흐름 설계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27160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1.2.3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레이아웃 설계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538502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1.3.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프론트엔드 개발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291742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1.3.1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입차 시 주차 구역 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830634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1.3.2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 위치 조회 시 추차 구역 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857866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1.3.5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 현황 폼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543707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1.3.4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관리 폼 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검색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페이징 기능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364277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1.3.3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출차 시 결제 폼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462211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1.3.6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 기록 폼 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검색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페이징 기능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765553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1.3.7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 및 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CSS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 요소 검토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383987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1.4.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백엔드 개발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461836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1.4.1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입차 기능 구현 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차량번호 생성 포함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990144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1.4.2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출차 기능 구현 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요금 출력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 계산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180468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1.4.3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 위치 조회 기능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673253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1.4.4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요금제 계산 로직 및 요금제 수정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21053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1.4.5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 중복 입차 방지 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269053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1.4.6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정기권 적용 로직 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출차 시 무료 처리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8880170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1.4.7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기능 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(DB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224701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1.4.8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 기록 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(DB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990436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1.5.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 기능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730598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1.5.1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 로그인 및 메인 폼 구현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0625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1.5.2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 차량 기록 조회 및 검색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페이징 기능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092914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1.5.3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요금제 관리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67536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1.5.4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 현황에서 자리별 차량 이력 확인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437332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1.5.5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 등록 및 회원 관리 폼 구현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651219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1.6.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및 리팩토링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31850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1.6.1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요금 계산 오류 수정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021703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1.6.2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중복된 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MyBatis SQL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정리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175642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1.6.3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변수</a:t>
                      </a:r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메서드명 리팩토링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298862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1.6.4 UI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폼 화면 반응형 작업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53163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1.6.5 CSS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불필요 속성 정리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61037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1.7.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 및 보고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298866"/>
                  </a:ext>
                </a:extLst>
              </a:tr>
              <a:tr h="124237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1.7.1 </a:t>
                      </a:r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회의록 정리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00B05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4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75" marR="3975" marT="397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663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403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1583AD07-C908-F7A6-FD11-E2564B45A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>
            <a:extLst>
              <a:ext uri="{FF2B5EF4-FFF2-40B4-BE49-F238E27FC236}">
                <a16:creationId xmlns:a16="http://schemas.microsoft.com/office/drawing/2014/main" id="{96A880AD-28D5-9F03-FA12-1761C4112E2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ko-KR" altLang="en-US" sz="3733" dirty="0" err="1">
                <a:ea typeface="Black Han Sans" pitchFamily="2" charset="-127"/>
              </a:rPr>
              <a:t>유스케이스</a:t>
            </a:r>
            <a:r>
              <a:rPr lang="ko-KR" altLang="en-US" dirty="0">
                <a:ea typeface="Black Han Sans" pitchFamily="2" charset="-127"/>
              </a:rPr>
              <a:t> </a:t>
            </a:r>
            <a:r>
              <a:rPr lang="ko-KR" altLang="en-US" sz="3733" dirty="0">
                <a:ea typeface="Black Han Sans" pitchFamily="2" charset="-127"/>
              </a:rPr>
              <a:t>다이어그램</a:t>
            </a:r>
            <a:endParaRPr sz="3733" dirty="0">
              <a:ea typeface="Black Han Sans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3BB3F32-0AB6-33E9-7273-8AD162C19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382" y="1356967"/>
            <a:ext cx="7937237" cy="546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474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967C1C0E-F830-6860-B092-140312C99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>
            <a:extLst>
              <a:ext uri="{FF2B5EF4-FFF2-40B4-BE49-F238E27FC236}">
                <a16:creationId xmlns:a16="http://schemas.microsoft.com/office/drawing/2014/main" id="{BF3892A6-3ADB-0461-67E2-C0406E9AA99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ko-KR" altLang="en-US" sz="3733" dirty="0">
                <a:ea typeface="Black Han Sans" pitchFamily="2" charset="-127"/>
              </a:rPr>
              <a:t>모델링</a:t>
            </a:r>
            <a:r>
              <a:rPr lang="en-US" altLang="ko-KR" sz="3733" dirty="0">
                <a:ea typeface="Black Han Sans" pitchFamily="2" charset="-127"/>
              </a:rPr>
              <a:t>(</a:t>
            </a:r>
            <a:r>
              <a:rPr lang="ko-KR" altLang="en-US" sz="3733" dirty="0">
                <a:ea typeface="Black Han Sans" pitchFamily="2" charset="-127"/>
              </a:rPr>
              <a:t>논리</a:t>
            </a:r>
            <a:r>
              <a:rPr lang="en-US" altLang="ko-KR" sz="3733" dirty="0">
                <a:ea typeface="Black Han Sans" pitchFamily="2" charset="-127"/>
              </a:rPr>
              <a:t>)</a:t>
            </a:r>
            <a:endParaRPr sz="3733" dirty="0">
              <a:ea typeface="Black Han Sans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C2C585-14FD-5E35-5A00-FA0082E47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617" y="1570327"/>
            <a:ext cx="6931343" cy="437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00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D0909CD7-C11A-E412-612A-34D1711B6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8B32EA68-8520-296A-8D09-78A6047FBFC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ko-KR" altLang="en-US" sz="3733" dirty="0">
                <a:ea typeface="Black Han Sans" pitchFamily="2" charset="-127"/>
              </a:rPr>
              <a:t>모델링</a:t>
            </a:r>
            <a:r>
              <a:rPr lang="en-US" altLang="ko-KR" sz="3733" dirty="0">
                <a:ea typeface="Black Han Sans" pitchFamily="2" charset="-127"/>
              </a:rPr>
              <a:t>(</a:t>
            </a:r>
            <a:r>
              <a:rPr lang="ko-KR" altLang="en-US" sz="3733" dirty="0">
                <a:ea typeface="Black Han Sans" pitchFamily="2" charset="-127"/>
              </a:rPr>
              <a:t>물리</a:t>
            </a:r>
            <a:r>
              <a:rPr lang="en-US" altLang="ko-KR" sz="3733" dirty="0">
                <a:ea typeface="Black Han Sans" pitchFamily="2" charset="-127"/>
              </a:rPr>
              <a:t>)</a:t>
            </a:r>
            <a:endParaRPr sz="3733" dirty="0">
              <a:ea typeface="Black Han Sans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5F870E-A187-52BA-28B3-9DFE95743A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165" y="1249184"/>
            <a:ext cx="8548581" cy="519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754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F6B1635A-C567-643D-C7C7-4F1D17C42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>
            <a:extLst>
              <a:ext uri="{FF2B5EF4-FFF2-40B4-BE49-F238E27FC236}">
                <a16:creationId xmlns:a16="http://schemas.microsoft.com/office/drawing/2014/main" id="{1CCB47BD-FDB4-4417-A738-B089D00DB01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ko-KR" altLang="en-US" sz="3733" dirty="0">
                <a:ea typeface="Black Han Sans" pitchFamily="2" charset="-127"/>
              </a:rPr>
              <a:t>구조도</a:t>
            </a:r>
            <a:endParaRPr sz="3733" dirty="0">
              <a:ea typeface="Black Han Sans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E0AEC6-5BE9-F391-5FE4-7B7826C08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92" y="1608727"/>
            <a:ext cx="11358563" cy="465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35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>
            <a:extLst>
              <a:ext uri="{FF2B5EF4-FFF2-40B4-BE49-F238E27FC236}">
                <a16:creationId xmlns:a16="http://schemas.microsoft.com/office/drawing/2014/main" id="{3E42C1B1-594D-1CCF-CE7A-4CD856F1AA47}"/>
              </a:ext>
            </a:extLst>
          </p:cNvPr>
          <p:cNvSpPr txBox="1">
            <a:spLocks/>
          </p:cNvSpPr>
          <p:nvPr/>
        </p:nvSpPr>
        <p:spPr>
          <a:xfrm>
            <a:off x="1137945" y="220063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ko-KR" altLang="en-US" sz="3733" dirty="0">
                <a:ea typeface="Black Han Sans" pitchFamily="2" charset="-127"/>
              </a:rPr>
              <a:t>상세 기능 설명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1E3509-F32A-3CD5-553D-C53D13BCC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616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ADA7DF47-B344-2100-2109-AA5CD6338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D4A27-A35C-A779-312C-D08D5C703C4E}"/>
              </a:ext>
            </a:extLst>
          </p:cNvPr>
          <p:cNvSpPr txBox="1">
            <a:spLocks/>
          </p:cNvSpPr>
          <p:nvPr/>
        </p:nvSpPr>
        <p:spPr>
          <a:xfrm>
            <a:off x="839788" y="1257300"/>
            <a:ext cx="3932237" cy="1600200"/>
          </a:xfr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sz="4267" b="1" dirty="0">
                <a:latin typeface="+mj-ea"/>
                <a:ea typeface="+mj-ea"/>
              </a:rPr>
              <a:t>메인 페이지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D61D65-0FEE-149D-BD77-F3FF16E666F1}"/>
              </a:ext>
            </a:extLst>
          </p:cNvPr>
          <p:cNvSpPr txBox="1">
            <a:spLocks/>
          </p:cNvSpPr>
          <p:nvPr/>
        </p:nvSpPr>
        <p:spPr>
          <a:xfrm>
            <a:off x="839788" y="2057401"/>
            <a:ext cx="3932237" cy="3811588"/>
          </a:xfr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altLang="ko-KR" sz="1867" dirty="0"/>
          </a:p>
          <a:p>
            <a:endParaRPr lang="en-US" altLang="ko-KR" sz="1867" dirty="0"/>
          </a:p>
          <a:p>
            <a:endParaRPr lang="en-US" altLang="ko-KR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관리 시스템의 메인 페이지입니다</a:t>
            </a: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endParaRPr lang="en-US" altLang="ko-KR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이용자가 사용하는 화면이며 주차에 관련된 기능들을 넣었습니다</a:t>
            </a: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</a:p>
          <a:p>
            <a:endParaRPr lang="en-US" altLang="ko-KR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입차</a:t>
            </a: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8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</a:t>
            </a: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차량 조회로 세가지 버튼이 있습니다</a:t>
            </a: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endParaRPr lang="en-US" altLang="ko-KR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우선 입차 기능부터 살펴 보겠습니다</a:t>
            </a: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</p:txBody>
      </p:sp>
      <p:pic>
        <p:nvPicPr>
          <p:cNvPr id="20" name="그림 개체 틀 19">
            <a:extLst>
              <a:ext uri="{FF2B5EF4-FFF2-40B4-BE49-F238E27FC236}">
                <a16:creationId xmlns:a16="http://schemas.microsoft.com/office/drawing/2014/main" id="{154656B9-D0B4-0656-83FE-C27EF45E53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43" r="2743"/>
          <a:stretch/>
        </p:blipFill>
        <p:spPr>
          <a:xfrm>
            <a:off x="5183188" y="987426"/>
            <a:ext cx="6172200" cy="48736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6036613C-42FB-9CE1-F88E-CCDE79DFE0DF}"/>
              </a:ext>
            </a:extLst>
          </p:cNvPr>
          <p:cNvSpPr/>
          <p:nvPr/>
        </p:nvSpPr>
        <p:spPr>
          <a:xfrm rot="13220853">
            <a:off x="6941359" y="4601659"/>
            <a:ext cx="561071" cy="3549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5C849A1-32EB-0035-F125-FDCA68A90EAB}"/>
              </a:ext>
            </a:extLst>
          </p:cNvPr>
          <p:cNvSpPr/>
          <p:nvPr/>
        </p:nvSpPr>
        <p:spPr>
          <a:xfrm>
            <a:off x="7396681" y="4997513"/>
            <a:ext cx="2335795" cy="6813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마우스 오버 효과</a:t>
            </a:r>
          </a:p>
        </p:txBody>
      </p:sp>
    </p:spTree>
    <p:extLst>
      <p:ext uri="{BB962C8B-B14F-4D97-AF65-F5344CB8AC3E}">
        <p14:creationId xmlns:p14="http://schemas.microsoft.com/office/powerpoint/2010/main" val="1538559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B4823-9FDF-2674-855C-1B17886FE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20D63E-35C7-A80D-9E6F-B0DD614A5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차량 입차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5DC26C-1158-A73D-A072-097FE9F74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7946" y="2057400"/>
            <a:ext cx="3932239" cy="3803650"/>
          </a:xfrm>
        </p:spPr>
        <p:txBody>
          <a:bodyPr>
            <a:normAutofit/>
          </a:bodyPr>
          <a:lstStyle/>
          <a:p>
            <a:endParaRPr lang="en-US" altLang="ko-KR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입차 버튼을 부르면 이와 같이 화면이 </a:t>
            </a:r>
            <a:b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이동하게 됩니다</a:t>
            </a: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b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</a:br>
            <a:endParaRPr lang="en-US" altLang="ko-KR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차량 번호를 입력하는 창을 누르게 되면 </a:t>
            </a:r>
            <a:endParaRPr lang="en-US" altLang="ko-KR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무작위로 차량 번호가 됩니다</a:t>
            </a: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endParaRPr lang="en-US" altLang="ko-KR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차량 번호를 입력하고 </a:t>
            </a:r>
            <a:r>
              <a:rPr lang="ko-KR" altLang="en-US" sz="18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입차를</a:t>
            </a:r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누르면 주차 구역 화면으로 이동하게 됩니다</a:t>
            </a: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  <a:endParaRPr lang="ko-KR" altLang="en-US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8" name="그림 개체 틀 7">
            <a:extLst>
              <a:ext uri="{FF2B5EF4-FFF2-40B4-BE49-F238E27FC236}">
                <a16:creationId xmlns:a16="http://schemas.microsoft.com/office/drawing/2014/main" id="{98FBBC03-BC1B-03E7-6540-A763BBA1501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2" r="16052"/>
          <a:stretch>
            <a:fillRect/>
          </a:stretch>
        </p:blipFill>
        <p:spPr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55E6D57-57B2-2B44-4FB7-00505FEA7A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15" t="20795" r="26708" b="41465"/>
          <a:stretch>
            <a:fillRect/>
          </a:stretch>
        </p:blipFill>
        <p:spPr>
          <a:xfrm>
            <a:off x="4679590" y="4411609"/>
            <a:ext cx="3932239" cy="17085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3A1FA4A2-E56E-11BA-1E11-B8980E305EE5}"/>
              </a:ext>
            </a:extLst>
          </p:cNvPr>
          <p:cNvCxnSpPr/>
          <p:nvPr/>
        </p:nvCxnSpPr>
        <p:spPr>
          <a:xfrm rot="5400000">
            <a:off x="7078679" y="3520669"/>
            <a:ext cx="2093615" cy="19102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930EAA99-15F5-9EB9-EBD1-815AED958111}"/>
              </a:ext>
            </a:extLst>
          </p:cNvPr>
          <p:cNvSpPr/>
          <p:nvPr/>
        </p:nvSpPr>
        <p:spPr>
          <a:xfrm rot="12707023">
            <a:off x="9684255" y="3471175"/>
            <a:ext cx="612200" cy="3360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9DC7CF6-F006-2486-C7B2-159602562F7F}"/>
              </a:ext>
            </a:extLst>
          </p:cNvPr>
          <p:cNvSpPr/>
          <p:nvPr/>
        </p:nvSpPr>
        <p:spPr>
          <a:xfrm>
            <a:off x="9850170" y="3867680"/>
            <a:ext cx="2245183" cy="10030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마우스 오버 효과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색 변경 및 위로 뜨는 효과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75E43A2-712B-4CE3-13EB-48476B485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1879" y="3120174"/>
            <a:ext cx="927783" cy="608127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83E5686-B87B-66FB-77D3-F6A8D5FD9DC3}"/>
              </a:ext>
            </a:extLst>
          </p:cNvPr>
          <p:cNvCxnSpPr/>
          <p:nvPr/>
        </p:nvCxnSpPr>
        <p:spPr>
          <a:xfrm>
            <a:off x="10040217" y="3429000"/>
            <a:ext cx="4316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43815886-57E7-8D8A-3636-F1222709E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386" y="5635709"/>
            <a:ext cx="3507661" cy="10436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9E06087-7A54-4B58-49AB-944002686D28}"/>
              </a:ext>
            </a:extLst>
          </p:cNvPr>
          <p:cNvSpPr/>
          <p:nvPr/>
        </p:nvSpPr>
        <p:spPr>
          <a:xfrm>
            <a:off x="9641651" y="5128789"/>
            <a:ext cx="2326740" cy="78765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주차된 차량이 </a:t>
            </a:r>
            <a:br>
              <a:rPr lang="en-US" altLang="ko-KR" sz="1400" dirty="0"/>
            </a:br>
            <a:r>
              <a:rPr lang="ko-KR" altLang="en-US" sz="1400" dirty="0"/>
              <a:t>아닐 시 </a:t>
            </a:r>
            <a:r>
              <a:rPr lang="ko-KR" altLang="en-US" sz="1400" dirty="0" err="1"/>
              <a:t>얼럿창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29632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63F3A-CB0C-A7EC-8BD9-3AFFC8FD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FC7C2D-2F4E-415D-45A1-F0542B865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6223" y="1052650"/>
            <a:ext cx="10805311" cy="2453798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구역화면으로 들어오게 되면 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구역과 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구역으로 나뉜 주차 구역을 확인할 수 있으며 오른쪽 상단에 주차 가능 공간을 띄워서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주차가 용이할 수 있도록 만들었습니다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현재 주차되어 있는 구역은 빨간색으로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되어있지 않은 공간은 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초록색으로 디자인했습니다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주차할 공간을 클릭하게 되면 </a:t>
            </a:r>
            <a:r>
              <a:rPr lang="ko-KR" altLang="en-US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얼럿창으로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확인을 통해 주차하게 됩니다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3587EE8-DA98-E3D7-79BF-209ED101D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315" y="149383"/>
            <a:ext cx="3932237" cy="692056"/>
          </a:xfrm>
        </p:spPr>
        <p:txBody>
          <a:bodyPr/>
          <a:lstStyle/>
          <a:p>
            <a:r>
              <a:rPr lang="ko-KR" altLang="en-US" b="1" dirty="0"/>
              <a:t>주차 구역 선택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542D134-4085-9509-962A-664A6B567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6" t="-108" r="10594" b="23247"/>
          <a:stretch>
            <a:fillRect/>
          </a:stretch>
        </p:blipFill>
        <p:spPr>
          <a:xfrm>
            <a:off x="2217433" y="2102069"/>
            <a:ext cx="9759635" cy="45137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200A45F-75E1-32EE-4EA5-961FBDFDCF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9"/>
          <a:stretch>
            <a:fillRect/>
          </a:stretch>
        </p:blipFill>
        <p:spPr>
          <a:xfrm>
            <a:off x="104195" y="5363662"/>
            <a:ext cx="4272359" cy="13717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6F7D3BAE-1918-5D01-905A-DCB2B09FF9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2755" y="5388379"/>
            <a:ext cx="4229691" cy="12955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4E63F7AB-99B1-F5C2-E283-226554501D30}"/>
              </a:ext>
            </a:extLst>
          </p:cNvPr>
          <p:cNvSpPr/>
          <p:nvPr/>
        </p:nvSpPr>
        <p:spPr>
          <a:xfrm>
            <a:off x="4516017" y="5943601"/>
            <a:ext cx="836739" cy="3452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34659A2-0196-5054-2C33-40E0EAFC029E}"/>
              </a:ext>
            </a:extLst>
          </p:cNvPr>
          <p:cNvSpPr/>
          <p:nvPr/>
        </p:nvSpPr>
        <p:spPr>
          <a:xfrm>
            <a:off x="7187021" y="3723548"/>
            <a:ext cx="1590392" cy="6130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A45</a:t>
            </a:r>
            <a:r>
              <a:rPr lang="ko-KR" altLang="en-US" sz="1400" dirty="0"/>
              <a:t>에 주차</a:t>
            </a:r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2CD0BFF5-D878-79CF-6B9C-93AE887BD43A}"/>
              </a:ext>
            </a:extLst>
          </p:cNvPr>
          <p:cNvCxnSpPr/>
          <p:nvPr/>
        </p:nvCxnSpPr>
        <p:spPr>
          <a:xfrm rot="10800000" flipV="1">
            <a:off x="6581869" y="4155542"/>
            <a:ext cx="605152" cy="4979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848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ED0F1-1C2D-7B73-D5B9-CAC43FAB2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1D6545-CB6C-75F7-FDE9-8CD178A4E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차량 조회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F12D76-DF52-F156-1FB9-584E419D4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두 번째 기능은 주차한 차량을 위치를 </a:t>
            </a:r>
            <a:endParaRPr lang="en-US" altLang="ko-KR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조회할 수 있는 차량 조회 기능입니다</a:t>
            </a: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</p:txBody>
      </p:sp>
      <p:pic>
        <p:nvPicPr>
          <p:cNvPr id="12" name="그림 개체 틀 11">
            <a:extLst>
              <a:ext uri="{FF2B5EF4-FFF2-40B4-BE49-F238E27FC236}">
                <a16:creationId xmlns:a16="http://schemas.microsoft.com/office/drawing/2014/main" id="{D7AF0215-4746-3E6F-AAC7-07B07F5CC06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730" r="2730"/>
          <a:stretch/>
        </p:blipFill>
        <p:spPr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B7B30AD-DC6D-C343-5F0C-132E3C0C94DE}"/>
              </a:ext>
            </a:extLst>
          </p:cNvPr>
          <p:cNvSpPr/>
          <p:nvPr/>
        </p:nvSpPr>
        <p:spPr>
          <a:xfrm>
            <a:off x="8827129" y="4997515"/>
            <a:ext cx="2335795" cy="6813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마우스 오버 효과</a:t>
            </a: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622FCF60-A828-6FE4-BB97-A68B2998FD45}"/>
              </a:ext>
            </a:extLst>
          </p:cNvPr>
          <p:cNvSpPr/>
          <p:nvPr/>
        </p:nvSpPr>
        <p:spPr>
          <a:xfrm rot="14050541">
            <a:off x="9846773" y="4465163"/>
            <a:ext cx="593731" cy="3679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1375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7F607-85F9-E4A8-CD00-2590CC5C2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EA149E-042A-6F5E-33C4-5B1E188A4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차량 조회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6E4F8CC-D83B-E116-C0F3-7EE4A512A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4365" y="2304029"/>
            <a:ext cx="3932237" cy="3811588"/>
          </a:xfrm>
        </p:spPr>
        <p:txBody>
          <a:bodyPr/>
          <a:lstStyle/>
          <a:p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주차한 차량의 </a:t>
            </a:r>
            <a:r>
              <a:rPr lang="ko-KR" altLang="en-US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뒷번호를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입력하게 되면 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뒷번호가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같은 차량들 중 자신의 차량을 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선택하여 차량 위치를 조회할 수 있습니다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2182D29-DFBD-8D75-D620-3848573D3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959" y="154610"/>
            <a:ext cx="6843611" cy="29670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AB069A6-F8BC-2E00-0CC9-81325F388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821" y="3841469"/>
            <a:ext cx="6506483" cy="20195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1A974006-B26C-A507-B363-CAFD7F285151}"/>
              </a:ext>
            </a:extLst>
          </p:cNvPr>
          <p:cNvSpPr/>
          <p:nvPr/>
        </p:nvSpPr>
        <p:spPr>
          <a:xfrm rot="5400000">
            <a:off x="8222658" y="3156961"/>
            <a:ext cx="814812" cy="7215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47CFC5C-0060-F8DB-E820-59FE02BFD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9743" y="5711156"/>
            <a:ext cx="6115904" cy="10478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9975E09-B12C-709B-7658-40BDFFD09B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5561" y="2943467"/>
            <a:ext cx="1186483" cy="608853"/>
          </a:xfrm>
          <a:prstGeom prst="rect">
            <a:avLst/>
          </a:prstGeom>
        </p:spPr>
      </p:pic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0B402A02-5CD9-4BFB-EA7C-3EE0A9445551}"/>
              </a:ext>
            </a:extLst>
          </p:cNvPr>
          <p:cNvSpPr/>
          <p:nvPr/>
        </p:nvSpPr>
        <p:spPr>
          <a:xfrm rot="13780650">
            <a:off x="11124244" y="3309244"/>
            <a:ext cx="506995" cy="344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DEF2025-AA70-D982-5E8F-8C18ABC09F36}"/>
              </a:ext>
            </a:extLst>
          </p:cNvPr>
          <p:cNvSpPr/>
          <p:nvPr/>
        </p:nvSpPr>
        <p:spPr>
          <a:xfrm>
            <a:off x="10750738" y="2181886"/>
            <a:ext cx="1441263" cy="7882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마우스 </a:t>
            </a:r>
            <a:br>
              <a:rPr lang="en-US" altLang="ko-KR" sz="1400" dirty="0"/>
            </a:br>
            <a:r>
              <a:rPr lang="ko-KR" altLang="en-US" sz="1400" dirty="0"/>
              <a:t>오버 효과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D6E5968-B7E4-7D18-F718-48A74809E2FE}"/>
              </a:ext>
            </a:extLst>
          </p:cNvPr>
          <p:cNvCxnSpPr/>
          <p:nvPr/>
        </p:nvCxnSpPr>
        <p:spPr>
          <a:xfrm>
            <a:off x="8990839" y="5441133"/>
            <a:ext cx="4338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7320E16-B91F-D23F-E83F-A4A9CCEDD3B1}"/>
              </a:ext>
            </a:extLst>
          </p:cNvPr>
          <p:cNvCxnSpPr/>
          <p:nvPr/>
        </p:nvCxnSpPr>
        <p:spPr>
          <a:xfrm>
            <a:off x="9424657" y="5441134"/>
            <a:ext cx="0" cy="1013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C17B455-4527-09E1-436F-022234B7D877}"/>
              </a:ext>
            </a:extLst>
          </p:cNvPr>
          <p:cNvCxnSpPr/>
          <p:nvPr/>
        </p:nvCxnSpPr>
        <p:spPr>
          <a:xfrm flipH="1">
            <a:off x="7722607" y="6455121"/>
            <a:ext cx="17020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499A164-4EA6-1A15-B34B-F7F867E4B348}"/>
              </a:ext>
            </a:extLst>
          </p:cNvPr>
          <p:cNvSpPr/>
          <p:nvPr/>
        </p:nvSpPr>
        <p:spPr>
          <a:xfrm>
            <a:off x="9904493" y="5776112"/>
            <a:ext cx="2113207" cy="67901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마우스 오버 효과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E10F78D-2B76-6436-B4E2-61BFFD31E982}"/>
              </a:ext>
            </a:extLst>
          </p:cNvPr>
          <p:cNvCxnSpPr/>
          <p:nvPr/>
        </p:nvCxnSpPr>
        <p:spPr>
          <a:xfrm>
            <a:off x="10420539" y="2553078"/>
            <a:ext cx="199176" cy="390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4CE94130-240E-9B5A-8020-8917563899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552321"/>
            <a:ext cx="4388400" cy="13057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79D7B9E-5529-D02D-F4FE-5A9DF21B4EEB}"/>
              </a:ext>
            </a:extLst>
          </p:cNvPr>
          <p:cNvCxnSpPr/>
          <p:nvPr/>
        </p:nvCxnSpPr>
        <p:spPr>
          <a:xfrm flipH="1">
            <a:off x="3141553" y="2553077"/>
            <a:ext cx="6762939" cy="1502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5D21446-B3C1-52F0-1D58-B1D90F1BC9EC}"/>
              </a:ext>
            </a:extLst>
          </p:cNvPr>
          <p:cNvSpPr/>
          <p:nvPr/>
        </p:nvSpPr>
        <p:spPr>
          <a:xfrm>
            <a:off x="1370187" y="4267544"/>
            <a:ext cx="2326740" cy="78765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주차된 차량이 </a:t>
            </a:r>
            <a:br>
              <a:rPr lang="en-US" altLang="ko-KR" sz="1400" dirty="0"/>
            </a:br>
            <a:r>
              <a:rPr lang="ko-KR" altLang="en-US" sz="1400" dirty="0"/>
              <a:t>아닐 시 </a:t>
            </a:r>
            <a:r>
              <a:rPr lang="ko-KR" altLang="en-US" sz="1400" dirty="0" err="1"/>
              <a:t>얼럿창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77245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CC5F0-F02B-CB59-5E06-F4DCF6358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C8CBE-077E-BD16-0AE1-CD00BB3E1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330" y="-180991"/>
            <a:ext cx="3932237" cy="1600200"/>
          </a:xfrm>
        </p:spPr>
        <p:txBody>
          <a:bodyPr/>
          <a:lstStyle/>
          <a:p>
            <a:r>
              <a:rPr lang="ko-KR" altLang="en-US" b="1" dirty="0"/>
              <a:t>차량 조회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CD781C7-F8D9-CFAC-C50C-7C8057467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418" y="2321074"/>
            <a:ext cx="8020591" cy="41974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D00722B-43F9-D404-F6D6-DC960858E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4276" y="3144981"/>
            <a:ext cx="3273727" cy="3180597"/>
          </a:xfrm>
        </p:spPr>
        <p:txBody>
          <a:bodyPr/>
          <a:lstStyle/>
          <a:p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주차한 차량의 번호를 선택하면 상단에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자신의 차량 번호와 차량 위치까지 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알려주는 문구가 나타나며 주차 구역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 자신이 주차한 구역에 파란색으로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표시가 됩니다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26A1D7A-A6E5-A422-59A6-833F75705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967" y="5826666"/>
            <a:ext cx="740143" cy="638671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8642019-D694-B3AD-236D-82EF3774F1B7}"/>
              </a:ext>
            </a:extLst>
          </p:cNvPr>
          <p:cNvCxnSpPr>
            <a:cxnSpLocks/>
          </p:cNvCxnSpPr>
          <p:nvPr/>
        </p:nvCxnSpPr>
        <p:spPr>
          <a:xfrm flipV="1">
            <a:off x="8212191" y="6146001"/>
            <a:ext cx="515351" cy="109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55C2001-C010-0375-5B41-4C0FFA834138}"/>
              </a:ext>
            </a:extLst>
          </p:cNvPr>
          <p:cNvSpPr/>
          <p:nvPr/>
        </p:nvSpPr>
        <p:spPr>
          <a:xfrm>
            <a:off x="8636556" y="4839838"/>
            <a:ext cx="2480649" cy="9868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홈 버튼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ko-KR" altLang="en-US" sz="1400" dirty="0"/>
              <a:t>메인 페이지로 이동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6C71D13-B00F-F593-9BA6-B0D8D09E51EE}"/>
              </a:ext>
            </a:extLst>
          </p:cNvPr>
          <p:cNvSpPr/>
          <p:nvPr/>
        </p:nvSpPr>
        <p:spPr>
          <a:xfrm>
            <a:off x="9476183" y="5887630"/>
            <a:ext cx="2057932" cy="60428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마우스 오버 효과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BE7F1FA-45E3-9D2C-38BF-EEAAA45FCE5E}"/>
              </a:ext>
            </a:extLst>
          </p:cNvPr>
          <p:cNvCxnSpPr/>
          <p:nvPr/>
        </p:nvCxnSpPr>
        <p:spPr>
          <a:xfrm flipH="1">
            <a:off x="8102851" y="5450186"/>
            <a:ext cx="508116" cy="695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40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31D0F-AB47-87FA-C0B0-B8C06159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6DA3B5-947D-69E5-0405-1E4764649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차량 </a:t>
            </a:r>
            <a:r>
              <a:rPr lang="ko-KR" altLang="en-US" b="1" dirty="0" err="1"/>
              <a:t>출차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92AF88-F1F1-33BE-2139-DB1C0CBEF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이용자의 마지막 기능으로</a:t>
            </a:r>
            <a:endParaRPr lang="en-US" altLang="ko-KR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차량 </a:t>
            </a:r>
            <a:r>
              <a:rPr lang="ko-KR" altLang="en-US" sz="18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</a:t>
            </a:r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기능을 살펴보겠습니다</a:t>
            </a: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</p:txBody>
      </p:sp>
      <p:pic>
        <p:nvPicPr>
          <p:cNvPr id="9" name="그림 개체 틀 8">
            <a:extLst>
              <a:ext uri="{FF2B5EF4-FFF2-40B4-BE49-F238E27FC236}">
                <a16:creationId xmlns:a16="http://schemas.microsoft.com/office/drawing/2014/main" id="{A16323B0-C85E-E9E7-CDF6-CFE6C7998CB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272" r="3272"/>
          <a:stretch/>
        </p:blipFill>
        <p:spPr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B797EA41-D4E3-B7AF-DCD6-32DED6D4C2FE}"/>
              </a:ext>
            </a:extLst>
          </p:cNvPr>
          <p:cNvSpPr/>
          <p:nvPr/>
        </p:nvSpPr>
        <p:spPr>
          <a:xfrm rot="12939862">
            <a:off x="8487118" y="4441930"/>
            <a:ext cx="610423" cy="4466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F44B9C8-E74E-F80D-DA4D-FAFEC9BE231C}"/>
              </a:ext>
            </a:extLst>
          </p:cNvPr>
          <p:cNvSpPr/>
          <p:nvPr/>
        </p:nvSpPr>
        <p:spPr>
          <a:xfrm>
            <a:off x="9016417" y="4961304"/>
            <a:ext cx="2335795" cy="6813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마우스 오버 효과</a:t>
            </a:r>
          </a:p>
        </p:txBody>
      </p:sp>
    </p:spTree>
    <p:extLst>
      <p:ext uri="{BB962C8B-B14F-4D97-AF65-F5344CB8AC3E}">
        <p14:creationId xmlns:p14="http://schemas.microsoft.com/office/powerpoint/2010/main" val="3756206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07F60-3A88-CD27-0142-D300C1807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그림 53">
            <a:extLst>
              <a:ext uri="{FF2B5EF4-FFF2-40B4-BE49-F238E27FC236}">
                <a16:creationId xmlns:a16="http://schemas.microsoft.com/office/drawing/2014/main" id="{277015B0-F09B-9AB2-1CB6-9814AA0D0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325" y="81891"/>
            <a:ext cx="4290252" cy="18450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AB23740-B270-7F35-D915-7B0E7F7ED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차량 </a:t>
            </a:r>
            <a:r>
              <a:rPr lang="ko-KR" altLang="en-US" b="1" dirty="0" err="1"/>
              <a:t>출차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3FAF32-B244-AAC7-E65F-91780E6D9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8142" y="1790523"/>
            <a:ext cx="4312482" cy="3585041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sz="18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</a:t>
            </a:r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버튼을 눌러 차량 </a:t>
            </a:r>
            <a:r>
              <a:rPr lang="ko-KR" altLang="en-US" sz="18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</a:t>
            </a:r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화면으로</a:t>
            </a:r>
            <a:endParaRPr lang="en-US" altLang="ko-KR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이동하게 되면 차량 조회와 마찬가지로</a:t>
            </a:r>
            <a:endParaRPr lang="en-US" altLang="ko-KR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8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뒷번호</a:t>
            </a:r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8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네자리를</a:t>
            </a:r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눌러서 자신의 차량을</a:t>
            </a:r>
            <a:endParaRPr lang="en-US" altLang="ko-KR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선택하도록 되어 있습니다</a:t>
            </a: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endParaRPr lang="en-US" altLang="ko-KR" dirty="0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ED1A3ECA-57E0-1E41-284C-8E120D5FE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40915" y="1613274"/>
            <a:ext cx="6172200" cy="4873625"/>
          </a:xfrm>
        </p:spPr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06BCF5F-77A2-330E-D7FD-39048BFA6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857" y="2872572"/>
            <a:ext cx="3793595" cy="11775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60241D2-8094-2586-D2D2-58B50F48B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987" y="4995679"/>
            <a:ext cx="4290251" cy="7350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화살표: 아래쪽 13">
            <a:extLst>
              <a:ext uri="{FF2B5EF4-FFF2-40B4-BE49-F238E27FC236}">
                <a16:creationId xmlns:a16="http://schemas.microsoft.com/office/drawing/2014/main" id="{3D9E0A00-5D6D-9EA3-84D8-4E566276C242}"/>
              </a:ext>
            </a:extLst>
          </p:cNvPr>
          <p:cNvSpPr/>
          <p:nvPr/>
        </p:nvSpPr>
        <p:spPr>
          <a:xfrm>
            <a:off x="8075159" y="4178160"/>
            <a:ext cx="381824" cy="6216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A2D5DDC-C18F-62DA-5216-0C065677B07B}"/>
              </a:ext>
            </a:extLst>
          </p:cNvPr>
          <p:cNvSpPr/>
          <p:nvPr/>
        </p:nvSpPr>
        <p:spPr>
          <a:xfrm>
            <a:off x="8770141" y="4050087"/>
            <a:ext cx="2130233" cy="8809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마우스 오버 시 </a:t>
            </a:r>
            <a:br>
              <a:rPr lang="en-US" altLang="ko-KR" sz="1400" dirty="0"/>
            </a:br>
            <a:r>
              <a:rPr lang="ko-KR" altLang="en-US" sz="1400" dirty="0"/>
              <a:t>색 변화</a:t>
            </a:r>
            <a:endParaRPr lang="en-US" altLang="ko-KR" sz="1400" dirty="0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0858D642-8583-77BC-6FEE-88CD644549E5}"/>
              </a:ext>
            </a:extLst>
          </p:cNvPr>
          <p:cNvSpPr/>
          <p:nvPr/>
        </p:nvSpPr>
        <p:spPr>
          <a:xfrm rot="5400000">
            <a:off x="7964717" y="2307951"/>
            <a:ext cx="602791" cy="3817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D0961595-E19A-1F97-58E5-2176DD7F53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116" b="8388"/>
          <a:stretch>
            <a:fillRect/>
          </a:stretch>
        </p:blipFill>
        <p:spPr>
          <a:xfrm>
            <a:off x="10257577" y="1123911"/>
            <a:ext cx="950615" cy="562596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7994A7-B302-EA49-B202-6726EC33F6BE}"/>
              </a:ext>
            </a:extLst>
          </p:cNvPr>
          <p:cNvSpPr/>
          <p:nvPr/>
        </p:nvSpPr>
        <p:spPr>
          <a:xfrm>
            <a:off x="10257576" y="457201"/>
            <a:ext cx="1647731" cy="7643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마우스 </a:t>
            </a:r>
            <a:br>
              <a:rPr lang="en-US" altLang="ko-KR" sz="1400" dirty="0"/>
            </a:br>
            <a:r>
              <a:rPr lang="ko-KR" altLang="en-US" sz="1400" dirty="0"/>
              <a:t>오버 효과</a:t>
            </a: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D101A90B-73F4-A369-A4B9-683E1A09709B}"/>
              </a:ext>
            </a:extLst>
          </p:cNvPr>
          <p:cNvSpPr/>
          <p:nvPr/>
        </p:nvSpPr>
        <p:spPr>
          <a:xfrm rot="13684908">
            <a:off x="9410673" y="1481513"/>
            <a:ext cx="344032" cy="2170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A2CBB27-E998-E93D-6745-706C10F70A4E}"/>
              </a:ext>
            </a:extLst>
          </p:cNvPr>
          <p:cNvCxnSpPr/>
          <p:nvPr/>
        </p:nvCxnSpPr>
        <p:spPr>
          <a:xfrm>
            <a:off x="8573632" y="1420020"/>
            <a:ext cx="3802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9E2C01E8-8926-AFC3-1A6D-6666D9B0B7DF}"/>
              </a:ext>
            </a:extLst>
          </p:cNvPr>
          <p:cNvCxnSpPr/>
          <p:nvPr/>
        </p:nvCxnSpPr>
        <p:spPr>
          <a:xfrm>
            <a:off x="8953877" y="1420021"/>
            <a:ext cx="0" cy="2409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A098DDC1-3926-DD15-A19F-3D7AA797728F}"/>
              </a:ext>
            </a:extLst>
          </p:cNvPr>
          <p:cNvCxnSpPr/>
          <p:nvPr/>
        </p:nvCxnSpPr>
        <p:spPr>
          <a:xfrm flipH="1">
            <a:off x="8456983" y="3829616"/>
            <a:ext cx="4968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7F09072-4E87-F8DC-8277-4EAD6A199AF7}"/>
              </a:ext>
            </a:extLst>
          </p:cNvPr>
          <p:cNvCxnSpPr/>
          <p:nvPr/>
        </p:nvCxnSpPr>
        <p:spPr>
          <a:xfrm>
            <a:off x="9759986" y="1420020"/>
            <a:ext cx="4975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250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AAD24-023E-7854-37A8-BB2142910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AA7E27-77EB-F011-39C3-BBC869176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차량 </a:t>
            </a:r>
            <a:r>
              <a:rPr lang="ko-KR" altLang="en-US" b="1" dirty="0" err="1"/>
              <a:t>출차</a:t>
            </a:r>
            <a:endParaRPr lang="ko-KR" altLang="en-US" b="1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86ACB4-1A0A-3D09-C114-BFDED84B1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768180"/>
            <a:ext cx="3932237" cy="1748829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결제 버튼을 누르게 되면 </a:t>
            </a:r>
            <a:r>
              <a:rPr lang="ko-KR" altLang="en-US" sz="18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얼럿창으로</a:t>
            </a:r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endParaRPr lang="en-US" altLang="ko-KR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결제 완료 알림이 뜨게 되며 </a:t>
            </a:r>
            <a:r>
              <a:rPr lang="ko-KR" altLang="en-US" sz="18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출차가</a:t>
            </a:r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endParaRPr lang="en-US" altLang="ko-KR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완료되게 됩니다</a:t>
            </a: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2F1E5F9-9F0C-B131-5599-61BF7A959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405" y="437233"/>
            <a:ext cx="4834572" cy="20393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FF9FDE2-3F9E-D130-BDC9-A0381493A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791" y="3429001"/>
            <a:ext cx="4267796" cy="13622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6121AD7-9AAD-B3FC-DCE3-3E1FBF891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6953" y="2768181"/>
            <a:ext cx="1009791" cy="323895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441A1E-F68E-42C8-2E1A-C70C1F0C188C}"/>
              </a:ext>
            </a:extLst>
          </p:cNvPr>
          <p:cNvSpPr/>
          <p:nvPr/>
        </p:nvSpPr>
        <p:spPr>
          <a:xfrm>
            <a:off x="9836908" y="1985565"/>
            <a:ext cx="1972936" cy="739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마우스 오버 시</a:t>
            </a:r>
            <a:r>
              <a:rPr lang="en-US" altLang="ko-KR" sz="1400" dirty="0"/>
              <a:t> </a:t>
            </a:r>
            <a:r>
              <a:rPr lang="ko-KR" altLang="en-US" sz="1400" dirty="0"/>
              <a:t>진해지는 효과</a:t>
            </a:r>
          </a:p>
        </p:txBody>
      </p:sp>
      <p:sp>
        <p:nvSpPr>
          <p:cNvPr id="21" name="화살표: 아래쪽 20">
            <a:extLst>
              <a:ext uri="{FF2B5EF4-FFF2-40B4-BE49-F238E27FC236}">
                <a16:creationId xmlns:a16="http://schemas.microsoft.com/office/drawing/2014/main" id="{0DEED905-FC7D-D074-61F3-46F18DC9E0EE}"/>
              </a:ext>
            </a:extLst>
          </p:cNvPr>
          <p:cNvSpPr/>
          <p:nvPr/>
        </p:nvSpPr>
        <p:spPr>
          <a:xfrm>
            <a:off x="8551398" y="2511719"/>
            <a:ext cx="406583" cy="7774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6C3F0FC-EF3D-DA8C-3790-46A8B86C4983}"/>
              </a:ext>
            </a:extLst>
          </p:cNvPr>
          <p:cNvCxnSpPr/>
          <p:nvPr/>
        </p:nvCxnSpPr>
        <p:spPr>
          <a:xfrm>
            <a:off x="9116842" y="2281473"/>
            <a:ext cx="490111" cy="486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447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DF0C5E-7DB3-2BDE-9F02-3B57D3583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메인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6CEE2038-4454-44DF-775B-E9BE174AD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6" y="2736195"/>
            <a:ext cx="5653135" cy="340249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6DB800-1F8A-6E28-EAE2-BF2E8052E66C}"/>
              </a:ext>
            </a:extLst>
          </p:cNvPr>
          <p:cNvSpPr txBox="1"/>
          <p:nvPr/>
        </p:nvSpPr>
        <p:spPr>
          <a:xfrm>
            <a:off x="838200" y="1490053"/>
            <a:ext cx="6980197" cy="827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관리자 페이지에서는 주차 현황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기록을 조회할 수 있고 주차 요금에 대한 </a:t>
            </a:r>
            <a:endParaRPr lang="en-US" altLang="ko-KR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요금 변경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정기권 회원에 대한 회원 관리가 가능합니다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E9F85A58-0AF5-DEBF-4B9A-2AA76BEF81CB}"/>
              </a:ext>
            </a:extLst>
          </p:cNvPr>
          <p:cNvCxnSpPr/>
          <p:nvPr/>
        </p:nvCxnSpPr>
        <p:spPr>
          <a:xfrm flipV="1">
            <a:off x="5988867" y="3054119"/>
            <a:ext cx="1729212" cy="12923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496CA2B-F53D-95DE-8428-A69237F650A8}"/>
              </a:ext>
            </a:extLst>
          </p:cNvPr>
          <p:cNvSpPr txBox="1">
            <a:spLocks/>
          </p:cNvSpPr>
          <p:nvPr/>
        </p:nvSpPr>
        <p:spPr>
          <a:xfrm>
            <a:off x="7818397" y="2736195"/>
            <a:ext cx="2191533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마우스 오버 시 버튼의 색과 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포인터의 모양 변화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9173D34-FDB8-19EF-C354-FF8918289D79}"/>
              </a:ext>
            </a:extLst>
          </p:cNvPr>
          <p:cNvCxnSpPr/>
          <p:nvPr/>
        </p:nvCxnSpPr>
        <p:spPr>
          <a:xfrm>
            <a:off x="3916218" y="5329383"/>
            <a:ext cx="38018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50CCFA3-56F4-F84E-698F-5D74926C3C2E}"/>
              </a:ext>
            </a:extLst>
          </p:cNvPr>
          <p:cNvSpPr txBox="1">
            <a:spLocks/>
          </p:cNvSpPr>
          <p:nvPr/>
        </p:nvSpPr>
        <p:spPr>
          <a:xfrm>
            <a:off x="7818397" y="4740225"/>
            <a:ext cx="2690997" cy="12033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세션으로 저장되어 있던 관리자의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정보를 초기화하여 로그인 상태를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로그아웃 상태로 변화 후</a:t>
            </a:r>
            <a:r>
              <a:rPr lang="en-US" altLang="ko-KR" sz="1200" dirty="0"/>
              <a:t>, </a:t>
            </a:r>
            <a:r>
              <a:rPr lang="ko-KR" altLang="en-US" sz="1200" dirty="0"/>
              <a:t>시스템의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메인 화면으로 이동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563963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14502-3C8F-84E2-26CD-E37F42A89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60A79CFD-DC6F-4729-2285-019DE39DA8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77590"/>
            <a:ext cx="4729549" cy="2657908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AF2BF6F-2D54-C1DC-DEC0-46B443BA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주차 현황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99F4E1-E834-06AC-D8C6-4C33C3FA3939}"/>
              </a:ext>
            </a:extLst>
          </p:cNvPr>
          <p:cNvSpPr txBox="1"/>
          <p:nvPr/>
        </p:nvSpPr>
        <p:spPr>
          <a:xfrm>
            <a:off x="838200" y="1490053"/>
            <a:ext cx="7237491" cy="1211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현황 페이지에서는 현재 주차되어 있는 차량들에 대한 주차 현황을 조회할 수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</a:p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있습니다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각 주차 구역은 클릭 시 </a:t>
            </a:r>
            <a:r>
              <a:rPr lang="ko-KR" altLang="en-US" sz="16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모달창을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이용하여 해당 구역에 대한 주차 기록을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</a:p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열람할 수 있도록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기능하고 있습니다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83422F5-75A7-A2D7-E7C4-758ED7000305}"/>
              </a:ext>
            </a:extLst>
          </p:cNvPr>
          <p:cNvCxnSpPr>
            <a:cxnSpLocks/>
          </p:cNvCxnSpPr>
          <p:nvPr/>
        </p:nvCxnSpPr>
        <p:spPr>
          <a:xfrm>
            <a:off x="5412581" y="5649995"/>
            <a:ext cx="11710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059AE4E-2829-2384-A47B-94E4CBF2334B}"/>
              </a:ext>
            </a:extLst>
          </p:cNvPr>
          <p:cNvSpPr txBox="1">
            <a:spLocks/>
          </p:cNvSpPr>
          <p:nvPr/>
        </p:nvSpPr>
        <p:spPr>
          <a:xfrm>
            <a:off x="6858277" y="5463052"/>
            <a:ext cx="1554269" cy="3520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이전 페이지로 이동</a:t>
            </a:r>
            <a:endParaRPr lang="en-US" altLang="ko-KR" sz="120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9F50FCA8-8498-2566-10EE-AE1146F18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253" y="2761962"/>
            <a:ext cx="3848456" cy="2162752"/>
          </a:xfrm>
          <a:prstGeom prst="rect">
            <a:avLst/>
          </a:prstGeom>
        </p:spPr>
      </p:pic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E801098-4FE4-F47E-2ACB-F21288D5FD37}"/>
              </a:ext>
            </a:extLst>
          </p:cNvPr>
          <p:cNvCxnSpPr>
            <a:cxnSpLocks/>
          </p:cNvCxnSpPr>
          <p:nvPr/>
        </p:nvCxnSpPr>
        <p:spPr>
          <a:xfrm>
            <a:off x="4623284" y="3731665"/>
            <a:ext cx="18889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67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71F9A-2880-E9D0-2621-A413B069D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C2263-585F-8AEE-9664-5B0A9140E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주차 기록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B4E696-3489-9EF0-76CB-B8AEBDBE1943}"/>
              </a:ext>
            </a:extLst>
          </p:cNvPr>
          <p:cNvSpPr txBox="1"/>
          <p:nvPr/>
        </p:nvSpPr>
        <p:spPr>
          <a:xfrm>
            <a:off x="838200" y="1490053"/>
            <a:ext cx="7502236" cy="1958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기록 페이지는 모든 주차 기록을 조회할 수 있는 페이지로 </a:t>
            </a:r>
            <a:r>
              <a:rPr lang="ko-KR" altLang="en-US" sz="16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페이징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처리가 이루어져 </a:t>
            </a:r>
            <a:endParaRPr lang="en-US" altLang="ko-KR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있습니다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뿐만 아니라 검색 기능을 포함시켜 원하는 정보를 조회할 수 있도록 기능을 </a:t>
            </a:r>
            <a:endParaRPr lang="en-US" altLang="ko-KR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구현하였습니다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각 주차기록은 차량에 대한 입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·</a:t>
            </a:r>
            <a:r>
              <a:rPr lang="ko-KR" altLang="en-US" sz="16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출차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시간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정산 금액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구역을 표시하도록 하였습니다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pPr>
              <a:lnSpc>
                <a:spcPts val="3000"/>
              </a:lnSpc>
            </a:pPr>
            <a:r>
              <a:rPr lang="ko-KR" altLang="en-US" sz="1400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B88F3E-0C4A-BA6B-EE12-7343C72C6365}"/>
              </a:ext>
            </a:extLst>
          </p:cNvPr>
          <p:cNvSpPr txBox="1">
            <a:spLocks/>
          </p:cNvSpPr>
          <p:nvPr/>
        </p:nvSpPr>
        <p:spPr>
          <a:xfrm>
            <a:off x="838200" y="3439939"/>
            <a:ext cx="1609825" cy="3520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검색 조건 설정 가능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D7991B-8C07-AF67-C4A4-F4D368FA7F75}"/>
              </a:ext>
            </a:extLst>
          </p:cNvPr>
          <p:cNvSpPr txBox="1">
            <a:spLocks/>
          </p:cNvSpPr>
          <p:nvPr/>
        </p:nvSpPr>
        <p:spPr>
          <a:xfrm>
            <a:off x="8134098" y="4207576"/>
            <a:ext cx="3591788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입차 시간 </a:t>
            </a:r>
            <a:r>
              <a:rPr lang="en-US" altLang="ko-KR" sz="1200" dirty="0"/>
              <a:t>· </a:t>
            </a:r>
            <a:r>
              <a:rPr lang="ko-KR" altLang="en-US" sz="1200" dirty="0" err="1"/>
              <a:t>출차</a:t>
            </a:r>
            <a:r>
              <a:rPr lang="ko-KR" altLang="en-US" sz="1200" dirty="0"/>
              <a:t> 시간에 대한 오름차순</a:t>
            </a:r>
            <a:r>
              <a:rPr lang="en-US" altLang="ko-KR" sz="1200" dirty="0"/>
              <a:t>, </a:t>
            </a:r>
            <a:r>
              <a:rPr lang="ko-KR" altLang="en-US" sz="1200" dirty="0"/>
              <a:t>내림차순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정렬 기능 구현</a:t>
            </a:r>
            <a:endParaRPr lang="en-US" altLang="ko-KR" sz="1200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E206CB6-C261-6B0B-2438-C87A80394C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884" y="3191110"/>
            <a:ext cx="4748896" cy="2668781"/>
          </a:xfr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2A91598-4F37-9CFD-CC49-DBB7CD6650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087" y="3973524"/>
            <a:ext cx="1416050" cy="511639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F755F6B-1D38-FC00-144F-FD72B088A18E}"/>
              </a:ext>
            </a:extLst>
          </p:cNvPr>
          <p:cNvCxnSpPr/>
          <p:nvPr/>
        </p:nvCxnSpPr>
        <p:spPr>
          <a:xfrm flipH="1">
            <a:off x="2521527" y="3611418"/>
            <a:ext cx="22998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EC30037-02E2-3883-F175-FBBD622497BA}"/>
              </a:ext>
            </a:extLst>
          </p:cNvPr>
          <p:cNvCxnSpPr/>
          <p:nvPr/>
        </p:nvCxnSpPr>
        <p:spPr>
          <a:xfrm>
            <a:off x="1644073" y="4572000"/>
            <a:ext cx="0" cy="240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EFC31FAD-05E3-4274-860B-68249F5E4C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087" y="5702551"/>
            <a:ext cx="1416050" cy="49219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EAD962E-9879-EA9E-CD08-E3D96C9DEC39}"/>
              </a:ext>
            </a:extLst>
          </p:cNvPr>
          <p:cNvSpPr txBox="1">
            <a:spLocks/>
          </p:cNvSpPr>
          <p:nvPr/>
        </p:nvSpPr>
        <p:spPr>
          <a:xfrm>
            <a:off x="838200" y="4898982"/>
            <a:ext cx="2449706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입차 시간</a:t>
            </a:r>
            <a:r>
              <a:rPr lang="en-US" altLang="ko-KR" sz="1200" dirty="0"/>
              <a:t>/</a:t>
            </a:r>
            <a:r>
              <a:rPr lang="ko-KR" altLang="en-US" sz="1200" dirty="0" err="1"/>
              <a:t>출차</a:t>
            </a:r>
            <a:r>
              <a:rPr lang="ko-KR" altLang="en-US" sz="1200" dirty="0"/>
              <a:t> 시간</a:t>
            </a:r>
            <a:r>
              <a:rPr lang="en-US" altLang="ko-KR" sz="1200" dirty="0"/>
              <a:t> </a:t>
            </a:r>
            <a:r>
              <a:rPr lang="ko-KR" altLang="en-US" sz="1200" dirty="0"/>
              <a:t>선택 시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 err="1"/>
              <a:t>플레이스</a:t>
            </a:r>
            <a:r>
              <a:rPr lang="ko-KR" altLang="en-US" sz="1200" dirty="0"/>
              <a:t> 홀더로 입력 형식 안내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6129E26A-4AF7-993A-FD95-3DCDF3E27B8F}"/>
              </a:ext>
            </a:extLst>
          </p:cNvPr>
          <p:cNvCxnSpPr>
            <a:cxnSpLocks/>
          </p:cNvCxnSpPr>
          <p:nvPr/>
        </p:nvCxnSpPr>
        <p:spPr>
          <a:xfrm>
            <a:off x="6059488" y="4051300"/>
            <a:ext cx="1979612" cy="474200"/>
          </a:xfrm>
          <a:prstGeom prst="bentConnector3">
            <a:avLst>
              <a:gd name="adj1" fmla="val 2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30561BE5-2C0B-2328-365C-60CE4AEEE9B0}"/>
              </a:ext>
            </a:extLst>
          </p:cNvPr>
          <p:cNvCxnSpPr>
            <a:cxnSpLocks/>
          </p:cNvCxnSpPr>
          <p:nvPr/>
        </p:nvCxnSpPr>
        <p:spPr>
          <a:xfrm>
            <a:off x="5843905" y="3831392"/>
            <a:ext cx="2195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52D63F3-C26A-5CAE-6D5C-2300C4525B93}"/>
              </a:ext>
            </a:extLst>
          </p:cNvPr>
          <p:cNvSpPr txBox="1">
            <a:spLocks/>
          </p:cNvSpPr>
          <p:nvPr/>
        </p:nvSpPr>
        <p:spPr>
          <a:xfrm>
            <a:off x="8134098" y="3647082"/>
            <a:ext cx="3786614" cy="3520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전체</a:t>
            </a:r>
            <a:r>
              <a:rPr lang="en-US" altLang="ko-KR" sz="1200" dirty="0"/>
              <a:t> </a:t>
            </a:r>
            <a:r>
              <a:rPr lang="ko-KR" altLang="en-US" sz="1200" dirty="0"/>
              <a:t>주차 기록에 대한 기록 개수</a:t>
            </a:r>
            <a:r>
              <a:rPr lang="en-US" altLang="ko-KR" sz="1200" dirty="0"/>
              <a:t>, </a:t>
            </a:r>
            <a:r>
              <a:rPr lang="ko-KR" altLang="en-US" sz="1200" dirty="0"/>
              <a:t>총 수익 금액 출력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2224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B017A-F802-582C-8E5C-1C91940A3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3037790-1205-31A9-D5AA-D74EFB4FC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681" y="3678678"/>
            <a:ext cx="6332522" cy="2464947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6F6FDA7-8092-7014-D2E9-F312A6A1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주차 기록</a:t>
            </a:r>
            <a:r>
              <a:rPr lang="en-US" altLang="ko-KR" sz="3200" b="1" dirty="0">
                <a:solidFill>
                  <a:srgbClr val="4472C4"/>
                </a:solidFill>
              </a:rPr>
              <a:t>(</a:t>
            </a:r>
            <a:r>
              <a:rPr lang="ko-KR" altLang="en-US" sz="3200" b="1" dirty="0">
                <a:solidFill>
                  <a:srgbClr val="4472C4"/>
                </a:solidFill>
              </a:rPr>
              <a:t>검색</a:t>
            </a:r>
            <a:r>
              <a:rPr lang="en-US" altLang="ko-KR" sz="3200" b="1" dirty="0">
                <a:solidFill>
                  <a:srgbClr val="4472C4"/>
                </a:solidFill>
              </a:rPr>
              <a:t>)</a:t>
            </a:r>
            <a:endParaRPr lang="ko-KR" altLang="en-US" sz="3200" b="1" dirty="0">
              <a:solidFill>
                <a:srgbClr val="4472C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611F3-684A-5427-2D4F-46F0181B9CA1}"/>
              </a:ext>
            </a:extLst>
          </p:cNvPr>
          <p:cNvSpPr txBox="1"/>
          <p:nvPr/>
        </p:nvSpPr>
        <p:spPr>
          <a:xfrm>
            <a:off x="838200" y="1490053"/>
            <a:ext cx="7502236" cy="827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기록 페이지에서 검색 기능을 이용할 경우 출력되는 정보와 기능은 모두 검색 정보에</a:t>
            </a:r>
            <a:endParaRPr lang="en-US" altLang="ko-KR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기반하여 작용되도록 만들었습니다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EBA989-97E6-0EBC-318A-4F42D605AFD4}"/>
              </a:ext>
            </a:extLst>
          </p:cNvPr>
          <p:cNvSpPr txBox="1">
            <a:spLocks/>
          </p:cNvSpPr>
          <p:nvPr/>
        </p:nvSpPr>
        <p:spPr>
          <a:xfrm>
            <a:off x="1025636" y="3084072"/>
            <a:ext cx="3157680" cy="3520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검색 기능을 통해 차량번호 </a:t>
            </a:r>
            <a:r>
              <a:rPr lang="en-US" altLang="ko-KR" sz="1200" dirty="0"/>
              <a:t>‘1234’ </a:t>
            </a:r>
            <a:r>
              <a:rPr lang="ko-KR" altLang="en-US" sz="1200" dirty="0"/>
              <a:t>검색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13DDE594-AEEB-6A4B-A038-5AFE577AAE24}"/>
              </a:ext>
            </a:extLst>
          </p:cNvPr>
          <p:cNvCxnSpPr>
            <a:cxnSpLocks/>
          </p:cNvCxnSpPr>
          <p:nvPr/>
        </p:nvCxnSpPr>
        <p:spPr>
          <a:xfrm flipV="1">
            <a:off x="7543800" y="3429000"/>
            <a:ext cx="0" cy="807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3F05E33-F992-616B-77C0-D60907779780}"/>
              </a:ext>
            </a:extLst>
          </p:cNvPr>
          <p:cNvSpPr txBox="1">
            <a:spLocks/>
          </p:cNvSpPr>
          <p:nvPr/>
        </p:nvSpPr>
        <p:spPr>
          <a:xfrm>
            <a:off x="6195579" y="2687363"/>
            <a:ext cx="2696442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검색된</a:t>
            </a:r>
            <a:r>
              <a:rPr lang="en-US" altLang="ko-KR" sz="1200" dirty="0"/>
              <a:t> </a:t>
            </a:r>
            <a:r>
              <a:rPr lang="ko-KR" altLang="en-US" sz="1200" dirty="0"/>
              <a:t>주차 기록에 대한 기록 개수</a:t>
            </a:r>
            <a:r>
              <a:rPr lang="en-US" altLang="ko-KR" sz="1200" dirty="0"/>
              <a:t>,</a:t>
            </a:r>
          </a:p>
          <a:p>
            <a:pPr>
              <a:lnSpc>
                <a:spcPts val="2000"/>
              </a:lnSpc>
            </a:pPr>
            <a:r>
              <a:rPr lang="ko-KR" altLang="en-US" sz="1200" dirty="0"/>
              <a:t>총 수익 금액 출력</a:t>
            </a:r>
            <a:endParaRPr lang="en-US" altLang="ko-KR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487D535-22B2-9954-81E3-766776CE25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636" y="3541585"/>
            <a:ext cx="3157680" cy="662576"/>
          </a:xfrm>
          <a:prstGeom prst="rect">
            <a:avLst/>
          </a:prstGeom>
        </p:spPr>
      </p:pic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C2355C80-68A6-B38D-B905-01C3D1121A3E}"/>
              </a:ext>
            </a:extLst>
          </p:cNvPr>
          <p:cNvCxnSpPr/>
          <p:nvPr/>
        </p:nvCxnSpPr>
        <p:spPr>
          <a:xfrm>
            <a:off x="2314575" y="4236055"/>
            <a:ext cx="1676400" cy="631220"/>
          </a:xfrm>
          <a:prstGeom prst="bentConnector3">
            <a:avLst>
              <a:gd name="adj1" fmla="val 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4032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553E7-A966-6C7A-2C06-1337C4BD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54D0F-2E89-F665-A32A-77D8DB58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요금 변경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E157B6-BFF0-9F31-5378-8EAE5E44F5D9}"/>
              </a:ext>
            </a:extLst>
          </p:cNvPr>
          <p:cNvSpPr txBox="1"/>
          <p:nvPr/>
        </p:nvSpPr>
        <p:spPr>
          <a:xfrm>
            <a:off x="838200" y="1490053"/>
            <a:ext cx="7959436" cy="1211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요금 변경 페이지에서는 주차장을 이용하는 고객에 대한 요금 정산 방식을 설정할 수 있습니다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 요금을 정산하는 변수들에 대한 테이블을 따로 제작하여 쿼리문을 통해 수정이 가능하며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</a:p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관리자로 하여금 요금 정산 방식을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쉽게 수정할 수 있도록 만들었습니다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520D25-CD85-7487-E00F-558FF0BB8978}"/>
              </a:ext>
            </a:extLst>
          </p:cNvPr>
          <p:cNvSpPr txBox="1">
            <a:spLocks/>
          </p:cNvSpPr>
          <p:nvPr/>
        </p:nvSpPr>
        <p:spPr>
          <a:xfrm>
            <a:off x="7837447" y="3561256"/>
            <a:ext cx="2975857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입차 시 예외 없이 발생하는 기본요금에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대해 설정할 수 있습니다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970DD40-6881-FEA3-00B5-A1E828689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039" y="2915437"/>
            <a:ext cx="2690997" cy="3459075"/>
          </a:xfr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39A550F-23A1-9D83-84DB-88FA50B5BFCF}"/>
              </a:ext>
            </a:extLst>
          </p:cNvPr>
          <p:cNvCxnSpPr/>
          <p:nvPr/>
        </p:nvCxnSpPr>
        <p:spPr>
          <a:xfrm>
            <a:off x="6873240" y="3867150"/>
            <a:ext cx="922297" cy="0"/>
          </a:xfrm>
          <a:prstGeom prst="line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6089BC8-D346-677F-18E4-0C6C1350FCC0}"/>
              </a:ext>
            </a:extLst>
          </p:cNvPr>
          <p:cNvCxnSpPr/>
          <p:nvPr/>
        </p:nvCxnSpPr>
        <p:spPr>
          <a:xfrm>
            <a:off x="4368800" y="5127625"/>
            <a:ext cx="922297" cy="0"/>
          </a:xfrm>
          <a:prstGeom prst="line">
            <a:avLst/>
          </a:prstGeom>
          <a:ln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A858242-DDDD-B4F5-2FEF-0B46A4F58B16}"/>
              </a:ext>
            </a:extLst>
          </p:cNvPr>
          <p:cNvCxnSpPr/>
          <p:nvPr/>
        </p:nvCxnSpPr>
        <p:spPr>
          <a:xfrm>
            <a:off x="6854190" y="5549900"/>
            <a:ext cx="922297" cy="0"/>
          </a:xfrm>
          <a:prstGeom prst="line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DCBE651-94D6-1E94-FBDB-2B7C8B8FF2C3}"/>
              </a:ext>
            </a:extLst>
          </p:cNvPr>
          <p:cNvCxnSpPr/>
          <p:nvPr/>
        </p:nvCxnSpPr>
        <p:spPr>
          <a:xfrm>
            <a:off x="4368800" y="4286250"/>
            <a:ext cx="922297" cy="0"/>
          </a:xfrm>
          <a:prstGeom prst="line">
            <a:avLst/>
          </a:prstGeom>
          <a:ln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64A57CD-F5F3-59E8-C8D1-1F81F0BBCC62}"/>
              </a:ext>
            </a:extLst>
          </p:cNvPr>
          <p:cNvCxnSpPr/>
          <p:nvPr/>
        </p:nvCxnSpPr>
        <p:spPr>
          <a:xfrm>
            <a:off x="6854190" y="4708475"/>
            <a:ext cx="922297" cy="0"/>
          </a:xfrm>
          <a:prstGeom prst="line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F9C7342-7340-F3CE-59C3-10D7B13C8836}"/>
              </a:ext>
            </a:extLst>
          </p:cNvPr>
          <p:cNvSpPr txBox="1">
            <a:spLocks/>
          </p:cNvSpPr>
          <p:nvPr/>
        </p:nvSpPr>
        <p:spPr>
          <a:xfrm>
            <a:off x="1778111" y="3968326"/>
            <a:ext cx="2495458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설정하는 시간까지는 기본요금만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발생하도록 설정할 수 있습니다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E33443-CB5E-1301-D0B1-C9F8F53B147B}"/>
              </a:ext>
            </a:extLst>
          </p:cNvPr>
          <p:cNvSpPr txBox="1">
            <a:spLocks/>
          </p:cNvSpPr>
          <p:nvPr/>
        </p:nvSpPr>
        <p:spPr>
          <a:xfrm>
            <a:off x="7837447" y="4390551"/>
            <a:ext cx="2975857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한 시간당 부과되는 요금에 대한 설정을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할 수 있습니다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4BCDED-4098-CCF1-9F06-B383706135D9}"/>
              </a:ext>
            </a:extLst>
          </p:cNvPr>
          <p:cNvSpPr txBox="1">
            <a:spLocks/>
          </p:cNvSpPr>
          <p:nvPr/>
        </p:nvSpPr>
        <p:spPr>
          <a:xfrm>
            <a:off x="1436602" y="4809701"/>
            <a:ext cx="2836967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요금 정산 시 </a:t>
            </a:r>
            <a:r>
              <a:rPr lang="en-US" altLang="ko-KR" sz="1200" dirty="0"/>
              <a:t>N</a:t>
            </a:r>
            <a:r>
              <a:rPr lang="ko-KR" altLang="en-US" sz="1200" dirty="0"/>
              <a:t>분 단위로 요금에 대한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계산이 이루어지도록 합니다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FC5F07-B7E0-0F8F-856D-747A472FCD91}"/>
              </a:ext>
            </a:extLst>
          </p:cNvPr>
          <p:cNvSpPr txBox="1">
            <a:spLocks/>
          </p:cNvSpPr>
          <p:nvPr/>
        </p:nvSpPr>
        <p:spPr>
          <a:xfrm>
            <a:off x="7837447" y="5231976"/>
            <a:ext cx="3031413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하루</a:t>
            </a:r>
            <a:r>
              <a:rPr lang="en-US" altLang="ko-KR" sz="1200" dirty="0"/>
              <a:t>(24</a:t>
            </a:r>
            <a:r>
              <a:rPr lang="ko-KR" altLang="en-US" sz="1200" dirty="0"/>
              <a:t>시간</a:t>
            </a:r>
            <a:r>
              <a:rPr lang="en-US" altLang="ko-KR" sz="1200" dirty="0"/>
              <a:t>)</a:t>
            </a:r>
            <a:r>
              <a:rPr lang="ko-KR" altLang="en-US" sz="1200" dirty="0"/>
              <a:t>의 최대 금액은 해당 금액을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초과할 수 없도록 설정할 수 있습니다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35134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DA0C7-5F1F-A825-1660-C8F281931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CAF0AE0-0B6D-9D44-EC15-9DE24A5B3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54119"/>
            <a:ext cx="5556868" cy="3122844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75D43E5-B31E-1277-3FAD-6A9D306B2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회원 관리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CE3760-32CE-CBBC-8D53-95426E3A18F3}"/>
              </a:ext>
            </a:extLst>
          </p:cNvPr>
          <p:cNvSpPr txBox="1"/>
          <p:nvPr/>
        </p:nvSpPr>
        <p:spPr>
          <a:xfrm>
            <a:off x="838200" y="1490053"/>
            <a:ext cx="7266709" cy="1211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회원 관리 페이지에서는 관리자가 정기 주차 회원에 대한 등록이 가능하며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등록된 회원에 대해 검색과 더불어 스크립트를 통한 회원 정보 수정 및 삭제가 </a:t>
            </a:r>
            <a:r>
              <a:rPr lang="ko-KR" altLang="en-US" sz="16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모달창으로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이루어지도록</a:t>
            </a:r>
            <a:endParaRPr lang="en-US" altLang="ko-KR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구현하였습니다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C2DDCC-40B0-1AC0-F7DE-74FE4AA66D53}"/>
              </a:ext>
            </a:extLst>
          </p:cNvPr>
          <p:cNvSpPr txBox="1">
            <a:spLocks/>
          </p:cNvSpPr>
          <p:nvPr/>
        </p:nvSpPr>
        <p:spPr>
          <a:xfrm>
            <a:off x="7818397" y="3111076"/>
            <a:ext cx="2975857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검색 되는 조건을 통해서 등록되어 있는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회원에 대한 조회 가능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020170C-9A92-6117-2966-1B8F5CFBE4AB}"/>
              </a:ext>
            </a:extLst>
          </p:cNvPr>
          <p:cNvCxnSpPr/>
          <p:nvPr/>
        </p:nvCxnSpPr>
        <p:spPr>
          <a:xfrm>
            <a:off x="3851563" y="5301673"/>
            <a:ext cx="3801861" cy="0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26273C7-8C55-65D8-3BFA-C2421549FC19}"/>
              </a:ext>
            </a:extLst>
          </p:cNvPr>
          <p:cNvSpPr txBox="1">
            <a:spLocks/>
          </p:cNvSpPr>
          <p:nvPr/>
        </p:nvSpPr>
        <p:spPr>
          <a:xfrm>
            <a:off x="7818397" y="5165873"/>
            <a:ext cx="2536522" cy="3520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회원을 새로 등록 할 수 있는 기능</a:t>
            </a:r>
            <a:endParaRPr lang="en-US" altLang="ko-KR" sz="12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DB3E9F3-87AD-32DA-1ED9-D2B43F108BB0}"/>
              </a:ext>
            </a:extLst>
          </p:cNvPr>
          <p:cNvCxnSpPr/>
          <p:nvPr/>
        </p:nvCxnSpPr>
        <p:spPr>
          <a:xfrm>
            <a:off x="5135418" y="4597069"/>
            <a:ext cx="24845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45FC7FD-63F5-4ED4-42C3-19BFF732121F}"/>
              </a:ext>
            </a:extLst>
          </p:cNvPr>
          <p:cNvSpPr txBox="1">
            <a:spLocks/>
          </p:cNvSpPr>
          <p:nvPr/>
        </p:nvSpPr>
        <p:spPr>
          <a:xfrm>
            <a:off x="7818397" y="4279145"/>
            <a:ext cx="3368434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회원에 해당하는 행 클릭 시 해당 회원에 대한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정보 관리 </a:t>
            </a:r>
            <a:r>
              <a:rPr lang="ko-KR" altLang="en-US" sz="1200" dirty="0" err="1"/>
              <a:t>모달창을</a:t>
            </a:r>
            <a:r>
              <a:rPr lang="ko-KR" altLang="en-US" sz="1200" dirty="0"/>
              <a:t> 띄움</a:t>
            </a:r>
            <a:endParaRPr lang="en-US" altLang="ko-KR" sz="1200" dirty="0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DCDB7739-8344-FA52-0578-737A13FB8676}"/>
              </a:ext>
            </a:extLst>
          </p:cNvPr>
          <p:cNvCxnSpPr/>
          <p:nvPr/>
        </p:nvCxnSpPr>
        <p:spPr>
          <a:xfrm flipV="1">
            <a:off x="4100945" y="3429000"/>
            <a:ext cx="3519053" cy="394855"/>
          </a:xfrm>
          <a:prstGeom prst="bentConnector3">
            <a:avLst>
              <a:gd name="adj1" fmla="val 131"/>
            </a:avLst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218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529D7-FA48-CB82-BBD8-AA0A9A52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433B40D7-BF4C-20AF-F148-458FB48D1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8108"/>
            <a:ext cx="4548767" cy="3784745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0B4B91C-6CE5-A449-5A0B-4F4B719E1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회원 관리</a:t>
            </a:r>
            <a:r>
              <a:rPr lang="en-US" altLang="ko-KR" sz="3200" b="1" dirty="0">
                <a:solidFill>
                  <a:srgbClr val="4472C4"/>
                </a:solidFill>
              </a:rPr>
              <a:t>(</a:t>
            </a:r>
            <a:r>
              <a:rPr lang="ko-KR" altLang="en-US" sz="3200" b="1" dirty="0">
                <a:solidFill>
                  <a:srgbClr val="4472C4"/>
                </a:solidFill>
              </a:rPr>
              <a:t>회원 등록</a:t>
            </a:r>
            <a:r>
              <a:rPr lang="en-US" altLang="ko-KR" sz="3200" b="1" dirty="0">
                <a:solidFill>
                  <a:srgbClr val="4472C4"/>
                </a:solidFill>
              </a:rPr>
              <a:t>)</a:t>
            </a:r>
            <a:endParaRPr lang="ko-KR" altLang="en-US" sz="3200" b="1" dirty="0">
              <a:solidFill>
                <a:srgbClr val="4472C4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CFC465-D00D-D4EB-8FAD-C6BD64333899}"/>
              </a:ext>
            </a:extLst>
          </p:cNvPr>
          <p:cNvSpPr txBox="1">
            <a:spLocks/>
          </p:cNvSpPr>
          <p:nvPr/>
        </p:nvSpPr>
        <p:spPr>
          <a:xfrm>
            <a:off x="7070252" y="2833469"/>
            <a:ext cx="4294220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차량 번호와 회원 아이디는 중복이 허용되지 않음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en-US" altLang="ko-KR" sz="1200" dirty="0"/>
              <a:t>(</a:t>
            </a:r>
            <a:r>
              <a:rPr lang="ko-KR" altLang="en-US" sz="1200" dirty="0"/>
              <a:t>중복된 정보 등록 시 </a:t>
            </a:r>
            <a:r>
              <a:rPr lang="ko-KR" altLang="en-US" sz="1200" dirty="0" err="1"/>
              <a:t>얼럿창과</a:t>
            </a:r>
            <a:r>
              <a:rPr lang="ko-KR" altLang="en-US" sz="1200" dirty="0"/>
              <a:t> 함께 등록을 허용하지 않음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2B9722A-A749-B290-5E3B-4A3423DCA849}"/>
              </a:ext>
            </a:extLst>
          </p:cNvPr>
          <p:cNvCxnSpPr>
            <a:cxnSpLocks/>
          </p:cNvCxnSpPr>
          <p:nvPr/>
        </p:nvCxnSpPr>
        <p:spPr>
          <a:xfrm>
            <a:off x="2867887" y="4988882"/>
            <a:ext cx="40778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0BE9578-B383-993B-CCAA-7D85F12DE068}"/>
              </a:ext>
            </a:extLst>
          </p:cNvPr>
          <p:cNvSpPr txBox="1">
            <a:spLocks/>
          </p:cNvSpPr>
          <p:nvPr/>
        </p:nvSpPr>
        <p:spPr>
          <a:xfrm>
            <a:off x="7070252" y="5566811"/>
            <a:ext cx="2371435" cy="3520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회원에 대한 정상적인 등록처리</a:t>
            </a:r>
            <a:endParaRPr lang="en-US" altLang="ko-KR" sz="12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A698767-00F7-B8B0-E1BB-F8F2969B0FD1}"/>
              </a:ext>
            </a:extLst>
          </p:cNvPr>
          <p:cNvCxnSpPr/>
          <p:nvPr/>
        </p:nvCxnSpPr>
        <p:spPr>
          <a:xfrm>
            <a:off x="4461163" y="3036124"/>
            <a:ext cx="2484580" cy="0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F231FEB4-D4C3-F846-8155-BF81E4257075}"/>
              </a:ext>
            </a:extLst>
          </p:cNvPr>
          <p:cNvCxnSpPr>
            <a:cxnSpLocks/>
          </p:cNvCxnSpPr>
          <p:nvPr/>
        </p:nvCxnSpPr>
        <p:spPr>
          <a:xfrm flipV="1">
            <a:off x="4461163" y="3036124"/>
            <a:ext cx="2272146" cy="433193"/>
          </a:xfrm>
          <a:prstGeom prst="bentConnector3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278088F5-F330-0FCB-FEFF-81BF48D7E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488" y="1802338"/>
            <a:ext cx="2928896" cy="9316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032BE2D-8B7B-51BD-B381-5323C5AC16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252" y="4523213"/>
            <a:ext cx="2928896" cy="9313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21312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6FB2-035C-45AB-9A87-261381E5B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632F4F-6BF8-63B4-DF84-7F95D2490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회원 관리</a:t>
            </a:r>
            <a:r>
              <a:rPr lang="en-US" altLang="ko-KR" sz="3200" b="1" dirty="0">
                <a:solidFill>
                  <a:srgbClr val="4472C4"/>
                </a:solidFill>
              </a:rPr>
              <a:t>(</a:t>
            </a:r>
            <a:r>
              <a:rPr lang="ko-KR" altLang="en-US" sz="3200" b="1" dirty="0">
                <a:solidFill>
                  <a:srgbClr val="4472C4"/>
                </a:solidFill>
              </a:rPr>
              <a:t>회원 수정 </a:t>
            </a:r>
            <a:r>
              <a:rPr lang="en-US" altLang="ko-KR" sz="3200" b="1" dirty="0">
                <a:solidFill>
                  <a:srgbClr val="4472C4"/>
                </a:solidFill>
              </a:rPr>
              <a:t>· </a:t>
            </a:r>
            <a:r>
              <a:rPr lang="ko-KR" altLang="en-US" sz="3200" b="1" dirty="0">
                <a:solidFill>
                  <a:srgbClr val="4472C4"/>
                </a:solidFill>
              </a:rPr>
              <a:t>삭제</a:t>
            </a:r>
            <a:r>
              <a:rPr lang="en-US" altLang="ko-KR" sz="3200" b="1" dirty="0">
                <a:solidFill>
                  <a:srgbClr val="4472C4"/>
                </a:solidFill>
              </a:rPr>
              <a:t>)</a:t>
            </a:r>
            <a:endParaRPr lang="ko-KR" altLang="en-US" sz="3200" b="1" dirty="0">
              <a:solidFill>
                <a:srgbClr val="4472C4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FAE44E-C48C-3C9E-2A37-0D8E02ECC0AE}"/>
              </a:ext>
            </a:extLst>
          </p:cNvPr>
          <p:cNvSpPr txBox="1">
            <a:spLocks/>
          </p:cNvSpPr>
          <p:nvPr/>
        </p:nvSpPr>
        <p:spPr>
          <a:xfrm>
            <a:off x="9093961" y="2701906"/>
            <a:ext cx="2509981" cy="12033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ko-KR" sz="1200" dirty="0"/>
              <a:t>PK</a:t>
            </a:r>
            <a:r>
              <a:rPr lang="ko-KR" altLang="en-US" sz="1200" dirty="0"/>
              <a:t>로 사용되는 차량 번호와 중복을 허용하지 않는 회원 아이디를 제외한 이름과 연락처를 수정 가능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B8FE38-4670-1929-B208-4DFC30EDD8F8}"/>
              </a:ext>
            </a:extLst>
          </p:cNvPr>
          <p:cNvSpPr txBox="1">
            <a:spLocks/>
          </p:cNvSpPr>
          <p:nvPr/>
        </p:nvSpPr>
        <p:spPr>
          <a:xfrm>
            <a:off x="9093961" y="5721826"/>
            <a:ext cx="2717683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회원 정보에 대한 삭제 여부 확인 후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en-US" altLang="ko-KR" sz="1200" dirty="0"/>
              <a:t>DB</a:t>
            </a:r>
            <a:r>
              <a:rPr lang="ko-KR" altLang="en-US" sz="1200" dirty="0"/>
              <a:t>에서 데이터 완전한 삭제</a:t>
            </a:r>
            <a:endParaRPr lang="en-US" altLang="ko-KR" sz="1200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9C3F928-1C18-CD46-AB08-C71AE0F0AF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54780"/>
            <a:ext cx="3644253" cy="2707646"/>
          </a:xfrm>
        </p:spPr>
      </p:pic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C58F7B39-5681-A80A-84C5-6CA79A5AF344}"/>
              </a:ext>
            </a:extLst>
          </p:cNvPr>
          <p:cNvCxnSpPr>
            <a:cxnSpLocks/>
          </p:cNvCxnSpPr>
          <p:nvPr/>
        </p:nvCxnSpPr>
        <p:spPr>
          <a:xfrm flipV="1">
            <a:off x="2355273" y="3469317"/>
            <a:ext cx="3528291" cy="738909"/>
          </a:xfrm>
          <a:prstGeom prst="bentConnector3">
            <a:avLst>
              <a:gd name="adj1" fmla="val 664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7221D6D-A593-2EEA-89D1-F4D08773DB2A}"/>
              </a:ext>
            </a:extLst>
          </p:cNvPr>
          <p:cNvCxnSpPr/>
          <p:nvPr/>
        </p:nvCxnSpPr>
        <p:spPr>
          <a:xfrm>
            <a:off x="2355273" y="4208226"/>
            <a:ext cx="0" cy="179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90A47583-4EA0-98FD-642E-F6437E904464}"/>
              </a:ext>
            </a:extLst>
          </p:cNvPr>
          <p:cNvCxnSpPr>
            <a:cxnSpLocks/>
          </p:cNvCxnSpPr>
          <p:nvPr/>
        </p:nvCxnSpPr>
        <p:spPr>
          <a:xfrm>
            <a:off x="2964873" y="4812145"/>
            <a:ext cx="2918691" cy="655782"/>
          </a:xfrm>
          <a:prstGeom prst="bentConnector3">
            <a:avLst>
              <a:gd name="adj1" fmla="val 598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EA5FEBB-4C29-C044-35D7-11F000CF9D61}"/>
              </a:ext>
            </a:extLst>
          </p:cNvPr>
          <p:cNvCxnSpPr/>
          <p:nvPr/>
        </p:nvCxnSpPr>
        <p:spPr>
          <a:xfrm>
            <a:off x="2964873" y="4682836"/>
            <a:ext cx="0" cy="129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>
            <a:extLst>
              <a:ext uri="{FF2B5EF4-FFF2-40B4-BE49-F238E27FC236}">
                <a16:creationId xmlns:a16="http://schemas.microsoft.com/office/drawing/2014/main" id="{963445F2-862D-D69B-2EAD-2C7DB75C8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488" y="1692080"/>
            <a:ext cx="2704090" cy="231045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3C8080B4-1874-A245-6196-81F4775F0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488" y="4285674"/>
            <a:ext cx="2704090" cy="226153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7C460699-EAF8-0E47-2217-A3106009F7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61" y="4888920"/>
            <a:ext cx="2122054" cy="6855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848B07BE-9935-53FA-CBC0-1325B61649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960" y="1769195"/>
            <a:ext cx="2127195" cy="6855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00964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703E5-5D3E-1970-CF43-7155C93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378F342D-3C78-142F-F8B4-B18BD3A92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110" y="3303948"/>
            <a:ext cx="3880716" cy="898765"/>
          </a:xfrm>
          <a:prstGeom prst="rect">
            <a:avLst/>
          </a:prstGeom>
        </p:spPr>
      </p:pic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1924B52A-D125-8671-CAB1-DA0B675ED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14254"/>
            <a:ext cx="5388369" cy="2620963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C1C9530-DABF-6D22-1F9B-5B9E75D11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9780"/>
          </a:xfrm>
        </p:spPr>
        <p:txBody>
          <a:bodyPr/>
          <a:lstStyle/>
          <a:p>
            <a:r>
              <a:rPr lang="ko-KR" altLang="en-US" b="1" dirty="0"/>
              <a:t>관리자 페이지  </a:t>
            </a:r>
            <a:r>
              <a:rPr lang="ko-KR" altLang="en-US" sz="3200" b="1" dirty="0">
                <a:solidFill>
                  <a:srgbClr val="4472C4"/>
                </a:solidFill>
              </a:rPr>
              <a:t>회원 관리</a:t>
            </a:r>
            <a:r>
              <a:rPr lang="en-US" altLang="ko-KR" sz="3200" b="1" dirty="0">
                <a:solidFill>
                  <a:srgbClr val="4472C4"/>
                </a:solidFill>
              </a:rPr>
              <a:t>(</a:t>
            </a:r>
            <a:r>
              <a:rPr lang="ko-KR" altLang="en-US" sz="3200" b="1" dirty="0">
                <a:solidFill>
                  <a:srgbClr val="4472C4"/>
                </a:solidFill>
              </a:rPr>
              <a:t>검색</a:t>
            </a:r>
            <a:r>
              <a:rPr lang="en-US" altLang="ko-KR" sz="3200" b="1" dirty="0">
                <a:solidFill>
                  <a:srgbClr val="4472C4"/>
                </a:solidFill>
              </a:rPr>
              <a:t>)</a:t>
            </a:r>
            <a:endParaRPr lang="ko-KR" altLang="en-US" sz="3200" b="1" dirty="0">
              <a:solidFill>
                <a:srgbClr val="4472C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A3FBEB-B4EB-2622-8B27-0B2454EEB708}"/>
              </a:ext>
            </a:extLst>
          </p:cNvPr>
          <p:cNvSpPr txBox="1"/>
          <p:nvPr/>
        </p:nvSpPr>
        <p:spPr>
          <a:xfrm>
            <a:off x="838200" y="1490053"/>
            <a:ext cx="6980197" cy="827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회원을 검색하였을 때도 기존의 회원 관리 페이지와 동일하게 회원에 해당하는 행을</a:t>
            </a:r>
            <a:endParaRPr lang="en-US" altLang="ko-KR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ts val="3000"/>
              </a:lnSpc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클릭 시 해당 회원의 정보 관리를 가능하게 하였습니다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  <a:endParaRPr lang="ko-KR" altLang="en-US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47B079-95E9-7312-C261-41D66B4C2107}"/>
              </a:ext>
            </a:extLst>
          </p:cNvPr>
          <p:cNvSpPr txBox="1">
            <a:spLocks/>
          </p:cNvSpPr>
          <p:nvPr/>
        </p:nvSpPr>
        <p:spPr>
          <a:xfrm>
            <a:off x="7818397" y="5214658"/>
            <a:ext cx="2606571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검색된 회원의 수를 전체 리스트의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en-US" altLang="ko-KR" sz="1200" dirty="0"/>
              <a:t>Count</a:t>
            </a:r>
            <a:r>
              <a:rPr lang="ko-KR" altLang="en-US" sz="1200" dirty="0"/>
              <a:t>를 통해서 표시</a:t>
            </a:r>
            <a:endParaRPr lang="en-US" altLang="ko-KR" sz="1200" dirty="0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82585694-CEC3-F6BD-1CD7-9149BCE09011}"/>
              </a:ext>
            </a:extLst>
          </p:cNvPr>
          <p:cNvCxnSpPr>
            <a:cxnSpLocks/>
          </p:cNvCxnSpPr>
          <p:nvPr/>
        </p:nvCxnSpPr>
        <p:spPr>
          <a:xfrm>
            <a:off x="5523345" y="4267200"/>
            <a:ext cx="2161310" cy="126538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62E3673B-7C22-FAF8-C0F6-763293EC32ED}"/>
              </a:ext>
            </a:extLst>
          </p:cNvPr>
          <p:cNvCxnSpPr/>
          <p:nvPr/>
        </p:nvCxnSpPr>
        <p:spPr>
          <a:xfrm flipH="1">
            <a:off x="6059488" y="3749964"/>
            <a:ext cx="7107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76E1334-3537-1716-9CE9-CE28F84BA291}"/>
              </a:ext>
            </a:extLst>
          </p:cNvPr>
          <p:cNvSpPr txBox="1">
            <a:spLocks/>
          </p:cNvSpPr>
          <p:nvPr/>
        </p:nvSpPr>
        <p:spPr>
          <a:xfrm>
            <a:off x="6950187" y="2695809"/>
            <a:ext cx="3204618" cy="6358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200" dirty="0"/>
              <a:t>회원 이름에 대하여 </a:t>
            </a:r>
            <a:r>
              <a:rPr lang="en-US" altLang="ko-KR" sz="1200" dirty="0"/>
              <a:t>‘</a:t>
            </a:r>
            <a:r>
              <a:rPr lang="ko-KR" altLang="en-US" sz="1200" dirty="0"/>
              <a:t>세종</a:t>
            </a:r>
            <a:r>
              <a:rPr lang="en-US" altLang="ko-KR" sz="1200" dirty="0"/>
              <a:t>’ </a:t>
            </a:r>
            <a:r>
              <a:rPr lang="ko-KR" altLang="en-US" sz="1200" dirty="0"/>
              <a:t>이라는 키워드로</a:t>
            </a:r>
            <a:endParaRPr lang="en-US" altLang="ko-KR" sz="1200" dirty="0"/>
          </a:p>
          <a:p>
            <a:pPr>
              <a:lnSpc>
                <a:spcPts val="2000"/>
              </a:lnSpc>
            </a:pPr>
            <a:r>
              <a:rPr lang="ko-KR" altLang="en-US" sz="1200" dirty="0"/>
              <a:t>검색하여 해당 검색 결과 페이지로 이동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41501319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3B20260B-D4E0-5583-2E95-834326E25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67957180-CE3E-BF12-26DF-FE2DDBDDBAC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ko-KR" altLang="en-US" sz="3733" dirty="0">
                <a:ea typeface="Black Han Sans" pitchFamily="2" charset="-127"/>
              </a:rPr>
              <a:t>시연 영상</a:t>
            </a:r>
            <a:endParaRPr sz="3733" dirty="0">
              <a:ea typeface="Black Han Sans" pitchFamily="2" charset="-127"/>
            </a:endParaRPr>
          </a:p>
        </p:txBody>
      </p:sp>
      <p:pic>
        <p:nvPicPr>
          <p:cNvPr id="2" name="주차관제시스템_시연영상">
            <a:hlinkClick r:id="" action="ppaction://media"/>
            <a:extLst>
              <a:ext uri="{FF2B5EF4-FFF2-40B4-BE49-F238E27FC236}">
                <a16:creationId xmlns:a16="http://schemas.microsoft.com/office/drawing/2014/main" id="{F0986B54-D78C-B7C9-C45D-FB055918845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99477" y="1617063"/>
            <a:ext cx="9229532" cy="464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2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54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C28133BF-71A4-D3C5-2085-B95E30265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>
            <a:extLst>
              <a:ext uri="{FF2B5EF4-FFF2-40B4-BE49-F238E27FC236}">
                <a16:creationId xmlns:a16="http://schemas.microsoft.com/office/drawing/2014/main" id="{19F677D6-F11B-E2C2-AB95-1654C4707BF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ko-KR" altLang="en-US" sz="3733" dirty="0">
                <a:ea typeface="Black Han Sans" pitchFamily="2" charset="-127"/>
              </a:rPr>
              <a:t>핵심 로직 정리 </a:t>
            </a:r>
            <a:r>
              <a:rPr lang="en-US" altLang="ko-KR" sz="3733" dirty="0">
                <a:ea typeface="Black Han Sans" pitchFamily="2" charset="-127"/>
              </a:rPr>
              <a:t>/ </a:t>
            </a:r>
            <a:r>
              <a:rPr lang="ko-KR" altLang="en-US" sz="3733" dirty="0">
                <a:ea typeface="Black Han Sans" pitchFamily="2" charset="-127"/>
              </a:rPr>
              <a:t>구현 포인트</a:t>
            </a:r>
            <a:endParaRPr sz="3733" dirty="0">
              <a:ea typeface="Black Han Sans" pitchFamily="2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004A742-9956-CD9A-E881-7D81738F0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397075"/>
              </p:ext>
            </p:extLst>
          </p:nvPr>
        </p:nvGraphicFramePr>
        <p:xfrm>
          <a:off x="1450428" y="2046015"/>
          <a:ext cx="9291144" cy="4321977"/>
        </p:xfrm>
        <a:graphic>
          <a:graphicData uri="http://schemas.openxmlformats.org/drawingml/2006/table">
            <a:tbl>
              <a:tblPr/>
              <a:tblGrid>
                <a:gridCol w="3244192">
                  <a:extLst>
                    <a:ext uri="{9D8B030D-6E8A-4147-A177-3AD203B41FA5}">
                      <a16:colId xmlns:a16="http://schemas.microsoft.com/office/drawing/2014/main" val="1176986508"/>
                    </a:ext>
                  </a:extLst>
                </a:gridCol>
                <a:gridCol w="6046952">
                  <a:extLst>
                    <a:ext uri="{9D8B030D-6E8A-4147-A177-3AD203B41FA5}">
                      <a16:colId xmlns:a16="http://schemas.microsoft.com/office/drawing/2014/main" val="271914262"/>
                    </a:ext>
                  </a:extLst>
                </a:gridCol>
              </a:tblGrid>
              <a:tr h="375824">
                <a:tc>
                  <a:txBody>
                    <a:bodyPr/>
                    <a:lstStyle/>
                    <a:p>
                      <a:r>
                        <a:rPr lang="ko-KR" altLang="en-US" sz="1500" dirty="0">
                          <a:solidFill>
                            <a:schemeClr val="bg1"/>
                          </a:solidFill>
                        </a:rPr>
                        <a:t>구현 포인트</a:t>
                      </a:r>
                    </a:p>
                  </a:txBody>
                  <a:tcPr marL="98857" marR="98857" marT="49429" marB="4942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 marL="98857" marR="98857" marT="49429" marB="494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073047"/>
                  </a:ext>
                </a:extLst>
              </a:tr>
              <a:tr h="375824">
                <a:tc>
                  <a:txBody>
                    <a:bodyPr/>
                    <a:lstStyle/>
                    <a:p>
                      <a:r>
                        <a:rPr lang="ko-KR" altLang="en-US" sz="1500" b="1" dirty="0"/>
                        <a:t>중복 입차 방지</a:t>
                      </a:r>
                      <a:endParaRPr lang="ko-KR" altLang="en-US" sz="1500" dirty="0"/>
                    </a:p>
                  </a:txBody>
                  <a:tcPr marL="98857" marR="98857" marT="49429" marB="4942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dirty="0"/>
                        <a:t>차량번호 중복 확인 후 입차 처리</a:t>
                      </a:r>
                    </a:p>
                  </a:txBody>
                  <a:tcPr marL="98857" marR="98857" marT="49429" marB="4942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466070"/>
                  </a:ext>
                </a:extLst>
              </a:tr>
              <a:tr h="638901">
                <a:tc>
                  <a:txBody>
                    <a:bodyPr/>
                    <a:lstStyle/>
                    <a:p>
                      <a:r>
                        <a:rPr lang="ko-KR" altLang="en-US" sz="1500" b="1" dirty="0"/>
                        <a:t>주차 자리 상태 관리</a:t>
                      </a:r>
                      <a:endParaRPr lang="ko-KR" altLang="en-US" sz="1500" dirty="0"/>
                    </a:p>
                  </a:txBody>
                  <a:tcPr marL="98857" marR="98857" marT="49429" marB="4942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500" dirty="0"/>
                        <a:t>parking </a:t>
                      </a:r>
                      <a:r>
                        <a:rPr lang="ko-KR" altLang="en-US" sz="1500" dirty="0"/>
                        <a:t>테이블에서 차량번호 </a:t>
                      </a:r>
                      <a:r>
                        <a:rPr lang="en-US" altLang="ko-KR" sz="1500" dirty="0"/>
                        <a:t>NULL </a:t>
                      </a:r>
                      <a:r>
                        <a:rPr lang="ko-KR" altLang="en-US" sz="1500" dirty="0"/>
                        <a:t>여부로 </a:t>
                      </a:r>
                      <a:endParaRPr lang="en-US" altLang="ko-KR" sz="1500" dirty="0"/>
                    </a:p>
                    <a:p>
                      <a:r>
                        <a:rPr lang="ko-KR" altLang="en-US" sz="1500" dirty="0"/>
                        <a:t>자리 점유 여부 판단</a:t>
                      </a:r>
                    </a:p>
                  </a:txBody>
                  <a:tcPr marL="98857" marR="98857" marT="49429" marB="4942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853100"/>
                  </a:ext>
                </a:extLst>
              </a:tr>
              <a:tr h="638901">
                <a:tc>
                  <a:txBody>
                    <a:bodyPr/>
                    <a:lstStyle/>
                    <a:p>
                      <a:r>
                        <a:rPr lang="ko-KR" altLang="en-US" sz="1500" b="1" dirty="0"/>
                        <a:t>주차 기록 조회</a:t>
                      </a:r>
                    </a:p>
                  </a:txBody>
                  <a:tcPr marL="98857" marR="98857" marT="49429" marB="4942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dirty="0"/>
                        <a:t>직접적인 검색이나 구역 클릭을 통해 세부적인 주차기록 조회</a:t>
                      </a:r>
                    </a:p>
                  </a:txBody>
                  <a:tcPr marL="98857" marR="98857" marT="49429" marB="4942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8667575"/>
                  </a:ext>
                </a:extLst>
              </a:tr>
              <a:tr h="638901">
                <a:tc>
                  <a:txBody>
                    <a:bodyPr/>
                    <a:lstStyle/>
                    <a:p>
                      <a:r>
                        <a:rPr lang="ko-KR" altLang="en-US" sz="1500" b="1" dirty="0"/>
                        <a:t>요금 정책 반영</a:t>
                      </a:r>
                      <a:endParaRPr lang="ko-KR" altLang="en-US" sz="1500" dirty="0"/>
                    </a:p>
                  </a:txBody>
                  <a:tcPr marL="98857" marR="98857" marT="49429" marB="4942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dirty="0"/>
                        <a:t>시간 단위별 요금 계산 및 최대 요금 적용</a:t>
                      </a:r>
                    </a:p>
                  </a:txBody>
                  <a:tcPr marL="98857" marR="98857" marT="49429" marB="4942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609845"/>
                  </a:ext>
                </a:extLst>
              </a:tr>
              <a:tr h="638901">
                <a:tc>
                  <a:txBody>
                    <a:bodyPr/>
                    <a:lstStyle/>
                    <a:p>
                      <a:r>
                        <a:rPr lang="ko-KR" altLang="en-US" sz="1500" b="1" dirty="0"/>
                        <a:t>회원 차량 구분 처리</a:t>
                      </a:r>
                      <a:endParaRPr lang="ko-KR" altLang="en-US" sz="1500" dirty="0"/>
                    </a:p>
                  </a:txBody>
                  <a:tcPr marL="98857" marR="98857" marT="49429" marB="4942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dirty="0"/>
                        <a:t>회원 차량과 비회원 차량 구분해 </a:t>
                      </a:r>
                      <a:r>
                        <a:rPr lang="ko-KR" altLang="en-US" sz="1500" dirty="0" err="1"/>
                        <a:t>출차</a:t>
                      </a:r>
                      <a:r>
                        <a:rPr lang="ko-KR" altLang="en-US" sz="1500" dirty="0"/>
                        <a:t> 처리</a:t>
                      </a:r>
                    </a:p>
                  </a:txBody>
                  <a:tcPr marL="98857" marR="98857" marT="49429" marB="4942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234426"/>
                  </a:ext>
                </a:extLst>
              </a:tr>
              <a:tr h="375824">
                <a:tc>
                  <a:txBody>
                    <a:bodyPr/>
                    <a:lstStyle/>
                    <a:p>
                      <a:r>
                        <a:rPr lang="ko-KR" altLang="en-US" sz="1500" b="1" dirty="0"/>
                        <a:t>관리자 및 회원 관리 기능</a:t>
                      </a:r>
                      <a:endParaRPr lang="ko-KR" altLang="en-US" sz="1500" dirty="0"/>
                    </a:p>
                  </a:txBody>
                  <a:tcPr marL="98857" marR="98857" marT="49429" marB="4942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dirty="0"/>
                        <a:t>관리자 로그인과 회원 </a:t>
                      </a:r>
                      <a:r>
                        <a:rPr lang="en-US" altLang="ko-KR" sz="1500" dirty="0"/>
                        <a:t>CRUD </a:t>
                      </a:r>
                      <a:r>
                        <a:rPr lang="ko-KR" altLang="en-US" sz="1500" dirty="0"/>
                        <a:t>구현</a:t>
                      </a:r>
                    </a:p>
                  </a:txBody>
                  <a:tcPr marL="98857" marR="98857" marT="49429" marB="4942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860097"/>
                  </a:ext>
                </a:extLst>
              </a:tr>
              <a:tr h="638901">
                <a:tc>
                  <a:txBody>
                    <a:bodyPr/>
                    <a:lstStyle/>
                    <a:p>
                      <a:r>
                        <a:rPr lang="ko-KR" altLang="en-US" sz="1500" b="1" dirty="0"/>
                        <a:t>주차 공간 현황 파악</a:t>
                      </a:r>
                      <a:endParaRPr lang="ko-KR" altLang="en-US" sz="1500" dirty="0"/>
                    </a:p>
                  </a:txBody>
                  <a:tcPr marL="98857" marR="98857" marT="49429" marB="4942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dirty="0"/>
                        <a:t>각 구역별 주차 가능 자리 수를 </a:t>
                      </a:r>
                      <a:r>
                        <a:rPr lang="en-US" altLang="ko-KR" sz="1500" dirty="0"/>
                        <a:t>DB </a:t>
                      </a:r>
                      <a:r>
                        <a:rPr lang="ko-KR" altLang="en-US" sz="1500" dirty="0"/>
                        <a:t>쿼리로 실시간 조회</a:t>
                      </a:r>
                    </a:p>
                  </a:txBody>
                  <a:tcPr marL="98857" marR="98857" marT="49429" marB="4942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887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6241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>
          <a:extLst>
            <a:ext uri="{FF2B5EF4-FFF2-40B4-BE49-F238E27FC236}">
              <a16:creationId xmlns:a16="http://schemas.microsoft.com/office/drawing/2014/main" id="{51E60F7B-D872-B405-1F56-CE247137F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>
            <a:extLst>
              <a:ext uri="{FF2B5EF4-FFF2-40B4-BE49-F238E27FC236}">
                <a16:creationId xmlns:a16="http://schemas.microsoft.com/office/drawing/2014/main" id="{9E2FAF37-E48F-618F-961F-24F1596B7FD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721580" y="0"/>
            <a:ext cx="10271125" cy="68307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ko-KR" altLang="en-US" sz="3200" dirty="0">
                <a:ea typeface="Black Han Sans" pitchFamily="2" charset="-127"/>
              </a:rPr>
              <a:t>프로젝트 진행 중 발생했던 이슈 및 해결방법</a:t>
            </a:r>
            <a:endParaRPr sz="3200" dirty="0">
              <a:ea typeface="Black Han Sans" pitchFamily="2" charset="-127"/>
            </a:endParaRPr>
          </a:p>
        </p:txBody>
      </p:sp>
      <p:graphicFrame>
        <p:nvGraphicFramePr>
          <p:cNvPr id="2" name="Google Shape;1789;g2cbeafab3c2_0_23">
            <a:extLst>
              <a:ext uri="{FF2B5EF4-FFF2-40B4-BE49-F238E27FC236}">
                <a16:creationId xmlns:a16="http://schemas.microsoft.com/office/drawing/2014/main" id="{A122779B-EFDE-3EA3-1833-0110579AF9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60540"/>
              </p:ext>
            </p:extLst>
          </p:nvPr>
        </p:nvGraphicFramePr>
        <p:xfrm>
          <a:off x="857462" y="623103"/>
          <a:ext cx="10334202" cy="620890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7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8506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lang="ko-KR" altLang="en-US" sz="1600" u="none" strike="noStrike" cap="none" dirty="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sym typeface="Noto Sans KR"/>
                        </a:rPr>
                        <a:t>이슈 및 해결방법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Noto Sans KR"/>
                        <a:ea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1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lang="ko-KR" altLang="en-US" sz="14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안 성 호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로그인 세션 처리 중 </a:t>
                      </a:r>
                      <a:r>
                        <a:rPr lang="en-US" altLang="ko-KR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alert</a:t>
                      </a:r>
                      <a:r>
                        <a:rPr lang="ko-KR" altLang="en-US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창이 </a:t>
                      </a:r>
                      <a:r>
                        <a:rPr lang="ko-KR" altLang="en-US" sz="100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안뜨는</a:t>
                      </a:r>
                      <a:r>
                        <a:rPr lang="ko-KR" altLang="en-US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경우가 발생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altLang="ko-KR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-&gt;</a:t>
                      </a:r>
                      <a:r>
                        <a:rPr lang="en-US" altLang="ko-KR" sz="100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ResponseStatus</a:t>
                      </a:r>
                      <a:r>
                        <a:rPr lang="en-US" altLang="ko-KR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ko-KR" altLang="en-US" sz="100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어노테이션을</a:t>
                      </a:r>
                      <a:r>
                        <a:rPr lang="ko-KR" altLang="en-US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로그인 메서드에 추가하여 해결하였습니다</a:t>
                      </a:r>
                      <a:r>
                        <a:rPr lang="en-US" altLang="ko-KR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altLang="ko-KR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Spring </a:t>
                      </a:r>
                      <a:r>
                        <a:rPr lang="ko-KR" altLang="en-US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프레임워크에서 </a:t>
                      </a:r>
                      <a:r>
                        <a:rPr lang="en-US" altLang="ko-KR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@ResponseStatus </a:t>
                      </a:r>
                      <a:r>
                        <a:rPr lang="ko-KR" altLang="en-US" sz="100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어노테이션은</a:t>
                      </a:r>
                      <a:r>
                        <a:rPr lang="ko-KR" altLang="en-US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컨트롤러 메서드의 </a:t>
                      </a:r>
                      <a:r>
                        <a:rPr lang="en-US" altLang="ko-KR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HTTP </a:t>
                      </a:r>
                      <a:r>
                        <a:rPr lang="ko-KR" altLang="en-US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응답 상태 코드를 지정할 때 사용됩니다</a:t>
                      </a:r>
                      <a:r>
                        <a:rPr lang="en-US" altLang="ko-KR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</a:t>
                      </a: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282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lang="ko-KR" altLang="en-US" sz="14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 강 호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프로젝트를 진행하면서 가장 힘들었던 것은 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DB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에 넣은 데이터가 호출이 안 돼서 발생한 문제였습니다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DB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에서 불러오는 데이터를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뷰페이지에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리스트로 출력해야 하는데 아무것도 되지 않아서 무작정 자바 코드에만 신경을 쓰고 있었고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전부 삭제 후 다시 작성해 보기도 했지만 같은 오류가 발생했습니다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같은 코드를 실행하신 팀원분은 데이터가 호출되었고 결국 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DB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에 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commit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을 실행하지 못한 것이 문제라는 것을 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알고 난 후에 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commit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을 실행하여 문제를 해결하게 되었습니다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오류가 발생해서 원인을 찾기 위해 헤매는 것보다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오류가 나기 이전에 콘솔 창을 이용해서 어디서 오류가 발생했는지 확인할 수 있는 작업도 미리미리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해놓아야겠다는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생각이 들었습니다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</a:t>
                      </a:r>
                      <a:endParaRPr sz="100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61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lang="ko-KR" altLang="en-US" sz="14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 현 성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사소한 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CSS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속성 하나가 전체 레이아웃을 무너뜨리는 경험을 하면서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눈에 보이지 않는 버그를 찾는 과정이 가장 어려웠습니다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 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이를 해결 하기 위해 개발자 도구를 이용해 여러 번 값을 바꿔보며 원인을 찾아 해결할 수 있었습니다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</a:t>
                      </a:r>
                      <a:endParaRPr sz="100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282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lang="ko-KR" altLang="en-US" sz="14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조 현 진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한 페이지 내에서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모달창을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구현하고 데이터를 받고 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DB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에 접근하는 과정에서 </a:t>
                      </a:r>
                      <a:r>
                        <a:rPr lang="en-US" altLang="ko-KR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jsp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파일의 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body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내 데이터를 스크립트에서 </a:t>
                      </a:r>
                      <a:endParaRPr lang="en-US" altLang="ko-KR" sz="100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제대로 받아오지 못하는 문제가 빈번하게 발생하였습니다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이를 해결하기 위해 데이터가 이동하는 경로를 따라 하나하나 콘솔에도 찍어보고 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alert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를 이용해서도 찍어보며 </a:t>
                      </a:r>
                      <a:endParaRPr lang="en-US" altLang="ko-KR" sz="100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사용하고자 하는 데이터가 정상적으로 넘어오고 있는지 계속해서 체크하였습니다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결국 백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틱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(`)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과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쌍따옴표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("),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따옴표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(')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의 사용에 있어 중복적으로 처리되는 문제가 데이터를 데이터로 받아오지 못하고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단순한 문자열로 인식을 해버리는 이슈를 발견할 수 있었고 이를 해결할 수 있었습니다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</a:t>
                      </a:r>
                      <a:endParaRPr lang="ko-KR" altLang="en-US" sz="100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372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lang="ko-KR" altLang="en-US" sz="14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 원 경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모달창에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테이블을 구현함에 있어 연동된 </a:t>
                      </a:r>
                      <a:r>
                        <a:rPr lang="en-US" altLang="ko-KR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db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의 값은 분명히 콘솔창으로 들어 오는데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프론트단의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테이블에는 뜨지 않는 오류가 많은 시간을 할애하고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연구하게 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script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태그 안에서 함수를 선언하고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다시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그안에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html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태그를 넣는 과정에서 잘 구현이 되질 않았고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en-US" altLang="ko-KR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json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데이터를 기반으로 동적으로 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html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테이블을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모달에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 lang="en-US" altLang="ko-KR" sz="100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출력하는 방법을 공부 할 수 있는 계기가 되었다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특히 </a:t>
                      </a:r>
                      <a:r>
                        <a:rPr lang="en-US" altLang="ko-KR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css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부분이나 레이아웃 부분의 배치나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색감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밸런스 등 미적 감각이 아예 없는 내게 취약한 부분을 팀원분들이 많이 도와줬다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</a:t>
                      </a:r>
                      <a:endParaRPr sz="100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2597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E77E99FE-9C6E-FDB7-7163-50C5C9B39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>
            <a:extLst>
              <a:ext uri="{FF2B5EF4-FFF2-40B4-BE49-F238E27FC236}">
                <a16:creationId xmlns:a16="http://schemas.microsoft.com/office/drawing/2014/main" id="{B7847D93-6EBC-E2E4-2BB4-1FA7D456B69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88563" y="0"/>
            <a:ext cx="10272000" cy="58189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ko-KR" altLang="en-US" sz="3200" dirty="0">
                <a:ea typeface="Black Han Sans" pitchFamily="2" charset="-127"/>
              </a:rPr>
              <a:t>프로젝트 개선할 점 및 느낀 점</a:t>
            </a:r>
            <a:endParaRPr sz="3200" dirty="0">
              <a:ea typeface="Black Han Sans" pitchFamily="2" charset="-127"/>
            </a:endParaRPr>
          </a:p>
        </p:txBody>
      </p:sp>
      <p:sp>
        <p:nvSpPr>
          <p:cNvPr id="269" name="Google Shape;269;p33">
            <a:extLst>
              <a:ext uri="{FF2B5EF4-FFF2-40B4-BE49-F238E27FC236}">
                <a16:creationId xmlns:a16="http://schemas.microsoft.com/office/drawing/2014/main" id="{60974070-636E-C4C7-E5E8-DC4F82043BC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888563" y="648566"/>
            <a:ext cx="10272000" cy="177703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개선할 점 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CSS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한 파일에서 </a:t>
            </a:r>
            <a:r>
              <a:rPr lang="ko-KR" altLang="en-US" sz="16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작업하는게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좀 더 통일성과 효율성을 향상시키는데 좋은 것 같습니다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3F6B68D-C50F-6D49-5C43-BA3B97E34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804130"/>
              </p:ext>
            </p:extLst>
          </p:nvPr>
        </p:nvGraphicFramePr>
        <p:xfrm>
          <a:off x="390525" y="1065401"/>
          <a:ext cx="11696699" cy="579266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03399">
                  <a:extLst>
                    <a:ext uri="{9D8B030D-6E8A-4147-A177-3AD203B41FA5}">
                      <a16:colId xmlns:a16="http://schemas.microsoft.com/office/drawing/2014/main" val="955731828"/>
                    </a:ext>
                  </a:extLst>
                </a:gridCol>
                <a:gridCol w="10593300">
                  <a:extLst>
                    <a:ext uri="{9D8B030D-6E8A-4147-A177-3AD203B41FA5}">
                      <a16:colId xmlns:a16="http://schemas.microsoft.com/office/drawing/2014/main" val="1876781542"/>
                    </a:ext>
                  </a:extLst>
                </a:gridCol>
              </a:tblGrid>
              <a:tr h="665766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lang="ko-KR" altLang="en-US" sz="1600" u="none" strike="noStrike" cap="none" dirty="0" err="1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sym typeface="Noto Sans KR"/>
                        </a:rPr>
                        <a:t>느낀점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Noto Sans KR"/>
                        <a:ea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395815"/>
                  </a:ext>
                </a:extLst>
              </a:tr>
              <a:tr h="6917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lang="ko-KR" altLang="en-US" sz="14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안 성 호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제 앞가림하느라 파트 분배하는데 있어서 </a:t>
                      </a:r>
                      <a:r>
                        <a:rPr lang="ko-KR" altLang="en-US" sz="100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신경쓰지</a:t>
                      </a:r>
                      <a:r>
                        <a:rPr lang="ko-KR" altLang="en-US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못한 부분도 있고 해서 팀원분마다 작업량에 차이가 좀 나는 부분이 있었습니다</a:t>
                      </a:r>
                      <a:r>
                        <a:rPr lang="en-US" altLang="ko-KR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다음 프로젝트를 </a:t>
                      </a:r>
                      <a:r>
                        <a:rPr lang="ko-KR" altLang="en-US" sz="100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진행할때는</a:t>
                      </a:r>
                      <a:r>
                        <a:rPr lang="ko-KR" altLang="en-US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좀 더 </a:t>
                      </a:r>
                      <a:r>
                        <a:rPr lang="ko-KR" altLang="en-US" sz="1000" u="none" strike="noStrike" cap="none" dirty="0" err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신경쓰고</a:t>
                      </a:r>
                      <a:r>
                        <a:rPr lang="ko-KR" altLang="en-US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의견 조율 잘해서 역할을 나누려고 합니다</a:t>
                      </a:r>
                      <a:r>
                        <a:rPr lang="en-US" altLang="ko-KR" sz="10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</a:t>
                      </a:r>
                      <a:endParaRPr sz="10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7875310"/>
                  </a:ext>
                </a:extLst>
              </a:tr>
              <a:tr h="119834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lang="ko-KR" altLang="en-US" sz="14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 강 호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프로젝트를 진행하며 직접 기능을 구현하는 것도 오류를 찾아보는 것도 쉽지 않았는데 팀원분들과 의견을 맞추는 부분이 어려웠다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프로젝트가 처음이기도 하고 잘 몰라서 서로의 의견 소통 없이 너무 빠른 진행이 아니었나 싶기도 하고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아무 말도 못해본 분들이라 어색했던 부분도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있을 것 같다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하지만 중요한 것은 이게 첫 시작이라는 것이고 나의 뼈가 될 경험하는 점이다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또한 코딩이라 하면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백엔드만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중요하다고 생각했는데 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오히려 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UI/UX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또한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백엔드만큼의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중요도를 내포하고 있다는 점과 남들의 시선에서 볼 첫인상이라는 점을 고려한다면 내가 배울 점이 많다고 생각이 들었다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앞으로도 이런 프로젝트를 통해서 나의 부족함을 채우고 성장해서 나중에는 꼭 전문적인 개발자가 되어야겠다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</a:t>
                      </a:r>
                      <a:endParaRPr sz="100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1108541"/>
                  </a:ext>
                </a:extLst>
              </a:tr>
              <a:tr h="6284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lang="ko-KR" altLang="en-US" sz="14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 현 성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단순히 보기 좋게 만드는 것을 넘어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1px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의 여백이나 미세한 색상 차이가 전체적인 완성도를 크게 좌우한다는 것을 느꼈습니다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 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이번 프로젝트를 통해 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CSS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는 혼자만의 디자인 작업이 아니라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팀원들이 구상한 기능의 의도를 정확히 이해하고 시각적으로 구현해내는 소통의 과정이라는 것을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깨달았습니다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 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팀원에게 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"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 부분은 어떤 느낌을 주면 좋을까요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?"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라고 물어보며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팀원들이 원하는 방향을 코드로 구현하기 위해 함께 고민하는 경험은 매우 의미 있었습니다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 </a:t>
                      </a:r>
                      <a:endParaRPr sz="100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503098"/>
                  </a:ext>
                </a:extLst>
              </a:tr>
              <a:tr h="86062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lang="ko-KR" altLang="en-US" sz="14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조 현 진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기능이 구현되는 페이지를 단위로 역할을 분담하여 프로젝트를 진행하다 보니 각자 정해진 분량을 마치고 파일을 취합하는 과정에서 서로 영향을 주는 페이지들에 대해 </a:t>
                      </a:r>
                      <a:endParaRPr lang="en-US" altLang="ko-KR" sz="100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변수 명의 대소문자 구분이나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언더바의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사용이 제각기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달라 이를 수정하고 다시 합치는 과정에 있어 번거로움을 느꼈습니다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이는 협업 과정에서는 사소한 변수명이라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할지라도 기본적인 틀을 정하고 진행하며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맡은 분량이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끝나고가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아닌 진행 과정 중간중간에 서로의 진행 상황을 공유해야 함이 필요하다고 느꼈습니다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</a:t>
                      </a:r>
                      <a:endParaRPr sz="100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6283902"/>
                  </a:ext>
                </a:extLst>
              </a:tr>
              <a:tr h="15360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Calibri"/>
                        <a:buNone/>
                      </a:pPr>
                      <a:r>
                        <a:rPr lang="ko-KR" altLang="en-US" sz="1400" u="none" strike="noStrike" cap="none" dirty="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 원 경</a:t>
                      </a:r>
                      <a:endParaRPr sz="1400" u="none" strike="noStrike" cap="none" dirty="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팀을 짜서 첫 프로젝트라 지식도 정보도 스킬도 많이 부족한 상황에서 일단 몸으로 부딪혀봤다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파트와 기능을 분배했지만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결국 모두의 작업이 합쳐져야 완성되는 프로젝트 구조이기 때문에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오로지 내 파트에 몰두하기보다는 다른 팀원들의 진행상황을 파악하는 것도 신경을 썼다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업무는 주로 설계와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구성등을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머릿속으로 그리고 코딩은 아직은 많이 부족해 많은 시간을 할애했지만 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의 도움을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받은것도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사실이다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수많은 디버그와 난생 처음 보는 오류 메세지에 스트레스도 </a:t>
                      </a:r>
                      <a:endParaRPr lang="en-US" altLang="ko-KR" sz="100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받고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git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이라는 생소한 업무 관리 시스템을 쓰며 실수도 많이 했지만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en-US" altLang="ko-KR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db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와 내가 구성한 코드의 서로 연동되어 작동할 때 큰 희열을 느꼈다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어려웠던 점을 위에서 굳이 뽑아봤지만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모든게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처음이라 대부분이 어렵게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다가오는게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정상이라고 생각해 사기가 꺾이거나 좌절감을 느끼진 않았다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아쉬웠던 점을 하나 뽑자면 </a:t>
                      </a:r>
                      <a:endParaRPr lang="en-US" altLang="ko-KR" sz="100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프로젝트를 진행하면서 점점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느낀건데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프로젝트 초기에 너무 코딩이라는 오브젝트에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매몰되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설계를 충분히 하지 못하고 코딩으로 들어간 것 같다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초반설계가 방향성과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직결한다는걸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프로젝트 </a:t>
                      </a:r>
                      <a:endParaRPr lang="en-US" altLang="ko-KR" sz="100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진행중에 느꼈고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초반설계에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충분한 회의와 결정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,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 모델링이 들어갔었다면 작업시간의 단축과 퀄리티도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올라갔을수도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ko-KR" altLang="en-US" sz="1000" u="none" strike="noStrike" cap="none" dirty="0" err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있겠다라는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생각이 들었다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 </a:t>
                      </a:r>
                      <a:r>
                        <a:rPr lang="ko-KR" altLang="en-US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이는 다음 프로젝트에 반영을 해 봐야겠다</a:t>
                      </a:r>
                      <a:r>
                        <a:rPr lang="en-US" altLang="ko-KR" sz="1000" u="none" strike="noStrike" cap="none" dirty="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.</a:t>
                      </a:r>
                      <a:endParaRPr sz="1000" u="none" strike="noStrike" cap="none" dirty="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669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16642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CA211F46-245B-1194-4B3E-98D191166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>
            <a:extLst>
              <a:ext uri="{FF2B5EF4-FFF2-40B4-BE49-F238E27FC236}">
                <a16:creationId xmlns:a16="http://schemas.microsoft.com/office/drawing/2014/main" id="{320AE6B5-937D-4DED-89F0-E57DD10ED1B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80659" y="2936364"/>
            <a:ext cx="10287808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ko-KR" altLang="en-US" sz="5400" dirty="0">
                <a:ea typeface="Black Han Sans" pitchFamily="2" charset="-127"/>
              </a:rPr>
              <a:t>감사합니다</a:t>
            </a:r>
            <a:r>
              <a:rPr lang="en-US" altLang="ko-KR" sz="5400" dirty="0">
                <a:ea typeface="Black Han Sans" pitchFamily="2" charset="-127"/>
              </a:rPr>
              <a:t>.</a:t>
            </a:r>
            <a:endParaRPr sz="5400" dirty="0">
              <a:ea typeface="Black Han Sans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1177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2676</Words>
  <Application>Microsoft Office PowerPoint</Application>
  <PresentationFormat>와이드스크린</PresentationFormat>
  <Paragraphs>578</Paragraphs>
  <Slides>37</Slides>
  <Notes>21</Notes>
  <HiddenSlides>0</HiddenSlides>
  <MMClips>1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6" baseType="lpstr">
      <vt:lpstr>Adobe 고딕 Std B</vt:lpstr>
      <vt:lpstr>Black Han Sans</vt:lpstr>
      <vt:lpstr>Cairo</vt:lpstr>
      <vt:lpstr>KoPubWorld돋움체 Medium</vt:lpstr>
      <vt:lpstr>Noto Sans KR</vt:lpstr>
      <vt:lpstr>맑은 고딕</vt:lpstr>
      <vt:lpstr>Arial</vt:lpstr>
      <vt:lpstr>Calibri</vt:lpstr>
      <vt:lpstr>Office 테마</vt:lpstr>
      <vt:lpstr>1차 프로젝트 결과 보고서</vt:lpstr>
      <vt:lpstr>목차</vt:lpstr>
      <vt:lpstr>프로젝트 개요</vt:lpstr>
      <vt:lpstr>개발 목적</vt:lpstr>
      <vt:lpstr>주요 기능</vt:lpstr>
      <vt:lpstr>개발 환경 및 기술 스택</vt:lpstr>
      <vt:lpstr>기대 효과</vt:lpstr>
      <vt:lpstr>역할 분담</vt:lpstr>
      <vt:lpstr>PowerPoint 프레젠테이션</vt:lpstr>
      <vt:lpstr>유스케이스 다이어그램</vt:lpstr>
      <vt:lpstr>모델링(논리)</vt:lpstr>
      <vt:lpstr>모델링(물리)</vt:lpstr>
      <vt:lpstr>구조도</vt:lpstr>
      <vt:lpstr>PowerPoint 프레젠테이션</vt:lpstr>
      <vt:lpstr>PowerPoint 프레젠테이션</vt:lpstr>
      <vt:lpstr>차량 입차</vt:lpstr>
      <vt:lpstr>주차 구역 선택</vt:lpstr>
      <vt:lpstr>차량 조회</vt:lpstr>
      <vt:lpstr>차량 조회</vt:lpstr>
      <vt:lpstr>차량 조회</vt:lpstr>
      <vt:lpstr>차량 출차</vt:lpstr>
      <vt:lpstr>차량 출차</vt:lpstr>
      <vt:lpstr>차량 출차</vt:lpstr>
      <vt:lpstr>관리자 페이지  메인</vt:lpstr>
      <vt:lpstr>관리자 페이지  주차 현황</vt:lpstr>
      <vt:lpstr>관리자 페이지  주차 기록</vt:lpstr>
      <vt:lpstr>관리자 페이지  주차 기록(검색)</vt:lpstr>
      <vt:lpstr>관리자 페이지  요금 변경</vt:lpstr>
      <vt:lpstr>관리자 페이지  회원 관리</vt:lpstr>
      <vt:lpstr>관리자 페이지  회원 관리(회원 등록)</vt:lpstr>
      <vt:lpstr>관리자 페이지  회원 관리(회원 수정 · 삭제)</vt:lpstr>
      <vt:lpstr>관리자 페이지  회원 관리(검색)</vt:lpstr>
      <vt:lpstr>시연 영상</vt:lpstr>
      <vt:lpstr>핵심 로직 정리 / 구현 포인트</vt:lpstr>
      <vt:lpstr>프로젝트 진행 중 발생했던 이슈 및 해결방법</vt:lpstr>
      <vt:lpstr>프로젝트 개선할 점 및 느낀 점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1234</dc:creator>
  <cp:lastModifiedBy>1234</cp:lastModifiedBy>
  <cp:revision>82</cp:revision>
  <dcterms:created xsi:type="dcterms:W3CDTF">2025-08-05T03:30:51Z</dcterms:created>
  <dcterms:modified xsi:type="dcterms:W3CDTF">2025-08-06T05:45:51Z</dcterms:modified>
</cp:coreProperties>
</file>