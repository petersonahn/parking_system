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</p:sldIdLst>
  <p:sldSz cx="9144000" cy="5143500" type="screen16x9"/>
  <p:notesSz cx="6858000" cy="9144000"/>
  <p:embeddedFontLst>
    <p:embeddedFont>
      <p:font typeface="Adobe 고딕 Std B" panose="020B0800000000000000" pitchFamily="34" charset="-127"/>
      <p:bold r:id="rId21"/>
    </p:embeddedFont>
    <p:embeddedFont>
      <p:font typeface="Black Han Sans" pitchFamily="2" charset="-127"/>
      <p:regular r:id="rId22"/>
    </p:embeddedFont>
    <p:embeddedFont>
      <p:font typeface="KoPubWorld돋움체 Medium" panose="00000600000000000000" pitchFamily="2" charset="-127"/>
      <p:regular r:id="rId23"/>
    </p:embeddedFont>
    <p:embeddedFont>
      <p:font typeface="Cairo" panose="020B0600000101010101" charset="-78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433E0F-154F-4085-A8FD-23661526D0F1}">
  <a:tblStyle styleId="{C5433E0F-154F-4085-A8FD-23661526D0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DF63D30-0CBF-4FC1-88ED-4010FBB41F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34" d="100"/>
          <a:sy n="134" d="100"/>
        </p:scale>
        <p:origin x="144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5A9C30E8-7E2C-34FB-F6F2-A51B6B31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B3785A64-F493-BF5A-D287-885B3410E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031BAC35-7DCF-26E6-EAE9-381B3024B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630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3DAA4CA-B9BD-83E7-433A-4B02756C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>
            <a:extLst>
              <a:ext uri="{FF2B5EF4-FFF2-40B4-BE49-F238E27FC236}">
                <a16:creationId xmlns:a16="http://schemas.microsoft.com/office/drawing/2014/main" id="{8B5D3D2C-BC75-D802-407B-39677106F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>
            <a:extLst>
              <a:ext uri="{FF2B5EF4-FFF2-40B4-BE49-F238E27FC236}">
                <a16:creationId xmlns:a16="http://schemas.microsoft.com/office/drawing/2014/main" id="{18687951-B298-5BE1-0DA7-27FDB4B61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2131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4C9B5DFD-AA01-270C-3906-43108C62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A7D7BD06-64F1-A854-70D9-0C6106989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39E7CA94-5848-3462-5D23-2333ED674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25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37A50F0C-4979-7458-EA9F-2D13DA85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2881DADC-0658-C798-016D-407B75957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082F493C-1654-C619-6AB2-EDC06A3F2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572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BB4C7CB6-C887-B2D9-1AC2-20C9980A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>
            <a:extLst>
              <a:ext uri="{FF2B5EF4-FFF2-40B4-BE49-F238E27FC236}">
                <a16:creationId xmlns:a16="http://schemas.microsoft.com/office/drawing/2014/main" id="{3F1B535B-6DBF-8D64-DDF6-B20CB4388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>
            <a:extLst>
              <a:ext uri="{FF2B5EF4-FFF2-40B4-BE49-F238E27FC236}">
                <a16:creationId xmlns:a16="http://schemas.microsoft.com/office/drawing/2014/main" id="{7930D336-7BDE-FDA5-A1AE-37C9FD116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118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33070CF8-5ED5-5C80-DCB2-8D80B1E0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FEC16B51-EDDF-E7F0-4E47-AF854A0CA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ABB78C8D-B61C-2004-71AD-2039A61CC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01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1A085C66-6019-8EB1-23E4-B4FC2A49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0EF20282-3E90-B41C-7018-5ACEAFA05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E07F6E1E-6B1B-04AD-87C6-B377D554C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388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2B1035C-9D65-1C2F-1CFA-C1956E3E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>
            <a:extLst>
              <a:ext uri="{FF2B5EF4-FFF2-40B4-BE49-F238E27FC236}">
                <a16:creationId xmlns:a16="http://schemas.microsoft.com/office/drawing/2014/main" id="{07FE0CB5-61D3-C0CF-796C-5E649AC8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>
            <a:extLst>
              <a:ext uri="{FF2B5EF4-FFF2-40B4-BE49-F238E27FC236}">
                <a16:creationId xmlns:a16="http://schemas.microsoft.com/office/drawing/2014/main" id="{227AAD24-7AA5-9F1F-F3B0-CB5032834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26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DB11E5EF-1025-FE25-5C03-AC3DFEB7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9A4BB9DA-CE95-A7F9-307B-89BFEE091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ECBD8CF8-4899-AAC1-2403-87EF8810F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949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CC3901C3-975D-A1D4-E523-AC7E7456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9457E04E-35C2-AE97-1675-F0FDC93CF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747236A4-9CAA-1E3D-9E07-BCF8F9446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185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7AF7C67E-6FB4-0CD7-1296-78EEA41B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>
            <a:extLst>
              <a:ext uri="{FF2B5EF4-FFF2-40B4-BE49-F238E27FC236}">
                <a16:creationId xmlns:a16="http://schemas.microsoft.com/office/drawing/2014/main" id="{F1EC636D-C4EE-CC5F-4C86-07CB7DC1F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>
            <a:extLst>
              <a:ext uri="{FF2B5EF4-FFF2-40B4-BE49-F238E27FC236}">
                <a16:creationId xmlns:a16="http://schemas.microsoft.com/office/drawing/2014/main" id="{2BE08D79-A5A0-F4E4-F67F-F6446246E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899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0" y="0"/>
            <a:ext cx="9144000" cy="120900"/>
            <a:chOff x="0" y="0"/>
            <a:chExt cx="9144000" cy="120900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3071700" y="0"/>
              <a:ext cx="60723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0" y="0"/>
              <a:ext cx="30717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5"/>
          <p:cNvGrpSpPr/>
          <p:nvPr/>
        </p:nvGrpSpPr>
        <p:grpSpPr>
          <a:xfrm>
            <a:off x="-12" y="-12"/>
            <a:ext cx="120913" cy="5147088"/>
            <a:chOff x="-12" y="-12"/>
            <a:chExt cx="120913" cy="5147088"/>
          </a:xfrm>
        </p:grpSpPr>
        <p:sp>
          <p:nvSpPr>
            <p:cNvPr id="35" name="Google Shape;35;p5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125" y="0"/>
            <a:ext cx="9143875" cy="120900"/>
            <a:chOff x="125" y="0"/>
            <a:chExt cx="9143875" cy="120900"/>
          </a:xfrm>
        </p:grpSpPr>
        <p:sp>
          <p:nvSpPr>
            <p:cNvPr id="49" name="Google Shape;49;p7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8"/>
          <p:cNvGrpSpPr/>
          <p:nvPr/>
        </p:nvGrpSpPr>
        <p:grpSpPr>
          <a:xfrm>
            <a:off x="125" y="0"/>
            <a:ext cx="9143875" cy="120900"/>
            <a:chOff x="125" y="0"/>
            <a:chExt cx="9143875" cy="120900"/>
          </a:xfrm>
        </p:grpSpPr>
        <p:sp>
          <p:nvSpPr>
            <p:cNvPr id="54" name="Google Shape;54;p8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57" name="Google Shape;57;p8"/>
          <p:cNvCxnSpPr/>
          <p:nvPr/>
        </p:nvCxnSpPr>
        <p:spPr>
          <a:xfrm>
            <a:off x="0" y="4604000"/>
            <a:ext cx="1143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userDrawn="1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9"/>
          <p:cNvGrpSpPr/>
          <p:nvPr/>
        </p:nvGrpSpPr>
        <p:grpSpPr>
          <a:xfrm>
            <a:off x="0" y="0"/>
            <a:ext cx="9144000" cy="120900"/>
            <a:chOff x="0" y="0"/>
            <a:chExt cx="9144000" cy="120900"/>
          </a:xfrm>
        </p:grpSpPr>
        <p:sp>
          <p:nvSpPr>
            <p:cNvPr id="62" name="Google Shape;62;p9"/>
            <p:cNvSpPr/>
            <p:nvPr/>
          </p:nvSpPr>
          <p:spPr>
            <a:xfrm flipH="1">
              <a:off x="3071700" y="0"/>
              <a:ext cx="60723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flipH="1">
              <a:off x="0" y="0"/>
              <a:ext cx="30717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BLANK_1_1_1_1_1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7"/>
          <p:cNvGrpSpPr/>
          <p:nvPr/>
        </p:nvGrpSpPr>
        <p:grpSpPr>
          <a:xfrm>
            <a:off x="-12" y="-12"/>
            <a:ext cx="120913" cy="5147088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userDrawn="1">
  <p:cSld name="CUSTOM_6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125" y="5022600"/>
            <a:ext cx="9143875" cy="120900"/>
            <a:chOff x="125" y="0"/>
            <a:chExt cx="9143875" cy="120900"/>
          </a:xfrm>
        </p:grpSpPr>
        <p:sp>
          <p:nvSpPr>
            <p:cNvPr id="126" name="Google Shape;126;p18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128" name="Google Shape;128;p18"/>
          <p:cNvCxnSpPr/>
          <p:nvPr/>
        </p:nvCxnSpPr>
        <p:spPr>
          <a:xfrm>
            <a:off x="637025" y="0"/>
            <a:ext cx="0" cy="12588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userDrawn="1">
  <p:cSld name="CUSTOM_5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9"/>
          <p:cNvGrpSpPr/>
          <p:nvPr/>
        </p:nvGrpSpPr>
        <p:grpSpPr>
          <a:xfrm>
            <a:off x="9023088" y="-12"/>
            <a:ext cx="120913" cy="5147088"/>
            <a:chOff x="-12" y="-12"/>
            <a:chExt cx="120913" cy="5147088"/>
          </a:xfrm>
        </p:grpSpPr>
        <p:sp>
          <p:nvSpPr>
            <p:cNvPr id="140" name="Google Shape;140;p19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142" name="Google Shape;142;p19"/>
          <p:cNvCxnSpPr/>
          <p:nvPr/>
        </p:nvCxnSpPr>
        <p:spPr>
          <a:xfrm>
            <a:off x="0" y="4604000"/>
            <a:ext cx="1143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 userDrawn="1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0"/>
          <p:cNvGrpSpPr/>
          <p:nvPr/>
        </p:nvGrpSpPr>
        <p:grpSpPr>
          <a:xfrm>
            <a:off x="-12" y="-12"/>
            <a:ext cx="120913" cy="5147088"/>
            <a:chOff x="-12" y="-12"/>
            <a:chExt cx="120913" cy="5147088"/>
          </a:xfrm>
        </p:grpSpPr>
        <p:sp>
          <p:nvSpPr>
            <p:cNvPr id="158" name="Google Shape;158;p20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23"/>
          <p:cNvCxnSpPr/>
          <p:nvPr/>
        </p:nvCxnSpPr>
        <p:spPr>
          <a:xfrm>
            <a:off x="8430775" y="0"/>
            <a:ext cx="0" cy="13518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80" name="Google Shape;180;p23"/>
          <p:cNvGrpSpPr/>
          <p:nvPr/>
        </p:nvGrpSpPr>
        <p:grpSpPr>
          <a:xfrm>
            <a:off x="-12" y="-12"/>
            <a:ext cx="9143875" cy="5147088"/>
            <a:chOff x="-12" y="-12"/>
            <a:chExt cx="9143875" cy="5147088"/>
          </a:xfrm>
        </p:grpSpPr>
        <p:grpSp>
          <p:nvGrpSpPr>
            <p:cNvPr id="181" name="Google Shape;181;p23"/>
            <p:cNvGrpSpPr/>
            <p:nvPr/>
          </p:nvGrpSpPr>
          <p:grpSpPr>
            <a:xfrm>
              <a:off x="-12" y="-12"/>
              <a:ext cx="120913" cy="5147088"/>
              <a:chOff x="-12" y="-12"/>
              <a:chExt cx="120913" cy="5147088"/>
            </a:xfrm>
          </p:grpSpPr>
          <p:sp>
            <p:nvSpPr>
              <p:cNvPr id="182" name="Google Shape;182;p23"/>
              <p:cNvSpPr/>
              <p:nvPr/>
            </p:nvSpPr>
            <p:spPr>
              <a:xfrm rot="5400000" flipH="1">
                <a:off x="-2185650" y="2840525"/>
                <a:ext cx="4492200" cy="12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83" name="Google Shape;183;p23"/>
              <p:cNvSpPr/>
              <p:nvPr/>
            </p:nvSpPr>
            <p:spPr>
              <a:xfrm rot="5400000" flipH="1">
                <a:off x="-296112" y="296088"/>
                <a:ext cx="713100" cy="1209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  <p:grpSp>
          <p:nvGrpSpPr>
            <p:cNvPr id="184" name="Google Shape;184;p23"/>
            <p:cNvGrpSpPr/>
            <p:nvPr/>
          </p:nvGrpSpPr>
          <p:grpSpPr>
            <a:xfrm>
              <a:off x="75" y="5026163"/>
              <a:ext cx="9143788" cy="120913"/>
              <a:chOff x="75" y="5026163"/>
              <a:chExt cx="9143788" cy="120913"/>
            </a:xfrm>
          </p:grpSpPr>
          <p:sp>
            <p:nvSpPr>
              <p:cNvPr id="185" name="Google Shape;185;p23"/>
              <p:cNvSpPr/>
              <p:nvPr/>
            </p:nvSpPr>
            <p:spPr>
              <a:xfrm rot="10800000" flipH="1">
                <a:off x="75" y="5026175"/>
                <a:ext cx="8434800" cy="12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86" name="Google Shape;186;p23"/>
              <p:cNvSpPr/>
              <p:nvPr/>
            </p:nvSpPr>
            <p:spPr>
              <a:xfrm rot="10800000" flipH="1">
                <a:off x="8430763" y="5026163"/>
                <a:ext cx="713100" cy="1209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cxnSp>
        <p:nvCxnSpPr>
          <p:cNvPr id="187" name="Google Shape;187;p23"/>
          <p:cNvCxnSpPr/>
          <p:nvPr userDrawn="1"/>
        </p:nvCxnSpPr>
        <p:spPr>
          <a:xfrm rot="10800000">
            <a:off x="7938175" y="539500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24"/>
          <p:cNvCxnSpPr/>
          <p:nvPr/>
        </p:nvCxnSpPr>
        <p:spPr>
          <a:xfrm rot="10800000">
            <a:off x="8583175" y="3351000"/>
            <a:ext cx="0" cy="17925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0" name="Google Shape;190;p24"/>
          <p:cNvCxnSpPr/>
          <p:nvPr/>
        </p:nvCxnSpPr>
        <p:spPr>
          <a:xfrm>
            <a:off x="0" y="4756400"/>
            <a:ext cx="387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91" name="Google Shape;191;p24"/>
          <p:cNvGrpSpPr/>
          <p:nvPr/>
        </p:nvGrpSpPr>
        <p:grpSpPr>
          <a:xfrm flipH="1">
            <a:off x="0" y="0"/>
            <a:ext cx="9144000" cy="120900"/>
            <a:chOff x="0" y="0"/>
            <a:chExt cx="9144000" cy="120900"/>
          </a:xfrm>
        </p:grpSpPr>
        <p:sp>
          <p:nvSpPr>
            <p:cNvPr id="192" name="Google Shape;192;p24"/>
            <p:cNvSpPr/>
            <p:nvPr/>
          </p:nvSpPr>
          <p:spPr>
            <a:xfrm flipH="1">
              <a:off x="3071700" y="0"/>
              <a:ext cx="60723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93" name="Google Shape;193;p24"/>
            <p:cNvSpPr/>
            <p:nvPr/>
          </p:nvSpPr>
          <p:spPr>
            <a:xfrm flipH="1">
              <a:off x="0" y="0"/>
              <a:ext cx="30717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3" r:id="rId8"/>
    <p:sldLayoutId id="2147483664" r:id="rId9"/>
    <p:sldLayoutId id="2147483665" r:id="rId10"/>
    <p:sldLayoutId id="2147483666" r:id="rId11"/>
    <p:sldLayoutId id="2147483669" r:id="rId12"/>
    <p:sldLayoutId id="214748367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Google Shape;207;p28"/>
          <p:cNvCxnSpPr/>
          <p:nvPr/>
        </p:nvCxnSpPr>
        <p:spPr>
          <a:xfrm>
            <a:off x="-11900" y="3341300"/>
            <a:ext cx="22797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D4E43EB7-0AB9-7D6E-27A1-0AF217C9A86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201051" y="1736704"/>
            <a:ext cx="6403145" cy="885816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40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1</a:t>
            </a:r>
            <a:r>
              <a:rPr lang="ko-KR" altLang="en-US" sz="4000" dirty="0">
                <a:ea typeface="Black Han Sans" pitchFamily="2" charset="-127"/>
              </a:rPr>
              <a:t>차 프로젝트 결과 보고서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59E771A4-17FA-40A7-3615-0CB4962F381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25579" y="2337134"/>
            <a:ext cx="4888701" cy="46923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l"/>
            <a:r>
              <a:rPr lang="ko-KR" altLang="en-US" sz="2600" dirty="0">
                <a:ea typeface="Black Han Sans" pitchFamily="2" charset="-127"/>
              </a:rPr>
              <a:t>주제 </a:t>
            </a:r>
            <a:r>
              <a:rPr lang="en-US" altLang="ko-KR" sz="2600" dirty="0">
                <a:ea typeface="Black Han Sans" pitchFamily="2" charset="-127"/>
              </a:rPr>
              <a:t>: </a:t>
            </a:r>
            <a:r>
              <a:rPr lang="ko-KR" altLang="en-US" sz="2600" dirty="0">
                <a:ea typeface="Black Han Sans" pitchFamily="2" charset="-127"/>
              </a:rPr>
              <a:t>주차관리 시스템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82E7A-E790-2246-89C5-AEC47C1194FB}"/>
              </a:ext>
            </a:extLst>
          </p:cNvPr>
          <p:cNvSpPr txBox="1"/>
          <p:nvPr/>
        </p:nvSpPr>
        <p:spPr>
          <a:xfrm>
            <a:off x="0" y="3389705"/>
            <a:ext cx="3141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개발 기간 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: 2025.07.07~2025.08.05</a:t>
            </a:r>
            <a:endParaRPr lang="ko-KR" altLang="en-US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35949A-BF00-771F-2A63-9881EB5B6517}"/>
              </a:ext>
            </a:extLst>
          </p:cNvPr>
          <p:cNvSpPr txBox="1"/>
          <p:nvPr/>
        </p:nvSpPr>
        <p:spPr>
          <a:xfrm>
            <a:off x="-146372" y="3687358"/>
            <a:ext cx="3755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팀원 </a:t>
            </a:r>
            <a:r>
              <a:rPr lang="en-US" altLang="ko-KR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: </a:t>
            </a:r>
            <a:r>
              <a:rPr lang="ko-KR" altLang="en-US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안성호</a:t>
            </a:r>
            <a:r>
              <a:rPr lang="en-US" altLang="ko-KR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sz="13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이강호</a:t>
            </a:r>
            <a:r>
              <a:rPr lang="en-US" altLang="ko-KR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sz="13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정현성</a:t>
            </a:r>
            <a:r>
              <a:rPr lang="en-US" altLang="ko-KR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조현진</a:t>
            </a:r>
            <a:r>
              <a:rPr lang="en-US" altLang="ko-KR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sz="13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sz="1300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최원경</a:t>
            </a:r>
            <a:endParaRPr lang="ko-KR" altLang="en-US" sz="13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ea typeface="Black Han Sans" pitchFamily="2" charset="-127"/>
              </a:rPr>
              <a:t>목차</a:t>
            </a:r>
            <a:endParaRPr sz="3600" dirty="0">
              <a:ea typeface="Black Han Sans" pitchFamily="2" charset="-127"/>
            </a:endParaRPr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4294967295"/>
          </p:nvPr>
        </p:nvSpPr>
        <p:spPr>
          <a:xfrm>
            <a:off x="2234953" y="1425411"/>
            <a:ext cx="780600" cy="62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ea typeface="Black Han Sans" pitchFamily="2" charset="-127"/>
              </a:rPr>
              <a:t>01</a:t>
            </a:r>
            <a:endParaRPr sz="2400" dirty="0">
              <a:ea typeface="Black Han Sans" pitchFamily="2" charset="-127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4294967295"/>
          </p:nvPr>
        </p:nvSpPr>
        <p:spPr>
          <a:xfrm>
            <a:off x="5297330" y="1425411"/>
            <a:ext cx="780600" cy="62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ea typeface="Black Han Sans" pitchFamily="2" charset="-127"/>
              </a:rPr>
              <a:t>03</a:t>
            </a:r>
            <a:endParaRPr sz="2400" dirty="0">
              <a:ea typeface="Black Han Sans" pitchFamily="2" charset="-127"/>
            </a:endParaRPr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294967295"/>
          </p:nvPr>
        </p:nvSpPr>
        <p:spPr>
          <a:xfrm>
            <a:off x="3459544" y="2961192"/>
            <a:ext cx="780600" cy="62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ea typeface="Black Han Sans" pitchFamily="2" charset="-127"/>
              </a:rPr>
              <a:t>02</a:t>
            </a:r>
            <a:endParaRPr sz="2400" dirty="0">
              <a:ea typeface="Black Han Sans" pitchFamily="2" charset="-127"/>
            </a:endParaRPr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4294967295"/>
          </p:nvPr>
        </p:nvSpPr>
        <p:spPr>
          <a:xfrm>
            <a:off x="6521939" y="2961196"/>
            <a:ext cx="780600" cy="62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ea typeface="Black Han Sans" pitchFamily="2" charset="-127"/>
              </a:rPr>
              <a:t>04</a:t>
            </a:r>
            <a:endParaRPr sz="2400" dirty="0">
              <a:ea typeface="Black Han Sans" pitchFamily="2" charset="-127"/>
            </a:endParaRPr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4294967295"/>
          </p:nvPr>
        </p:nvSpPr>
        <p:spPr>
          <a:xfrm>
            <a:off x="1400644" y="2200011"/>
            <a:ext cx="2449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ea typeface="Black Han Sans" pitchFamily="2" charset="-127"/>
                <a:sym typeface="DM Sans SemiBold"/>
              </a:rPr>
              <a:t>프로젝트 기획</a:t>
            </a:r>
            <a:endParaRPr sz="1800" b="0" dirty="0">
              <a:ea typeface="Black Han Sans" pitchFamily="2" charset="-127"/>
              <a:sym typeface="DM Sans SemiBold"/>
            </a:endParaRPr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4294967295"/>
          </p:nvPr>
        </p:nvSpPr>
        <p:spPr>
          <a:xfrm>
            <a:off x="2625235" y="3735792"/>
            <a:ext cx="2449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ea typeface="Black Han Sans" pitchFamily="2" charset="-127"/>
                <a:sym typeface="DM Sans SemiBold"/>
              </a:rPr>
              <a:t>시스템 설계 및 개발 환경</a:t>
            </a:r>
            <a:endParaRPr sz="1800" b="0" dirty="0">
              <a:ea typeface="Black Han Sans" pitchFamily="2" charset="-127"/>
              <a:sym typeface="DM Sans SemiBold"/>
            </a:endParaRPr>
          </a:p>
        </p:txBody>
      </p:sp>
      <p:sp>
        <p:nvSpPr>
          <p:cNvPr id="223" name="Google Shape;223;p29"/>
          <p:cNvSpPr txBox="1">
            <a:spLocks noGrp="1"/>
          </p:cNvSpPr>
          <p:nvPr>
            <p:ph type="subTitle" idx="4294967295"/>
          </p:nvPr>
        </p:nvSpPr>
        <p:spPr>
          <a:xfrm>
            <a:off x="4463021" y="2200007"/>
            <a:ext cx="2449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ea typeface="Black Han Sans" pitchFamily="2" charset="-127"/>
              </a:rPr>
              <a:t>프로젝트 구현 및 시연</a:t>
            </a:r>
            <a:endParaRPr sz="1800" b="0" dirty="0">
              <a:ea typeface="Black Han Sans" pitchFamily="2" charset="-127"/>
              <a:sym typeface="DM Sans SemiBold"/>
            </a:endParaRPr>
          </a:p>
        </p:txBody>
      </p:sp>
      <p:sp>
        <p:nvSpPr>
          <p:cNvPr id="224" name="Google Shape;224;p29"/>
          <p:cNvSpPr txBox="1">
            <a:spLocks noGrp="1"/>
          </p:cNvSpPr>
          <p:nvPr>
            <p:ph type="subTitle" idx="4294967295"/>
          </p:nvPr>
        </p:nvSpPr>
        <p:spPr>
          <a:xfrm>
            <a:off x="5687630" y="3735792"/>
            <a:ext cx="2449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dirty="0">
                <a:ea typeface="Black Han Sans" pitchFamily="2" charset="-127"/>
                <a:sym typeface="DM Sans SemiBold"/>
              </a:rPr>
              <a:t>프로젝트를 마치며</a:t>
            </a:r>
            <a:endParaRPr sz="1800" b="0" dirty="0">
              <a:ea typeface="Black Han Sans" pitchFamily="2" charset="-127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195644" y="2123811"/>
            <a:ext cx="859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3420245" y="3659592"/>
            <a:ext cx="859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5258021" y="2123807"/>
            <a:ext cx="859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6482640" y="3659592"/>
            <a:ext cx="859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 idx="4294967295"/>
          </p:nvPr>
        </p:nvSpPr>
        <p:spPr>
          <a:xfrm>
            <a:off x="713225" y="1075725"/>
            <a:ext cx="4411800" cy="63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프로젝트 개요</a:t>
            </a:r>
            <a:endParaRPr sz="2800" dirty="0">
              <a:ea typeface="Black Han Sans" pitchFamily="2" charset="-127"/>
            </a:endParaRPr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4294967295"/>
          </p:nvPr>
        </p:nvSpPr>
        <p:spPr>
          <a:xfrm>
            <a:off x="713225" y="1854650"/>
            <a:ext cx="7557626" cy="22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관리 시스템 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(Parking Management System)</a:t>
            </a:r>
          </a:p>
          <a:p>
            <a:pPr marL="152400" indent="0">
              <a:buNone/>
            </a:pPr>
            <a:endParaRPr lang="en-US" altLang="ko-KR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52400" indent="0">
              <a:buNone/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웹 기반의 주차 관리 시스템으로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차량의 입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및 </a:t>
            </a:r>
            <a:endParaRPr lang="en-US" altLang="ko-KR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52400" indent="0">
              <a:buNone/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공간 현황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정산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기록 관리를 </a:t>
            </a:r>
            <a:endParaRPr lang="en-US" altLang="ko-KR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52400" indent="0">
              <a:buNone/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효율적으로 처리할 수 있는 관리자 중심의 시스템</a:t>
            </a:r>
          </a:p>
        </p:txBody>
      </p:sp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l="32727" b="56097"/>
          <a:stretch/>
        </p:blipFill>
        <p:spPr>
          <a:xfrm>
            <a:off x="0" y="3664200"/>
            <a:ext cx="2778051" cy="1479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32"/>
          <p:cNvCxnSpPr/>
          <p:nvPr/>
        </p:nvCxnSpPr>
        <p:spPr>
          <a:xfrm>
            <a:off x="0" y="1785475"/>
            <a:ext cx="22953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개발 목적</a:t>
            </a:r>
            <a:endParaRPr sz="2800" dirty="0">
              <a:ea typeface="Black Han Sans" pitchFamily="2" charset="-127"/>
            </a:endParaRPr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4294967295"/>
          </p:nvPr>
        </p:nvSpPr>
        <p:spPr>
          <a:xfrm>
            <a:off x="720000" y="1654613"/>
            <a:ext cx="5909321" cy="2054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실시간 입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ko-KR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및 주차 공간 정보 관리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설정 및 총 수익 통계 확인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회원 등록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삭제 기능 제공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기능 통합으로 운영 효율성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주요 기능</a:t>
            </a:r>
            <a:endParaRPr sz="2800" dirty="0">
              <a:ea typeface="Black Han Sans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FB2B2-47B8-38BA-1381-2C9757CB43C8}"/>
              </a:ext>
            </a:extLst>
          </p:cNvPr>
          <p:cNvSpPr txBox="1"/>
          <p:nvPr/>
        </p:nvSpPr>
        <p:spPr>
          <a:xfrm>
            <a:off x="720000" y="1340643"/>
            <a:ext cx="457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 입차 시 정보 및 입차 시간 등록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 </a:t>
            </a:r>
            <a:r>
              <a:rPr lang="ko-KR" altLang="ko-KR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시간 기록 및 요금 계산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공간 현황 조회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로그인 및 요금 정책 수정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회원 등록, 수정, 삭제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기록 검색 및 수익 통계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개발 환경 및 기술 스택</a:t>
            </a:r>
            <a:endParaRPr sz="2800" dirty="0">
              <a:ea typeface="Black Han Sans" pitchFamily="2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0B17829-04ED-F4CB-708E-02DB7F81F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34154"/>
              </p:ext>
            </p:extLst>
          </p:nvPr>
        </p:nvGraphicFramePr>
        <p:xfrm>
          <a:off x="720000" y="1216990"/>
          <a:ext cx="7056886" cy="3481485"/>
        </p:xfrm>
        <a:graphic>
          <a:graphicData uri="http://schemas.openxmlformats.org/drawingml/2006/table">
            <a:tbl>
              <a:tblPr firstRow="1" bandRow="1"/>
              <a:tblGrid>
                <a:gridCol w="1845494">
                  <a:extLst>
                    <a:ext uri="{9D8B030D-6E8A-4147-A177-3AD203B41FA5}">
                      <a16:colId xmlns:a16="http://schemas.microsoft.com/office/drawing/2014/main" val="612240547"/>
                    </a:ext>
                  </a:extLst>
                </a:gridCol>
                <a:gridCol w="5211392">
                  <a:extLst>
                    <a:ext uri="{9D8B030D-6E8A-4147-A177-3AD203B41FA5}">
                      <a16:colId xmlns:a16="http://schemas.microsoft.com/office/drawing/2014/main" val="3026428147"/>
                    </a:ext>
                  </a:extLst>
                </a:gridCol>
              </a:tblGrid>
              <a:tr h="50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프로그래밍 언어 및 플랫폼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Java 17</a:t>
                      </a:r>
                      <a:endParaRPr lang="ko-KR" altLang="en-US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Boot 3.5.3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(Spring Framework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기반 웹 애플리케이션 개발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81496"/>
                  </a:ext>
                </a:extLst>
              </a:tr>
              <a:tr h="937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웹 관련 기술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MVC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(Controller, JSP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연동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JSP (Java Server Pages)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뷰 템플릿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JSTL (Jakarta Standard Tag Library)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JSP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에서의 태그 라이브러리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표현 및 반복 처리 등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HTML/CSS/JavaScript (jQuery)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</a:t>
                      </a:r>
                      <a:r>
                        <a:rPr lang="ko-KR" altLang="en-US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프론트엔드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UI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구현 및 동적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31872"/>
                  </a:ext>
                </a:extLst>
              </a:tr>
              <a:tr h="344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 및 배포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Boot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의 내장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Tomcat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서버를 이용한 실행 구조</a:t>
                      </a:r>
                      <a:endParaRPr lang="en-US" altLang="ko-KR" sz="1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751578"/>
                  </a:ext>
                </a:extLst>
              </a:tr>
              <a:tr h="50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데이터베이스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Database XE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DB, SID: </a:t>
                      </a:r>
                      <a:r>
                        <a:rPr lang="en-US" altLang="ko-KR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xe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JDBC Driver (ojdbc11)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DB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연동 드라이버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401227"/>
                  </a:ext>
                </a:extLst>
              </a:tr>
              <a:tr h="50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 </a:t>
                      </a:r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매핑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MyBatis</a:t>
                      </a:r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3.x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altLang="ko-KR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MyBatis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-Spring-Boot-Starter 3.0.3)</a:t>
                      </a:r>
                    </a:p>
                    <a:p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XML Mapper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파일로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쿼리 작성 및 매핑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21896"/>
                  </a:ext>
                </a:extLst>
              </a:tr>
              <a:tr h="344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빌드 도구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Gradle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altLang="ko-KR" sz="1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build.gradle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사용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3256"/>
                  </a:ext>
                </a:extLst>
              </a:tr>
              <a:tr h="354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기타 라이브러리 및 툴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Lombok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(getter/setter, </a:t>
                      </a:r>
                      <a:r>
                        <a:rPr lang="ko-KR" altLang="en-US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생성자 자동 생성 등 코드 단축</a:t>
                      </a:r>
                      <a:r>
                        <a:rPr lang="en-US" altLang="ko-KR" sz="1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3045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기대 효과</a:t>
            </a:r>
            <a:endParaRPr sz="2800" dirty="0">
              <a:ea typeface="Black Han Sans" pitchFamily="2" charset="-127"/>
            </a:endParaRPr>
          </a:p>
        </p:txBody>
      </p:sp>
      <p:sp>
        <p:nvSpPr>
          <p:cNvPr id="27" name="Google Shape;269;p33">
            <a:extLst>
              <a:ext uri="{FF2B5EF4-FFF2-40B4-BE49-F238E27FC236}">
                <a16:creationId xmlns:a16="http://schemas.microsoft.com/office/drawing/2014/main" id="{5F8E9E0C-94CE-B19E-E9C6-BA878108F52C}"/>
              </a:ext>
            </a:extLst>
          </p:cNvPr>
          <p:cNvSpPr txBox="1">
            <a:spLocks/>
          </p:cNvSpPr>
          <p:nvPr/>
        </p:nvSpPr>
        <p:spPr>
          <a:xfrm>
            <a:off x="720000" y="1654613"/>
            <a:ext cx="5909321" cy="205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공간 활용률 극대화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실시간 주차 현황 파악으로 빠른 대응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통계 제공으로 운영 투명성 확보</a:t>
            </a:r>
            <a:endParaRPr lang="en-US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6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업무 자동화로 효율성 향상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C6F94AA0-8548-E093-5C24-1310B606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25CF5999-EA3A-5481-2004-F6F8A43127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역할 분담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529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1583AD07-C908-F7A6-FD11-E2564B45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>
            <a:extLst>
              <a:ext uri="{FF2B5EF4-FFF2-40B4-BE49-F238E27FC236}">
                <a16:creationId xmlns:a16="http://schemas.microsoft.com/office/drawing/2014/main" id="{96A880AD-28D5-9F03-FA12-1761C4112E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 err="1">
                <a:ea typeface="Black Han Sans" pitchFamily="2" charset="-127"/>
              </a:rPr>
              <a:t>유스케이스</a:t>
            </a:r>
            <a:r>
              <a:rPr lang="ko-KR" altLang="en-US" dirty="0">
                <a:ea typeface="Black Han Sans" pitchFamily="2" charset="-127"/>
              </a:rPr>
              <a:t> </a:t>
            </a:r>
            <a:r>
              <a:rPr lang="ko-KR" altLang="en-US" sz="2800" dirty="0">
                <a:ea typeface="Black Han Sans" pitchFamily="2" charset="-127"/>
              </a:rPr>
              <a:t>다이어그램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47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67C1C0E-F830-6860-B092-140312C9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BF3892A6-3ADB-0461-67E2-C0406E9AA9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모델링</a:t>
            </a:r>
            <a:r>
              <a:rPr lang="en-US" altLang="ko-KR" sz="2800" dirty="0">
                <a:ea typeface="Black Han Sans" pitchFamily="2" charset="-127"/>
              </a:rPr>
              <a:t>(</a:t>
            </a:r>
            <a:r>
              <a:rPr lang="ko-KR" altLang="en-US" sz="2800" dirty="0">
                <a:ea typeface="Black Han Sans" pitchFamily="2" charset="-127"/>
              </a:rPr>
              <a:t>논리</a:t>
            </a:r>
            <a:r>
              <a:rPr lang="en-US" altLang="ko-KR" sz="2800" dirty="0">
                <a:ea typeface="Black Han Sans" pitchFamily="2" charset="-127"/>
              </a:rPr>
              <a:t>)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130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D0909CD7-C11A-E412-612A-34D1711B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8B32EA68-8520-296A-8D09-78A6047FBF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모델링</a:t>
            </a:r>
            <a:r>
              <a:rPr lang="en-US" altLang="ko-KR" sz="2800" dirty="0">
                <a:ea typeface="Black Han Sans" pitchFamily="2" charset="-127"/>
              </a:rPr>
              <a:t>(</a:t>
            </a:r>
            <a:r>
              <a:rPr lang="ko-KR" altLang="en-US" sz="2800" dirty="0">
                <a:ea typeface="Black Han Sans" pitchFamily="2" charset="-127"/>
              </a:rPr>
              <a:t>물리</a:t>
            </a:r>
            <a:r>
              <a:rPr lang="en-US" altLang="ko-KR" sz="2800" dirty="0">
                <a:ea typeface="Black Han Sans" pitchFamily="2" charset="-127"/>
              </a:rPr>
              <a:t>)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6754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F6B1635A-C567-643D-C7C7-4F1D17C4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>
            <a:extLst>
              <a:ext uri="{FF2B5EF4-FFF2-40B4-BE49-F238E27FC236}">
                <a16:creationId xmlns:a16="http://schemas.microsoft.com/office/drawing/2014/main" id="{1CCB47BD-FDB4-4417-A738-B089D00DB0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구조도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3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DA7DF47-B344-2100-2109-AA5CD633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3E42C1B1-594D-1CCF-CE7A-4CD856F1AA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상세 기능 설명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8559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3B20260B-D4E0-5583-2E95-834326E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67957180-CE3E-BF12-26DF-FE2DDBDDBA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시연 영상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2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C28133BF-71A4-D3C5-2085-B95E3026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>
            <a:extLst>
              <a:ext uri="{FF2B5EF4-FFF2-40B4-BE49-F238E27FC236}">
                <a16:creationId xmlns:a16="http://schemas.microsoft.com/office/drawing/2014/main" id="{19F677D6-F11B-E2C2-AB95-1654C4707B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핵심 로직 </a:t>
            </a:r>
            <a:r>
              <a:rPr lang="en-US" altLang="ko-KR" sz="2800" dirty="0">
                <a:ea typeface="Black Han Sans" pitchFamily="2" charset="-127"/>
              </a:rPr>
              <a:t>/ </a:t>
            </a:r>
            <a:r>
              <a:rPr lang="ko-KR" altLang="en-US" sz="2800" dirty="0">
                <a:ea typeface="Black Han Sans" pitchFamily="2" charset="-127"/>
              </a:rPr>
              <a:t>구현 포인트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9624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51E60F7B-D872-B405-1F56-CE247137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9E2FAF37-E48F-618F-961F-24F1596B7F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프로젝트 진행 중 발생했던 이슈 및 해결방법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259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E77E99FE-9C6E-FDB7-7163-50C5C9B3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B7847D93-6EBC-E2E4-2BB4-1FA7D456B6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ea typeface="Black Han Sans" pitchFamily="2" charset="-127"/>
              </a:rPr>
              <a:t>프로젝트 개선할 점 및 느낀 점</a:t>
            </a:r>
            <a:endParaRPr sz="2800" dirty="0">
              <a:ea typeface="Black Han Sans" pitchFamily="2" charset="-127"/>
            </a:endParaRPr>
          </a:p>
        </p:txBody>
      </p:sp>
      <p:sp>
        <p:nvSpPr>
          <p:cNvPr id="269" name="Google Shape;269;p33">
            <a:extLst>
              <a:ext uri="{FF2B5EF4-FFF2-40B4-BE49-F238E27FC236}">
                <a16:creationId xmlns:a16="http://schemas.microsoft.com/office/drawing/2014/main" id="{60974070-636E-C4C7-E5E8-DC4F82043BC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654613"/>
            <a:ext cx="7704000" cy="2054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CSS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한 파일에서 </a:t>
            </a:r>
            <a:r>
              <a:rPr lang="ko-KR" altLang="en-US" sz="1600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작업하는게</a:t>
            </a:r>
            <a:r>
              <a:rPr lang="ko-KR" altLang="en-US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좀 더 통일성과 효율성을 향상시키는데 좋은 것 같습니다</a:t>
            </a:r>
            <a:r>
              <a:rPr lang="en-US" altLang="ko-KR" sz="16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664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CA211F46-245B-1194-4B3E-98D19116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>
            <a:extLst>
              <a:ext uri="{FF2B5EF4-FFF2-40B4-BE49-F238E27FC236}">
                <a16:creationId xmlns:a16="http://schemas.microsoft.com/office/drawing/2014/main" id="{320AE6B5-937D-4DED-89F0-E57DD10ED1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4072" y="2285400"/>
            <a:ext cx="77158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a typeface="Black Han Sans" pitchFamily="2" charset="-127"/>
              </a:rPr>
              <a:t>END</a:t>
            </a:r>
            <a:endParaRPr sz="28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1177018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Pitch Deck by Slidesgo">
  <a:themeElements>
    <a:clrScheme name="Simple Light">
      <a:dk1>
        <a:srgbClr val="222229"/>
      </a:dk1>
      <a:lt1>
        <a:srgbClr val="F9F9F9"/>
      </a:lt1>
      <a:dk2>
        <a:srgbClr val="E6EBF3"/>
      </a:dk2>
      <a:lt2>
        <a:srgbClr val="BDB8D2"/>
      </a:lt2>
      <a:accent1>
        <a:srgbClr val="69657A"/>
      </a:accent1>
      <a:accent2>
        <a:srgbClr val="43434F"/>
      </a:accent2>
      <a:accent3>
        <a:srgbClr val="FDDA4C"/>
      </a:accent3>
      <a:accent4>
        <a:srgbClr val="FBC70E"/>
      </a:accent4>
      <a:accent5>
        <a:srgbClr val="F8A40A"/>
      </a:accent5>
      <a:accent6>
        <a:srgbClr val="05DC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396</Words>
  <Application>Microsoft Office PowerPoint</Application>
  <PresentationFormat>화면 슬라이드 쇼(16:9)</PresentationFormat>
  <Paragraphs>80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Adobe 고딕 Std B</vt:lpstr>
      <vt:lpstr>Arial</vt:lpstr>
      <vt:lpstr>Black Han Sans</vt:lpstr>
      <vt:lpstr>KoPubWorld돋움체 Medium</vt:lpstr>
      <vt:lpstr>Cairo</vt:lpstr>
      <vt:lpstr>Automotive Industry Pitch Deck by Slidesgo</vt:lpstr>
      <vt:lpstr>1차 프로젝트 결과 보고서</vt:lpstr>
      <vt:lpstr>목차</vt:lpstr>
      <vt:lpstr>프로젝트 개요</vt:lpstr>
      <vt:lpstr>개발 목적</vt:lpstr>
      <vt:lpstr>주요 기능</vt:lpstr>
      <vt:lpstr>개발 환경 및 기술 스택</vt:lpstr>
      <vt:lpstr>기대 효과</vt:lpstr>
      <vt:lpstr>역할 분담</vt:lpstr>
      <vt:lpstr>유스케이스 다이어그램</vt:lpstr>
      <vt:lpstr>모델링(논리)</vt:lpstr>
      <vt:lpstr>모델링(물리)</vt:lpstr>
      <vt:lpstr>구조도</vt:lpstr>
      <vt:lpstr>상세 기능 설명</vt:lpstr>
      <vt:lpstr>시연 영상</vt:lpstr>
      <vt:lpstr>핵심 로직 / 구현 포인트</vt:lpstr>
      <vt:lpstr>프로젝트 진행 중 발생했던 이슈 및 해결방법</vt:lpstr>
      <vt:lpstr>프로젝트 개선할 점 및 느낀 점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하이미디어컴퓨터디자인학원</dc:creator>
  <cp:lastModifiedBy>1234</cp:lastModifiedBy>
  <cp:revision>7</cp:revision>
  <dcterms:modified xsi:type="dcterms:W3CDTF">2025-08-05T05:26:08Z</dcterms:modified>
</cp:coreProperties>
</file>